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各位評審與學員大家好。今天我們要分享的主題是收斂真實痛點與數據指標，重點在於拆解從零到一的全新開發，與從一到恩的既有產品優化，這兩種截然不同的提案說服邏輯。希望透過今天的簡報，幫助大家快速建立核心產品思維，並在實務中學會設計出可驗證的產品數據指標。</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在進入具體案例前，我們必須先釐清提案的核心哲學。左側是已有產品的優化，這是一種指標驅動的敘事，我們必須用數據開場，明確指出大盤漏斗的瓶頸來爭取資源。而右側則是原本沒有產品的全新開發，這是一種類型問題驅動的敘事，我們必須證明某個市場痛點真實存在，並在提案最後才訂定成功衡量標準。</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在撰寫提案時，很多學員常把雙鑽石模型或用戶畫像等工具，直接當成簡報的骨架。這些輔助工具我們稱之為鷹架。當簡報蓋好時，鷹架就必須拆除。我們應該在簡報中隱藏這些套用模板的過程，直接呈現核心洞察，並且將投影片標題改為單一結論句，排除無意義的框架噪音。</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針對從一到恩的既有功能優化提案，我們規劃了標準的七頁敘事結構。這套結構的核心在於串接現狀、漏斗瓶頸數據，以及最核心的使用者故事。我們透過使用者故事的公式，將痛點與功能操作精準連結，並一路推導至成功定義與最後的驗證計畫。</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對於從零到一的全新產品提案，我們則規劃了六頁的敘事結構。由於沒有歷史數據，我們必須以情境痛點開場，清晰界定目標用戶與其痛點。接著，透過使用者故事的承諾，明確定義出產品能在十分鐘內為用戶創造的價值，最後同樣推導至解方展示、未來指標承諾與指標驗證計畫。</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為了解構複雜的數據指標，我們可以用餐廳廚房的運作來做直觀的比喻。北極星指標就像是洗碗區每週吃光光盤的總數量，代表最終的使用者與商業價值；功能成功指標則像是一道推薦新菜且吃光的顧客人數，衡量新菜價值；量能指標則是採用新菜的總人數，是規模的基礎；護欄指標則是新菜的顧客滿意度評分，確保數據不是虛胖。</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在理解指標分層後，我們來看功能是如何具體拉動業務飛輪的。當我們發布推薦新菜後，用戶點擊並採用新菜，如果品質獲得 NPS 護欄指標把關，就會拉動功能成功指標上升。而當點了推薦菜且吃完的顧客人數變多時，最終就會拉動洗碗區吃光光盤的北極星指標增長，這就是指標間的連動循環。</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在設計指標時，我們必須避開虛榮指標與百分比誤區。我們應該利用那又怎樣追問法，連續追問數據背後的實質意義，直到推導出真正的價值轉換。同時，北極星指標一律使用絕對計數，百分比或中位數應作為功能成功指標 or 護欄指標，用來把關流程效率與健康度，以免陷入留存百分之百但用戶流失的百分比陷阱。</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這張投影片展示了 Notion AI 會議記錄彙整的實戰指標樹。我們以每週除建立者外 2 天內至少 2 人瀏覽的活躍文件數作為北極星指標，拆解為採用 AI 會議彙整匯出且被團隊瀏覽的功能成功指標。底層則監控採用 AI 會議彙整匯出的量能指標，以及匯出前編輯次數中位數不超過 5 次作為品質護欄，藉此把關首次生成品質。</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接下來我們進入附錄一。這是一個已有產品優化的實戰案例，對應從一到恩的優化提案。我們將以 Notion AI 會議記錄彙整功能為例，展示完整的提案架構與指標連動設計，說明如何利用低摩擦的團隊瀏覽行為來活化文件的協作價值。</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現在詳細展示 SaaS 平台 AI 会議紀錄彙整功能提案的項目現狀。目前大盤每週活躍協作文件數為四萬二千份。Notion 作為協作工具，我們的核心價值在於文件被多人共同編輯與瀏覽。如果文件只有單人編輯且無人觀看，代表協作價值尚未兌現。</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從會議紀錄的流失漏斗中，我們可以發現嚴重的流失瓶頸。數據指出，會議紀錄雖然占新建立文件的三成，但是其中高達四成的文件在兩個工作天後的瀏覽日誌為零。會後發布遲延與冗長紀錄形成高摩擦，使資訊流失在文件內無協作價值。</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為了打破上述的協作斷層，我們聚焦於專案經理的痛點。身為跨團隊專案經理，我想要在會議結束後一鍵生成結構化的會議摘要與追蹤任務，以便能在會後黃金 10 分鐘內立即發布（保持 Context 鮮活）且提供結構化行動清單，徹底移除團隊點閱瀏覽的心理門檻。快速產出的本質是搶占黃金 10 分鐘（Context 鮮活），並以結構清單掃除閱讀門檻。</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本功能的成功定義旨在讓會議決議與任務分派無縫融入工作流。我們的目標是將會議紀錄文件在兩個工作天內的團隊瀏覽，從現有的百分之六十，提升至百分之八十五。我們不以「生成摘要的次數」為成功的行動代理訊號，而以「團隊瀏覽」為成功的行動代理訊號。因為任務指派通知會主動將成員拉回文件，確保決議真正被閱讀與執行。</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本功能的機制包括：第一，會議結束後，AI 自動將音訊轉為文字，免去手動輸入成本；第二，語意提煉出決議事項與行動清單；第三，PM 確認後，透過 AI 主動推送行動清單至成員 Notion Task 中，開啟主動協作。聯動 Notion Task，將靜態的「會議紀錄存檔」轉化為「主動協作的起點」。</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這張投影片展示了 AI 會議助理的介面版面規劃與處理流程。左側展示會議文件中的 AI 摘要卡片，右側展示一鍵同步至 Notion Task 的交互介面。整個處理流程從語音記錄開始，經過語音轉文字、AI 摘要與任務分派，最終由專案經理確認後同步至 Notion Task。設計上極度簡化，PM 獲得摘要後，團隊能快速看清要點並進入協作。</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附錄一的上線驗證計畫展示了完整的指標樹。我們以每週兩個工作天內至少有二人瀏覽的活躍文件數作為產品北極星指標，功能成功指標則要求採用 AI 會議彙整匯出且有二人瀏覽的會議文件數。同時監控採用 AI 會議彙整匯出的會議文件總數，並把關匯出前編輯次數中位數不超過五次，以 Log 記錄問答對話輪數來評估生成品質。</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接著，我們進入附錄二。這是一個全新產品開發的實戰案例，對應從零到一的全新提案。我們將以 AI PRD 協作助理產品提案為案例，展示如何從痛點探索、使用者故事承諾出發，並在缺乏歷史數據的情況下，合理訂定未來的北極星與護欄驗證計畫。</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針對全新產品 AI PRD 協作助理進行問題探索。根據 Asana 2023 年全球調研，知識工作者有百分之五十八的工作日耗在非核心任務上，PM 社群調研更顯示每週約十四小時花在 PRD 撰寫、Ticket 拆解與格式調整。具體而言，PM 面臨兩大痛點：一是空白文檔症候群，面對空白頁面的焦慮期往往消耗整個上午；二是格式重工，複製舊模板手動修改容易遺漏規格、拖慢整個團隊。這是結構性的研發心力損耗，PM 的時間應花在問題探索與使用者研究。</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我們定義本產品的目標用戶為初入行或工作繁重的產品經理。現有的替代方案是複製舊的 PRD 模板並手動修改文字，這會帶來容易遺漏規格、格式混亂以及排版時間耗損等嚴重痛點。起步焦慮與重複的格式調整，嚴重消耗了 PM 真正核心的思維心力。</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針對超載產品經理的空白文檔焦慮，我們的使用者故事承諾，用戶只要輸入產品願景與核心場景，AI 就會自動生成結構化 PRD，讓用戶在十分鐘內產出可供工程師閱讀的交付物初稿。我們的終極目標是消除 PM 面對空白文檔時的阻力，將初稿時間壓縮在十分鐘以內。</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在解方展示上，我們的 AI 需求起草助理採用 Wizard 嚮導式介面。用戶只需填入三項關鍵字與產品概述，系統即可在右側即時渲染出包含功能清單、User Story、指標驗證的標準 PRD。主流程包括輸入、分析、渲染、產出四個步驟，提供極流暢的起草體驗。</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由於是從零到一的全新產品提案，我們承諾以每週成功匯出的 PRD 數量來衡量產品價值。PM 只有在認為文件已經達到可以交付給開發團隊的標準時，才會點擊匯出。這是最容易在系統日誌中統計，且最精準的價值代理指標。</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最後是 AI PRD 助理的驗證計畫。我們以每週被成功匯出的 PRD 總數量作為產品北極星指標，並以啟動 PRD 助理的總次數作為量能指標。同時，我們設置護欄指標為匯出前編輯次數中位數小於等於五次，並以問答輪數的日誌記錄進行統計。由於是全新產品提案，為避免概念混淆，架構圖中並無功能層成功指標，專注於大盤北極星與護欄監控。</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3c591cebdc1894b.pn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4.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DFCF9"/>
          </a:solidFill>
          <a:ln>
            <a:noFill/>
          </a:ln>
        </p:spPr>
      </p:sp>
      <p:sp>
        <p:nvSpPr>
          <p:cNvPr id="3" name="Rectangle 3"/>
          <p:cNvSpPr/>
          <p:nvPr/>
        </p:nvSpPr>
        <p:spPr>
          <a:xfrm>
            <a:off x="609600" y="571500"/>
            <a:ext cx="76200" cy="5715000"/>
          </a:xfrm>
          <a:prstGeom prst="roundRect">
            <a:avLst>
              <a:gd name="adj" fmla="val 50000"/>
            </a:avLst>
          </a:prstGeom>
          <a:solidFill>
            <a:srgbClr val="153166"/>
          </a:solidFill>
          <a:ln>
            <a:noFill/>
          </a:ln>
        </p:spPr>
      </p:sp>
      <p:sp>
        <p:nvSpPr>
          <p:cNvPr id="4" name="Rectangle 4"/>
          <p:cNvSpPr/>
          <p:nvPr/>
        </p:nvSpPr>
        <p:spPr>
          <a:xfrm>
            <a:off x="762000" y="571500"/>
            <a:ext cx="38100" cy="5715000"/>
          </a:xfrm>
          <a:prstGeom prst="roundRect">
            <a:avLst>
              <a:gd name="adj" fmla="val 50000"/>
            </a:avLst>
          </a:prstGeom>
          <a:solidFill>
            <a:srgbClr val="00969D">
              <a:alpha val="30000"/>
            </a:srgbClr>
          </a:solidFill>
          <a:ln>
            <a:noFill/>
          </a:ln>
        </p:spPr>
      </p:sp>
      <p:sp>
        <p:nvSpPr>
          <p:cNvPr id="5" name="Ellipse 5"/>
          <p:cNvSpPr/>
          <p:nvPr/>
        </p:nvSpPr>
        <p:spPr>
          <a:xfrm>
            <a:off x="10668000" y="381000"/>
            <a:ext cx="1524000" cy="1524000"/>
          </a:xfrm>
          <a:prstGeom prst="ellipse">
            <a:avLst/>
          </a:prstGeom>
          <a:solidFill>
            <a:srgbClr val="00969D">
              <a:alpha val="6000"/>
            </a:srgbClr>
          </a:solidFill>
          <a:ln>
            <a:noFill/>
          </a:ln>
        </p:spPr>
      </p:sp>
      <p:sp>
        <p:nvSpPr>
          <p:cNvPr id="6" name="Ellipse 6"/>
          <p:cNvSpPr/>
          <p:nvPr/>
        </p:nvSpPr>
        <p:spPr>
          <a:xfrm>
            <a:off x="9525000" y="4381500"/>
            <a:ext cx="2286000" cy="2286000"/>
          </a:xfrm>
          <a:prstGeom prst="ellipse">
            <a:avLst/>
          </a:prstGeom>
          <a:solidFill>
            <a:srgbClr val="153166">
              <a:alpha val="4000"/>
            </a:srgbClr>
          </a:solidFill>
          <a:ln>
            <a:noFill/>
          </a:ln>
        </p:spPr>
      </p:sp>
      <p:sp>
        <p:nvSpPr>
          <p:cNvPr id="7" name="TextBox 7"/>
          <p:cNvSpPr txBox="1"/>
          <p:nvPr/>
        </p:nvSpPr>
        <p:spPr>
          <a:xfrm>
            <a:off x="933450" y="2124075"/>
            <a:ext cx="3514034" cy="304800"/>
          </a:xfrm>
          <a:prstGeom prst="rect">
            <a:avLst/>
          </a:prstGeom>
          <a:noFill/>
          <a:ln>
            <a:noFill/>
          </a:ln>
        </p:spPr>
        <p:txBody>
          <a:bodyPr wrap="none" lIns="0" tIns="0" rIns="0" bIns="0" anchor="t" anchorCtr="0">
            <a:spAutoFit/>
          </a:bodyPr>
          <a:lstStyle/>
          <a:p>
            <a:pPr algn="l"/>
            <a:r>
              <a:rPr lang="zh-CN" sz="1500" b="1" dirty="0">
                <a:solidFill>
                  <a:srgbClr val="007583"/>
                </a:solidFill>
                <a:latin typeface="Plus Jakarta Sans"/>
                <a:ea typeface="Microsoft JhengHei"/>
                <a:cs typeface="Plus Jakarta Sans"/>
              </a:rPr>
              <a:t>PM PROPOSAL &amp; METRICS EDUCATION</a:t>
            </a:r>
          </a:p>
        </p:txBody>
      </p:sp>
      <p:sp>
        <p:nvSpPr>
          <p:cNvPr id="8" name="TextBox 8"/>
          <p:cNvSpPr txBox="1"/>
          <p:nvPr/>
        </p:nvSpPr>
        <p:spPr>
          <a:xfrm>
            <a:off x="910590" y="2691765"/>
            <a:ext cx="7388733" cy="1242060"/>
          </a:xfrm>
          <a:prstGeom prst="rect">
            <a:avLst/>
          </a:prstGeom>
          <a:noFill/>
          <a:ln>
            <a:noFill/>
          </a:ln>
        </p:spPr>
        <p:txBody>
          <a:bodyPr wrap="square" lIns="0" tIns="0" rIns="0" bIns="0" anchor="t" anchorCtr="0"/>
          <a:lstStyle/>
          <a:p>
            <a:pPr algn="l">
              <a:lnSpc>
                <a:spcPts val="4500"/>
              </a:lnSpc>
            </a:pPr>
            <a:r>
              <a:rPr lang="zh-CN" sz="3300" b="1" dirty="0">
                <a:solidFill>
                  <a:srgbClr val="171C24"/>
                </a:solidFill>
                <a:latin typeface="Plus Jakarta Sans"/>
                <a:ea typeface="Microsoft JhengHei"/>
                <a:cs typeface="Plus Jakarta Sans"/>
              </a:rPr>
              <a:t>收斂真實痛點與數據指標：</a:t>
            </a:r>
            <a:r>
              <a:rPr lang="zh-CN" sz="3300" b="1" dirty="0">
                <a:solidFill>
                  <a:srgbClr val="171C24"/>
                </a:solidFill>
                <a:latin typeface="Plus Jakarta Sans"/>
                <a:ea typeface="Microsoft JhengHei"/>
                <a:cs typeface="Plus Jakarta Sans"/>
              </a:rPr>
              <a:t>從 0 到 1 與從 1 到 N 的雙軌提案邏輯</a:t>
            </a:r>
          </a:p>
        </p:txBody>
      </p:sp>
      <p:sp>
        <p:nvSpPr>
          <p:cNvPr id="9" name="TextBox 9"/>
          <p:cNvSpPr txBox="1"/>
          <p:nvPr/>
        </p:nvSpPr>
        <p:spPr>
          <a:xfrm>
            <a:off x="933450" y="4505325"/>
            <a:ext cx="6038850" cy="304800"/>
          </a:xfrm>
          <a:prstGeom prst="rect">
            <a:avLst/>
          </a:prstGeom>
          <a:noFill/>
          <a:ln>
            <a:noFill/>
          </a:ln>
        </p:spPr>
        <p:txBody>
          <a:bodyPr wrap="none" lIns="0" tIns="0" rIns="0" bIns="0" anchor="t" anchorCtr="0">
            <a:spAutoFit/>
          </a:bodyPr>
          <a:lstStyle/>
          <a:p>
            <a:pPr algn="l"/>
            <a:r>
              <a:rPr lang="zh-CN" sz="1500" dirty="0">
                <a:solidFill>
                  <a:srgbClr val="525864"/>
                </a:solidFill>
                <a:latin typeface="Manrope"/>
                <a:ea typeface="Microsoft JhengHei"/>
                <a:cs typeface="Manrope"/>
              </a:rPr>
              <a:t>幫助學員快速建立產品思維，排除框架噪音，設計可驗證的產品指標</a:t>
            </a:r>
          </a:p>
        </p:txBody>
      </p:sp>
      <p:sp>
        <p:nvSpPr>
          <p:cNvPr id="10" name="TextBox 10"/>
          <p:cNvSpPr txBox="1"/>
          <p:nvPr/>
        </p:nvSpPr>
        <p:spPr>
          <a:xfrm>
            <a:off x="939165" y="5982652"/>
            <a:ext cx="3863850" cy="213360"/>
          </a:xfrm>
          <a:prstGeom prst="rect">
            <a:avLst/>
          </a:prstGeom>
          <a:noFill/>
          <a:ln>
            <a:noFill/>
          </a:ln>
        </p:spPr>
        <p:txBody>
          <a:bodyPr wrap="none" lIns="0" tIns="0" rIns="0" bIns="0" anchor="t" anchorCtr="0">
            <a:spAutoFit/>
          </a:bodyPr>
          <a:lstStyle/>
          <a:p>
            <a:pPr algn="l"/>
            <a:r>
              <a:rPr lang="zh-CN" sz="1050" b="1" dirty="0">
                <a:solidFill>
                  <a:srgbClr val="525864"/>
                </a:solidFill>
                <a:latin typeface="Manrope"/>
                <a:ea typeface="Microsoft JhengHei"/>
                <a:cs typeface="Manrope"/>
              </a:rPr>
              <a:t>彭敬鈞 (Albert Peng) · 產品經理提案與指標設計教學簡報</a:t>
            </a: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DFCF9"/>
          </a:solidFill>
          <a:ln>
            <a:noFill/>
          </a:ln>
        </p:spPr>
      </p:sp>
      <p:sp>
        <p:nvSpPr>
          <p:cNvPr id="3" name="TextBox 3"/>
          <p:cNvSpPr txBox="1"/>
          <p:nvPr/>
        </p:nvSpPr>
        <p:spPr>
          <a:xfrm>
            <a:off x="596265" y="648652"/>
            <a:ext cx="1570363" cy="213360"/>
          </a:xfrm>
          <a:prstGeom prst="rect">
            <a:avLst/>
          </a:prstGeom>
          <a:noFill/>
          <a:ln>
            <a:noFill/>
          </a:ln>
        </p:spPr>
        <p:txBody>
          <a:bodyPr wrap="none" lIns="0" tIns="0" rIns="0" bIns="0" anchor="t" anchorCtr="0">
            <a:spAutoFit/>
          </a:bodyPr>
          <a:lstStyle/>
          <a:p>
            <a:pPr algn="l"/>
            <a:r>
              <a:rPr lang="zh-CN" sz="1050" b="1" dirty="0">
                <a:solidFill>
                  <a:srgbClr val="007583"/>
                </a:solidFill>
                <a:latin typeface="Plus Jakarta Sans"/>
                <a:ea typeface="Microsoft JhengHei"/>
                <a:cs typeface="Plus Jakarta Sans"/>
              </a:rPr>
              <a:t>DUAL-TRACK NARRATIVE</a:t>
            </a:r>
          </a:p>
        </p:txBody>
      </p:sp>
      <p:sp>
        <p:nvSpPr>
          <p:cNvPr id="4" name="TextBox 4"/>
          <p:cNvSpPr txBox="1"/>
          <p:nvPr/>
        </p:nvSpPr>
        <p:spPr>
          <a:xfrm>
            <a:off x="582930" y="916305"/>
            <a:ext cx="8168754" cy="426720"/>
          </a:xfrm>
          <a:prstGeom prst="rect">
            <a:avLst/>
          </a:prstGeom>
          <a:noFill/>
          <a:ln>
            <a:noFill/>
          </a:ln>
        </p:spPr>
        <p:txBody>
          <a:bodyPr wrap="none" lIns="0" tIns="0" rIns="0" bIns="0" anchor="t" anchorCtr="0">
            <a:spAutoFit/>
          </a:bodyPr>
          <a:lstStyle/>
          <a:p>
            <a:pPr algn="l"/>
            <a:r>
              <a:rPr lang="zh-CN" sz="2100" b="1" dirty="0">
                <a:solidFill>
                  <a:srgbClr val="171C24"/>
                </a:solidFill>
                <a:latin typeface="Plus Jakarta Sans"/>
                <a:ea typeface="Microsoft JhengHei"/>
                <a:cs typeface="Plus Jakarta Sans"/>
              </a:rPr>
              <a:t>提案的核心哲學：全新開發（0-to-1）與既有優化（1-to-N）</a:t>
            </a:r>
          </a:p>
        </p:txBody>
      </p:sp>
      <p:grpSp>
        <p:nvGrpSpPr>
          <p:cNvPr id="20" name="Group 20"/>
          <p:cNvGrpSpPr/>
          <p:nvPr/>
        </p:nvGrpSpPr>
        <p:grpSpPr>
          <a:xfrm>
            <a:off x="609600" y="1524000"/>
            <a:ext cx="5238750" cy="4000500"/>
            <a:chOff x="609600" y="1524000"/>
            <a:chExt cx="5238750" cy="4000500"/>
          </a:xfrm>
        </p:grpSpPr>
        <p:sp>
          <p:nvSpPr>
            <p:cNvPr id="5" name="Rectangle 5"/>
            <p:cNvSpPr/>
            <p:nvPr/>
          </p:nvSpPr>
          <p:spPr>
            <a:xfrm>
              <a:off x="609600" y="1524000"/>
              <a:ext cx="5238750" cy="4000500"/>
            </a:xfrm>
            <a:prstGeom prst="roundRect">
              <a:avLst>
                <a:gd name="adj" fmla="val 3810"/>
              </a:avLst>
            </a:prstGeom>
            <a:solidFill>
              <a:srgbClr val="FFFFFF"/>
            </a:solidFill>
            <a:ln w="14288">
              <a:solidFill>
                <a:srgbClr val="E5E3DE"/>
              </a:solidFill>
            </a:ln>
          </p:spPr>
        </p:sp>
        <p:sp>
          <p:nvSpPr>
            <p:cNvPr id="6" name="Rectangle 6"/>
            <p:cNvSpPr/>
            <p:nvPr/>
          </p:nvSpPr>
          <p:spPr>
            <a:xfrm>
              <a:off x="609600" y="1524000"/>
              <a:ext cx="76200" cy="4000500"/>
            </a:xfrm>
            <a:prstGeom prst="roundRect">
              <a:avLst>
                <a:gd name="adj" fmla="val 50000"/>
              </a:avLst>
            </a:prstGeom>
            <a:solidFill>
              <a:srgbClr val="153166"/>
            </a:solidFill>
            <a:ln>
              <a:noFill/>
            </a:ln>
          </p:spPr>
        </p:sp>
        <p:grpSp>
          <p:nvGrpSpPr>
            <p:cNvPr id="10" name="Group 10"/>
            <p:cNvGrpSpPr/>
            <p:nvPr/>
          </p:nvGrpSpPr>
          <p:grpSpPr>
            <a:xfrm>
              <a:off x="838200" y="1766888"/>
              <a:ext cx="228600" cy="200025"/>
              <a:chOff x="838200" y="1766888"/>
              <a:chExt cx="228600" cy="200025"/>
            </a:xfrm>
          </p:grpSpPr>
          <p:sp>
            <p:nvSpPr>
              <p:cNvPr id="7" name="Freeform 7"/>
              <p:cNvSpPr/>
              <p:nvPr/>
            </p:nvSpPr>
            <p:spPr>
              <a:xfrm>
                <a:off x="1009650" y="1766888"/>
                <a:ext cx="57150" cy="200025"/>
              </a:xfrm>
              <a:custGeom>
                <a:avLst/>
                <a:gdLst/>
                <a:ahLst/>
                <a:cxnLst/>
                <a:rect l="l" t="t" r="r" b="b"/>
                <a:pathLst>
                  <a:path w="57150" h="200025">
                    <a:moveTo>
                      <a:pt x="57150" y="0"/>
                    </a:moveTo>
                    <a:lnTo>
                      <a:pt x="0" y="0"/>
                    </a:lnTo>
                    <a:lnTo>
                      <a:pt x="0" y="200025"/>
                    </a:lnTo>
                    <a:lnTo>
                      <a:pt x="57150" y="200025"/>
                    </a:lnTo>
                    <a:lnTo>
                      <a:pt x="57150" y="0"/>
                    </a:lnTo>
                    <a:close/>
                  </a:path>
                </a:pathLst>
              </a:custGeom>
              <a:solidFill>
                <a:srgbClr val="153166"/>
              </a:solidFill>
              <a:ln>
                <a:noFill/>
              </a:ln>
            </p:spPr>
          </p:sp>
          <p:sp>
            <p:nvSpPr>
              <p:cNvPr id="8" name="Freeform 8"/>
              <p:cNvSpPr/>
              <p:nvPr/>
            </p:nvSpPr>
            <p:spPr>
              <a:xfrm>
                <a:off x="923925" y="1824038"/>
                <a:ext cx="57150" cy="142875"/>
              </a:xfrm>
              <a:custGeom>
                <a:avLst/>
                <a:gdLst/>
                <a:ahLst/>
                <a:cxnLst/>
                <a:rect l="l" t="t" r="r" b="b"/>
                <a:pathLst>
                  <a:path w="57150" h="142875">
                    <a:moveTo>
                      <a:pt x="0" y="0"/>
                    </a:moveTo>
                    <a:lnTo>
                      <a:pt x="57150" y="0"/>
                    </a:lnTo>
                    <a:lnTo>
                      <a:pt x="57150" y="142875"/>
                    </a:lnTo>
                    <a:lnTo>
                      <a:pt x="0" y="142875"/>
                    </a:lnTo>
                    <a:lnTo>
                      <a:pt x="0" y="0"/>
                    </a:lnTo>
                    <a:close/>
                  </a:path>
                </a:pathLst>
              </a:custGeom>
              <a:solidFill>
                <a:srgbClr val="153166"/>
              </a:solidFill>
              <a:ln>
                <a:noFill/>
              </a:ln>
            </p:spPr>
          </p:sp>
          <p:sp>
            <p:nvSpPr>
              <p:cNvPr id="9" name="Freeform 9"/>
              <p:cNvSpPr/>
              <p:nvPr/>
            </p:nvSpPr>
            <p:spPr>
              <a:xfrm>
                <a:off x="838200" y="1881188"/>
                <a:ext cx="57150" cy="85725"/>
              </a:xfrm>
              <a:custGeom>
                <a:avLst/>
                <a:gdLst/>
                <a:ahLst/>
                <a:cxnLst/>
                <a:rect l="l" t="t" r="r" b="b"/>
                <a:pathLst>
                  <a:path w="57150" h="85725">
                    <a:moveTo>
                      <a:pt x="0" y="0"/>
                    </a:moveTo>
                    <a:lnTo>
                      <a:pt x="57150" y="0"/>
                    </a:lnTo>
                    <a:lnTo>
                      <a:pt x="57150" y="85725"/>
                    </a:lnTo>
                    <a:lnTo>
                      <a:pt x="0" y="85725"/>
                    </a:lnTo>
                    <a:lnTo>
                      <a:pt x="0" y="0"/>
                    </a:lnTo>
                    <a:close/>
                  </a:path>
                </a:pathLst>
              </a:custGeom>
              <a:solidFill>
                <a:srgbClr val="153166"/>
              </a:solidFill>
              <a:ln>
                <a:noFill/>
              </a:ln>
            </p:spPr>
          </p:sp>
        </p:grpSp>
        <p:sp>
          <p:nvSpPr>
            <p:cNvPr id="11" name="TextBox 11"/>
            <p:cNvSpPr txBox="1"/>
            <p:nvPr/>
          </p:nvSpPr>
          <p:spPr>
            <a:xfrm>
              <a:off x="1162050" y="1762125"/>
              <a:ext cx="4385643" cy="304800"/>
            </a:xfrm>
            <a:prstGeom prst="rect">
              <a:avLst/>
            </a:prstGeom>
            <a:noFill/>
            <a:ln>
              <a:noFill/>
            </a:ln>
          </p:spPr>
          <p:txBody>
            <a:bodyPr wrap="none" lIns="0" tIns="0" rIns="0" bIns="0" anchor="t" anchorCtr="0">
              <a:spAutoFit/>
            </a:bodyPr>
            <a:lstStyle/>
            <a:p>
              <a:pPr algn="l"/>
              <a:r>
                <a:rPr lang="zh-CN" sz="1500" b="1" dirty="0">
                  <a:solidFill>
                    <a:srgbClr val="153166"/>
                  </a:solidFill>
                  <a:latin typeface="Plus Jakarta Sans"/>
                  <a:ea typeface="Microsoft JhengHei"/>
                  <a:cs typeface="Plus Jakarta Sans"/>
                </a:rPr>
                <a:t>既有優化 (1-to-N) — 指標驅動 (Metric-Led)</a:t>
              </a:r>
            </a:p>
          </p:txBody>
        </p:sp>
        <p:sp>
          <p:nvSpPr>
            <p:cNvPr id="12" name="TextBox 12"/>
            <p:cNvSpPr txBox="1"/>
            <p:nvPr/>
          </p:nvSpPr>
          <p:spPr>
            <a:xfrm>
              <a:off x="823912" y="2259806"/>
              <a:ext cx="816173" cy="228600"/>
            </a:xfrm>
            <a:prstGeom prst="rect">
              <a:avLst/>
            </a:prstGeom>
            <a:noFill/>
            <a:ln>
              <a:noFill/>
            </a:ln>
          </p:spPr>
          <p:txBody>
            <a:bodyPr wrap="none" lIns="0" tIns="0" rIns="0" bIns="0" anchor="t" anchorCtr="0">
              <a:spAutoFit/>
            </a:bodyPr>
            <a:lstStyle/>
            <a:p>
              <a:pPr algn="l"/>
              <a:r>
                <a:rPr lang="zh-CN" sz="1125" b="1" dirty="0">
                  <a:solidFill>
                    <a:srgbClr val="153166"/>
                  </a:solidFill>
                  <a:latin typeface="Manrope"/>
                  <a:ea typeface="Microsoft JhengHei"/>
                  <a:cs typeface="Manrope"/>
                </a:rPr>
                <a:t>核心目的：</a:t>
              </a:r>
            </a:p>
          </p:txBody>
        </p:sp>
        <p:sp>
          <p:nvSpPr>
            <p:cNvPr id="13" name="TextBox 13"/>
            <p:cNvSpPr txBox="1"/>
            <p:nvPr/>
          </p:nvSpPr>
          <p:spPr>
            <a:xfrm>
              <a:off x="1490662" y="2259806"/>
              <a:ext cx="3629025" cy="228600"/>
            </a:xfrm>
            <a:prstGeom prst="rect">
              <a:avLst/>
            </a:prstGeom>
            <a:noFill/>
            <a:ln>
              <a:noFill/>
            </a:ln>
          </p:spPr>
          <p:txBody>
            <a:bodyPr wrap="none" lIns="0" tIns="0" rIns="0" bIns="0" anchor="t" anchorCtr="0">
              <a:spAutoFit/>
            </a:bodyPr>
            <a:lstStyle/>
            <a:p>
              <a:pPr algn="l"/>
              <a:r>
                <a:rPr lang="zh-CN" sz="1125" b="1" dirty="0">
                  <a:solidFill>
                    <a:srgbClr val="153166"/>
                  </a:solidFill>
                  <a:latin typeface="Manrope"/>
                  <a:ea typeface="Microsoft JhengHei"/>
                  <a:cs typeface="Manrope"/>
                </a:rPr>
                <a:t>擴大規模與優化效率</a:t>
              </a:r>
              <a:r>
                <a:rPr lang="zh-CN" sz="1125" dirty="0">
                  <a:solidFill>
                    <a:srgbClr val="171C24"/>
                  </a:solidFill>
                  <a:latin typeface="Manrope"/>
                  <a:ea typeface="Microsoft JhengHei"/>
                  <a:cs typeface="Manrope"/>
                </a:rPr>
                <a:t>，證明如何讓既有引擎跑得更快。</a:t>
              </a:r>
            </a:p>
          </p:txBody>
        </p:sp>
        <p:sp>
          <p:nvSpPr>
            <p:cNvPr id="14" name="TextBox 14"/>
            <p:cNvSpPr txBox="1"/>
            <p:nvPr/>
          </p:nvSpPr>
          <p:spPr>
            <a:xfrm>
              <a:off x="823912" y="2640806"/>
              <a:ext cx="816173" cy="228600"/>
            </a:xfrm>
            <a:prstGeom prst="rect">
              <a:avLst/>
            </a:prstGeom>
            <a:noFill/>
            <a:ln>
              <a:noFill/>
            </a:ln>
          </p:spPr>
          <p:txBody>
            <a:bodyPr wrap="none" lIns="0" tIns="0" rIns="0" bIns="0" anchor="t" anchorCtr="0">
              <a:spAutoFit/>
            </a:bodyPr>
            <a:lstStyle/>
            <a:p>
              <a:pPr algn="l"/>
              <a:r>
                <a:rPr lang="zh-CN" sz="1125" b="1" dirty="0">
                  <a:solidFill>
                    <a:srgbClr val="153166"/>
                  </a:solidFill>
                  <a:latin typeface="Manrope"/>
                  <a:ea typeface="Microsoft JhengHei"/>
                  <a:cs typeface="Manrope"/>
                </a:rPr>
                <a:t>案例引入：</a:t>
              </a:r>
            </a:p>
          </p:txBody>
        </p:sp>
        <p:sp>
          <p:nvSpPr>
            <p:cNvPr id="15" name="TextBox 15"/>
            <p:cNvSpPr txBox="1"/>
            <p:nvPr/>
          </p:nvSpPr>
          <p:spPr>
            <a:xfrm>
              <a:off x="1490662" y="2640806"/>
              <a:ext cx="3794046" cy="228600"/>
            </a:xfrm>
            <a:prstGeom prst="rect">
              <a:avLst/>
            </a:prstGeom>
            <a:noFill/>
            <a:ln>
              <a:noFill/>
            </a:ln>
          </p:spPr>
          <p:txBody>
            <a:bodyPr wrap="none" lIns="0" tIns="0" rIns="0" bIns="0" anchor="t" anchorCtr="0">
              <a:spAutoFit/>
            </a:bodyPr>
            <a:lstStyle/>
            <a:p>
              <a:pPr algn="l"/>
              <a:r>
                <a:rPr lang="zh-CN" sz="1125" dirty="0">
                  <a:solidFill>
                    <a:srgbClr val="171C24"/>
                  </a:solidFill>
                  <a:latin typeface="Manrope"/>
                  <a:ea typeface="Microsoft JhengHei"/>
                  <a:cs typeface="Manrope"/>
                </a:rPr>
                <a:t>在 Notion 協作平台中，新增 AI 會議記錄自動摘要功能，</a:t>
              </a:r>
            </a:p>
          </p:txBody>
        </p:sp>
        <p:sp>
          <p:nvSpPr>
            <p:cNvPr id="16" name="TextBox 16"/>
            <p:cNvSpPr txBox="1"/>
            <p:nvPr/>
          </p:nvSpPr>
          <p:spPr>
            <a:xfrm>
              <a:off x="1490662" y="2869406"/>
              <a:ext cx="1528762" cy="228600"/>
            </a:xfrm>
            <a:prstGeom prst="rect">
              <a:avLst/>
            </a:prstGeom>
            <a:noFill/>
            <a:ln>
              <a:noFill/>
            </a:ln>
          </p:spPr>
          <p:txBody>
            <a:bodyPr wrap="none" lIns="0" tIns="0" rIns="0" bIns="0" anchor="t" anchorCtr="0">
              <a:spAutoFit/>
            </a:bodyPr>
            <a:lstStyle/>
            <a:p>
              <a:pPr algn="l"/>
              <a:r>
                <a:rPr lang="zh-CN" sz="1125" dirty="0">
                  <a:solidFill>
                    <a:srgbClr val="171C24"/>
                  </a:solidFill>
                  <a:latin typeface="Manrope"/>
                  <a:ea typeface="Microsoft JhengHei"/>
                  <a:cs typeface="Manrope"/>
                </a:rPr>
                <a:t>以活化文件協作熱度。</a:t>
              </a:r>
            </a:p>
          </p:txBody>
        </p:sp>
        <p:sp>
          <p:nvSpPr>
            <p:cNvPr id="17" name="TextBox 17"/>
            <p:cNvSpPr txBox="1"/>
            <p:nvPr/>
          </p:nvSpPr>
          <p:spPr>
            <a:xfrm>
              <a:off x="823912" y="3326606"/>
              <a:ext cx="816173" cy="228600"/>
            </a:xfrm>
            <a:prstGeom prst="rect">
              <a:avLst/>
            </a:prstGeom>
            <a:noFill/>
            <a:ln>
              <a:noFill/>
            </a:ln>
          </p:spPr>
          <p:txBody>
            <a:bodyPr wrap="none" lIns="0" tIns="0" rIns="0" bIns="0" anchor="t" anchorCtr="0">
              <a:spAutoFit/>
            </a:bodyPr>
            <a:lstStyle/>
            <a:p>
              <a:pPr algn="l"/>
              <a:r>
                <a:rPr lang="zh-CN" sz="1125" b="1" dirty="0">
                  <a:solidFill>
                    <a:srgbClr val="153166"/>
                  </a:solidFill>
                  <a:latin typeface="Manrope"/>
                  <a:ea typeface="Microsoft JhengHei"/>
                  <a:cs typeface="Manrope"/>
                </a:rPr>
                <a:t>首要任務：</a:t>
              </a:r>
            </a:p>
          </p:txBody>
        </p:sp>
        <p:sp>
          <p:nvSpPr>
            <p:cNvPr id="18" name="TextBox 18"/>
            <p:cNvSpPr txBox="1"/>
            <p:nvPr/>
          </p:nvSpPr>
          <p:spPr>
            <a:xfrm>
              <a:off x="1490662" y="3326606"/>
              <a:ext cx="3479006" cy="228600"/>
            </a:xfrm>
            <a:prstGeom prst="rect">
              <a:avLst/>
            </a:prstGeom>
            <a:noFill/>
            <a:ln>
              <a:noFill/>
            </a:ln>
          </p:spPr>
          <p:txBody>
            <a:bodyPr wrap="none" lIns="0" tIns="0" rIns="0" bIns="0" anchor="t" anchorCtr="0">
              <a:spAutoFit/>
            </a:bodyPr>
            <a:lstStyle/>
            <a:p>
              <a:pPr algn="l"/>
              <a:r>
                <a:rPr lang="zh-CN" sz="1125" b="1" dirty="0">
                  <a:solidFill>
                    <a:srgbClr val="153166"/>
                  </a:solidFill>
                  <a:latin typeface="Manrope"/>
                  <a:ea typeface="Microsoft JhengHei"/>
                  <a:cs typeface="Manrope"/>
                </a:rPr>
                <a:t>以數據開場</a:t>
              </a:r>
              <a:r>
                <a:rPr lang="zh-CN" sz="1125" dirty="0">
                  <a:solidFill>
                    <a:srgbClr val="171C24"/>
                  </a:solidFill>
                  <a:latin typeface="Manrope"/>
                  <a:ea typeface="Microsoft JhengHei"/>
                  <a:cs typeface="Manrope"/>
                </a:rPr>
                <a:t>，明確指出目前北極星指標的</a:t>
              </a:r>
              <a:r>
                <a:rPr lang="zh-CN" sz="1125" b="1" dirty="0">
                  <a:solidFill>
                    <a:srgbClr val="153166"/>
                  </a:solidFill>
                  <a:latin typeface="Manrope"/>
                  <a:ea typeface="Microsoft JhengHei"/>
                  <a:cs typeface="Manrope"/>
                </a:rPr>
                <a:t>漏斗瓶頸</a:t>
              </a:r>
              <a:r>
                <a:rPr lang="zh-CN" sz="1125" dirty="0">
                  <a:solidFill>
                    <a:srgbClr val="171C24"/>
                  </a:solidFill>
                  <a:latin typeface="Manrope"/>
                  <a:ea typeface="Microsoft JhengHei"/>
                  <a:cs typeface="Manrope"/>
                </a:rPr>
                <a:t>，</a:t>
              </a:r>
            </a:p>
          </p:txBody>
        </p:sp>
        <p:sp>
          <p:nvSpPr>
            <p:cNvPr id="19" name="TextBox 19"/>
            <p:cNvSpPr txBox="1"/>
            <p:nvPr/>
          </p:nvSpPr>
          <p:spPr>
            <a:xfrm>
              <a:off x="1490662" y="3555206"/>
              <a:ext cx="3328988" cy="228600"/>
            </a:xfrm>
            <a:prstGeom prst="rect">
              <a:avLst/>
            </a:prstGeom>
            <a:noFill/>
            <a:ln>
              <a:noFill/>
            </a:ln>
          </p:spPr>
          <p:txBody>
            <a:bodyPr wrap="none" lIns="0" tIns="0" rIns="0" bIns="0" anchor="t" anchorCtr="0">
              <a:spAutoFit/>
            </a:bodyPr>
            <a:lstStyle/>
            <a:p>
              <a:pPr algn="l"/>
              <a:r>
                <a:rPr lang="zh-CN" sz="1125" dirty="0">
                  <a:solidFill>
                    <a:srgbClr val="171C24"/>
                  </a:solidFill>
                  <a:latin typeface="Manrope"/>
                  <a:ea typeface="Microsoft JhengHei"/>
                  <a:cs typeface="Manrope"/>
                </a:rPr>
                <a:t>說明功能轉換率低下的原因，以此爭取優化資源。</a:t>
              </a:r>
            </a:p>
          </p:txBody>
        </p:sp>
      </p:grpSp>
      <p:grpSp>
        <p:nvGrpSpPr>
          <p:cNvPr id="34" name="Group 34"/>
          <p:cNvGrpSpPr/>
          <p:nvPr/>
        </p:nvGrpSpPr>
        <p:grpSpPr>
          <a:xfrm>
            <a:off x="6343650" y="1524000"/>
            <a:ext cx="5238750" cy="4000500"/>
            <a:chOff x="6343650" y="1524000"/>
            <a:chExt cx="5238750" cy="4000500"/>
          </a:xfrm>
        </p:grpSpPr>
        <p:sp>
          <p:nvSpPr>
            <p:cNvPr id="21" name="Rectangle 21"/>
            <p:cNvSpPr/>
            <p:nvPr/>
          </p:nvSpPr>
          <p:spPr>
            <a:xfrm>
              <a:off x="6343650" y="1524000"/>
              <a:ext cx="5238750" cy="4000500"/>
            </a:xfrm>
            <a:prstGeom prst="roundRect">
              <a:avLst>
                <a:gd name="adj" fmla="val 3810"/>
              </a:avLst>
            </a:prstGeom>
            <a:solidFill>
              <a:srgbClr val="FFFFFF"/>
            </a:solidFill>
            <a:ln w="14288">
              <a:solidFill>
                <a:srgbClr val="E5E3DE"/>
              </a:solidFill>
            </a:ln>
          </p:spPr>
        </p:sp>
        <p:sp>
          <p:nvSpPr>
            <p:cNvPr id="22" name="Rectangle 22"/>
            <p:cNvSpPr/>
            <p:nvPr/>
          </p:nvSpPr>
          <p:spPr>
            <a:xfrm>
              <a:off x="6343650" y="1524000"/>
              <a:ext cx="76200" cy="4000500"/>
            </a:xfrm>
            <a:prstGeom prst="roundRect">
              <a:avLst>
                <a:gd name="adj" fmla="val 50000"/>
              </a:avLst>
            </a:prstGeom>
            <a:solidFill>
              <a:srgbClr val="00969D"/>
            </a:solidFill>
            <a:ln>
              <a:noFill/>
            </a:ln>
          </p:spPr>
        </p:sp>
        <p:grpSp>
          <p:nvGrpSpPr>
            <p:cNvPr id="25" name="Group 25"/>
            <p:cNvGrpSpPr/>
            <p:nvPr/>
          </p:nvGrpSpPr>
          <p:grpSpPr>
            <a:xfrm>
              <a:off x="6572250" y="1752600"/>
              <a:ext cx="228600" cy="228600"/>
              <a:chOff x="6572250" y="1752600"/>
              <a:chExt cx="228600" cy="228600"/>
            </a:xfrm>
          </p:grpSpPr>
          <p:sp>
            <p:nvSpPr>
              <p:cNvPr id="23" name="Freeform 23"/>
              <p:cNvSpPr/>
              <p:nvPr/>
            </p:nvSpPr>
            <p:spPr>
              <a:xfrm>
                <a:off x="6629400" y="1809750"/>
                <a:ext cx="114300" cy="114300"/>
              </a:xfrm>
              <a:custGeom>
                <a:avLst/>
                <a:gdLst/>
                <a:ahLst/>
                <a:cxnLst/>
                <a:rect l="l" t="t" r="r" b="b"/>
                <a:pathLst>
                  <a:path w="114300" h="114300">
                    <a:moveTo>
                      <a:pt x="57150" y="0"/>
                    </a:moveTo>
                    <a:cubicBezTo>
                      <a:pt x="25587" y="0"/>
                      <a:pt x="0" y="25587"/>
                      <a:pt x="0" y="57150"/>
                    </a:cubicBezTo>
                    <a:cubicBezTo>
                      <a:pt x="0" y="88713"/>
                      <a:pt x="25587" y="114300"/>
                      <a:pt x="57150" y="114300"/>
                    </a:cubicBezTo>
                    <a:cubicBezTo>
                      <a:pt x="88713" y="114300"/>
                      <a:pt x="114300" y="88713"/>
                      <a:pt x="114300" y="57150"/>
                    </a:cubicBezTo>
                    <a:cubicBezTo>
                      <a:pt x="114300" y="25587"/>
                      <a:pt x="88713" y="0"/>
                      <a:pt x="57150" y="0"/>
                    </a:cubicBezTo>
                    <a:close/>
                    <a:moveTo>
                      <a:pt x="28575" y="57150"/>
                    </a:moveTo>
                    <a:cubicBezTo>
                      <a:pt x="28575" y="41368"/>
                      <a:pt x="41368" y="28575"/>
                      <a:pt x="57150" y="28575"/>
                    </a:cubicBezTo>
                    <a:cubicBezTo>
                      <a:pt x="72932" y="28575"/>
                      <a:pt x="85725" y="41368"/>
                      <a:pt x="85725" y="57150"/>
                    </a:cubicBezTo>
                    <a:cubicBezTo>
                      <a:pt x="85725" y="72932"/>
                      <a:pt x="72932" y="85725"/>
                      <a:pt x="57150" y="85725"/>
                    </a:cubicBezTo>
                    <a:cubicBezTo>
                      <a:pt x="41368" y="85725"/>
                      <a:pt x="28575" y="72932"/>
                      <a:pt x="28575" y="57150"/>
                    </a:cubicBezTo>
                    <a:close/>
                  </a:path>
                </a:pathLst>
              </a:custGeom>
              <a:solidFill>
                <a:srgbClr val="00969D"/>
              </a:solidFill>
              <a:ln>
                <a:noFill/>
              </a:ln>
            </p:spPr>
          </p:sp>
          <p:sp>
            <p:nvSpPr>
              <p:cNvPr id="24" name="Freeform 24"/>
              <p:cNvSpPr/>
              <p:nvPr/>
            </p:nvSpPr>
            <p:spPr>
              <a:xfrm>
                <a:off x="6572250" y="1752600"/>
                <a:ext cx="228600" cy="228600"/>
              </a:xfrm>
              <a:custGeom>
                <a:avLst/>
                <a:gdLst/>
                <a:ahLst/>
                <a:cxnLst/>
                <a:rect l="l" t="t" r="r" b="b"/>
                <a:pathLst>
                  <a:path w="228600" h="228600">
                    <a:moveTo>
                      <a:pt x="114300" y="0"/>
                    </a:moveTo>
                    <a:cubicBezTo>
                      <a:pt x="51174" y="0"/>
                      <a:pt x="0" y="51174"/>
                      <a:pt x="0" y="114300"/>
                    </a:cubicBezTo>
                    <a:cubicBezTo>
                      <a:pt x="0" y="177426"/>
                      <a:pt x="51174" y="228600"/>
                      <a:pt x="114300" y="228600"/>
                    </a:cubicBezTo>
                    <a:cubicBezTo>
                      <a:pt x="177426" y="228600"/>
                      <a:pt x="228600" y="177426"/>
                      <a:pt x="228600" y="114300"/>
                    </a:cubicBezTo>
                    <a:cubicBezTo>
                      <a:pt x="228600" y="51174"/>
                      <a:pt x="177426" y="0"/>
                      <a:pt x="114300" y="0"/>
                    </a:cubicBezTo>
                    <a:close/>
                    <a:moveTo>
                      <a:pt x="28575" y="114300"/>
                    </a:moveTo>
                    <a:cubicBezTo>
                      <a:pt x="28575" y="66955"/>
                      <a:pt x="66955" y="28575"/>
                      <a:pt x="114300" y="28575"/>
                    </a:cubicBezTo>
                    <a:cubicBezTo>
                      <a:pt x="161644" y="28575"/>
                      <a:pt x="200025" y="66955"/>
                      <a:pt x="200025" y="114300"/>
                    </a:cubicBezTo>
                    <a:cubicBezTo>
                      <a:pt x="200025" y="161644"/>
                      <a:pt x="161644" y="200025"/>
                      <a:pt x="114300" y="200025"/>
                    </a:cubicBezTo>
                    <a:cubicBezTo>
                      <a:pt x="66955" y="200025"/>
                      <a:pt x="28575" y="161644"/>
                      <a:pt x="28575" y="114300"/>
                    </a:cubicBezTo>
                    <a:close/>
                  </a:path>
                </a:pathLst>
              </a:custGeom>
              <a:solidFill>
                <a:srgbClr val="00969D"/>
              </a:solidFill>
              <a:ln>
                <a:noFill/>
              </a:ln>
            </p:spPr>
          </p:sp>
        </p:grpSp>
        <p:sp>
          <p:nvSpPr>
            <p:cNvPr id="26" name="TextBox 26"/>
            <p:cNvSpPr txBox="1"/>
            <p:nvPr/>
          </p:nvSpPr>
          <p:spPr>
            <a:xfrm>
              <a:off x="6896100" y="1762125"/>
              <a:ext cx="4501158" cy="304800"/>
            </a:xfrm>
            <a:prstGeom prst="rect">
              <a:avLst/>
            </a:prstGeom>
            <a:noFill/>
            <a:ln>
              <a:noFill/>
            </a:ln>
          </p:spPr>
          <p:txBody>
            <a:bodyPr wrap="none" lIns="0" tIns="0" rIns="0" bIns="0" anchor="t" anchorCtr="0">
              <a:spAutoFit/>
            </a:bodyPr>
            <a:lstStyle/>
            <a:p>
              <a:pPr algn="l"/>
              <a:r>
                <a:rPr lang="zh-CN" sz="1500" b="1" dirty="0">
                  <a:solidFill>
                    <a:srgbClr val="00969D"/>
                  </a:solidFill>
                  <a:latin typeface="Plus Jakarta Sans"/>
                  <a:ea typeface="Microsoft JhengHei"/>
                  <a:cs typeface="Plus Jakarta Sans"/>
                </a:rPr>
                <a:t>全新開發 (0-to-1) — 問題驅動 (Problem-Led)</a:t>
              </a:r>
            </a:p>
          </p:txBody>
        </p:sp>
        <p:sp>
          <p:nvSpPr>
            <p:cNvPr id="27" name="TextBox 27"/>
            <p:cNvSpPr txBox="1"/>
            <p:nvPr/>
          </p:nvSpPr>
          <p:spPr>
            <a:xfrm>
              <a:off x="6557962" y="2259806"/>
              <a:ext cx="816173" cy="228600"/>
            </a:xfrm>
            <a:prstGeom prst="rect">
              <a:avLst/>
            </a:prstGeom>
            <a:noFill/>
            <a:ln>
              <a:noFill/>
            </a:ln>
          </p:spPr>
          <p:txBody>
            <a:bodyPr wrap="none" lIns="0" tIns="0" rIns="0" bIns="0" anchor="t" anchorCtr="0">
              <a:spAutoFit/>
            </a:bodyPr>
            <a:lstStyle/>
            <a:p>
              <a:pPr algn="l"/>
              <a:r>
                <a:rPr lang="zh-CN" sz="1125" b="1" dirty="0">
                  <a:solidFill>
                    <a:srgbClr val="007583"/>
                  </a:solidFill>
                  <a:latin typeface="Manrope"/>
                  <a:ea typeface="Microsoft JhengHei"/>
                  <a:cs typeface="Manrope"/>
                </a:rPr>
                <a:t>核心目的：</a:t>
              </a:r>
            </a:p>
          </p:txBody>
        </p:sp>
        <p:sp>
          <p:nvSpPr>
            <p:cNvPr id="28" name="TextBox 28"/>
            <p:cNvSpPr txBox="1"/>
            <p:nvPr/>
          </p:nvSpPr>
          <p:spPr>
            <a:xfrm>
              <a:off x="7224712" y="2259806"/>
              <a:ext cx="3929062" cy="228600"/>
            </a:xfrm>
            <a:prstGeom prst="rect">
              <a:avLst/>
            </a:prstGeom>
            <a:noFill/>
            <a:ln>
              <a:noFill/>
            </a:ln>
          </p:spPr>
          <p:txBody>
            <a:bodyPr wrap="none" lIns="0" tIns="0" rIns="0" bIns="0" anchor="t" anchorCtr="0">
              <a:spAutoFit/>
            </a:bodyPr>
            <a:lstStyle/>
            <a:p>
              <a:pPr algn="l"/>
              <a:r>
                <a:rPr lang="zh-CN" sz="1125" b="1" dirty="0">
                  <a:solidFill>
                    <a:srgbClr val="007583"/>
                  </a:solidFill>
                  <a:latin typeface="Manrope"/>
                  <a:ea typeface="Microsoft JhengHei"/>
                  <a:cs typeface="Manrope"/>
                </a:rPr>
                <a:t>降低未知風險</a:t>
              </a:r>
              <a:r>
                <a:rPr lang="zh-CN" sz="1125" dirty="0">
                  <a:solidFill>
                    <a:srgbClr val="171C24"/>
                  </a:solidFill>
                  <a:latin typeface="Manrope"/>
                  <a:ea typeface="Microsoft JhengHei"/>
                  <a:cs typeface="Manrope"/>
                </a:rPr>
                <a:t>，證明某個</a:t>
              </a:r>
              <a:r>
                <a:rPr lang="zh-CN" sz="1125" b="1" dirty="0">
                  <a:solidFill>
                    <a:srgbClr val="007583"/>
                  </a:solidFill>
                  <a:latin typeface="Manrope"/>
                  <a:ea typeface="Microsoft JhengHei"/>
                  <a:cs typeface="Manrope"/>
                </a:rPr>
                <a:t>市場痛點真實存在</a:t>
              </a:r>
              <a:r>
                <a:rPr lang="zh-CN" sz="1125" dirty="0">
                  <a:solidFill>
                    <a:srgbClr val="171C24"/>
                  </a:solidFill>
                  <a:latin typeface="Manrope"/>
                  <a:ea typeface="Microsoft JhengHei"/>
                  <a:cs typeface="Manrope"/>
                </a:rPr>
                <a:t>且值得被解決。</a:t>
              </a:r>
            </a:p>
          </p:txBody>
        </p:sp>
        <p:sp>
          <p:nvSpPr>
            <p:cNvPr id="29" name="TextBox 29"/>
            <p:cNvSpPr txBox="1"/>
            <p:nvPr/>
          </p:nvSpPr>
          <p:spPr>
            <a:xfrm>
              <a:off x="6557962" y="2640806"/>
              <a:ext cx="816173" cy="228600"/>
            </a:xfrm>
            <a:prstGeom prst="rect">
              <a:avLst/>
            </a:prstGeom>
            <a:noFill/>
            <a:ln>
              <a:noFill/>
            </a:ln>
          </p:spPr>
          <p:txBody>
            <a:bodyPr wrap="none" lIns="0" tIns="0" rIns="0" bIns="0" anchor="t" anchorCtr="0">
              <a:spAutoFit/>
            </a:bodyPr>
            <a:lstStyle/>
            <a:p>
              <a:pPr algn="l"/>
              <a:r>
                <a:rPr lang="zh-CN" sz="1125" b="1" dirty="0">
                  <a:solidFill>
                    <a:srgbClr val="007583"/>
                  </a:solidFill>
                  <a:latin typeface="Manrope"/>
                  <a:ea typeface="Microsoft JhengHei"/>
                  <a:cs typeface="Manrope"/>
                </a:rPr>
                <a:t>案例引入：</a:t>
              </a:r>
            </a:p>
          </p:txBody>
        </p:sp>
        <p:sp>
          <p:nvSpPr>
            <p:cNvPr id="30" name="TextBox 30"/>
            <p:cNvSpPr txBox="1"/>
            <p:nvPr/>
          </p:nvSpPr>
          <p:spPr>
            <a:xfrm>
              <a:off x="7224712" y="2640806"/>
              <a:ext cx="3974068" cy="228600"/>
            </a:xfrm>
            <a:prstGeom prst="rect">
              <a:avLst/>
            </a:prstGeom>
            <a:noFill/>
            <a:ln>
              <a:noFill/>
            </a:ln>
          </p:spPr>
          <p:txBody>
            <a:bodyPr wrap="none" lIns="0" tIns="0" rIns="0" bIns="0" anchor="t" anchorCtr="0">
              <a:spAutoFit/>
            </a:bodyPr>
            <a:lstStyle/>
            <a:p>
              <a:pPr algn="l"/>
              <a:r>
                <a:rPr lang="zh-CN" sz="1125" dirty="0">
                  <a:solidFill>
                    <a:srgbClr val="171C24"/>
                  </a:solidFill>
                  <a:latin typeface="Manrope"/>
                  <a:ea typeface="Microsoft JhengHei"/>
                  <a:cs typeface="Manrope"/>
                </a:rPr>
                <a:t>開發一款全新的 AI PRD 撰寫助理，幫助 PM 克服寫作阻力。</a:t>
              </a:r>
            </a:p>
          </p:txBody>
        </p:sp>
        <p:sp>
          <p:nvSpPr>
            <p:cNvPr id="31" name="TextBox 31"/>
            <p:cNvSpPr txBox="1"/>
            <p:nvPr/>
          </p:nvSpPr>
          <p:spPr>
            <a:xfrm>
              <a:off x="6557962" y="3098006"/>
              <a:ext cx="816173" cy="228600"/>
            </a:xfrm>
            <a:prstGeom prst="rect">
              <a:avLst/>
            </a:prstGeom>
            <a:noFill/>
            <a:ln>
              <a:noFill/>
            </a:ln>
          </p:spPr>
          <p:txBody>
            <a:bodyPr wrap="none" lIns="0" tIns="0" rIns="0" bIns="0" anchor="t" anchorCtr="0">
              <a:spAutoFit/>
            </a:bodyPr>
            <a:lstStyle/>
            <a:p>
              <a:pPr algn="l"/>
              <a:r>
                <a:rPr lang="zh-CN" sz="1125" b="1" dirty="0">
                  <a:solidFill>
                    <a:srgbClr val="007583"/>
                  </a:solidFill>
                  <a:latin typeface="Manrope"/>
                  <a:ea typeface="Microsoft JhengHei"/>
                  <a:cs typeface="Manrope"/>
                </a:rPr>
                <a:t>首要任務：</a:t>
              </a:r>
            </a:p>
          </p:txBody>
        </p:sp>
        <p:sp>
          <p:nvSpPr>
            <p:cNvPr id="32" name="TextBox 32"/>
            <p:cNvSpPr txBox="1"/>
            <p:nvPr/>
          </p:nvSpPr>
          <p:spPr>
            <a:xfrm>
              <a:off x="7224712" y="3098006"/>
              <a:ext cx="3779044" cy="228600"/>
            </a:xfrm>
            <a:prstGeom prst="rect">
              <a:avLst/>
            </a:prstGeom>
            <a:noFill/>
            <a:ln>
              <a:noFill/>
            </a:ln>
          </p:spPr>
          <p:txBody>
            <a:bodyPr wrap="none" lIns="0" tIns="0" rIns="0" bIns="0" anchor="t" anchorCtr="0">
              <a:spAutoFit/>
            </a:bodyPr>
            <a:lstStyle/>
            <a:p>
              <a:pPr algn="l"/>
              <a:r>
                <a:rPr lang="zh-CN" sz="1125" b="1" dirty="0">
                  <a:solidFill>
                    <a:srgbClr val="007583"/>
                  </a:solidFill>
                  <a:latin typeface="Manrope"/>
                  <a:ea typeface="Microsoft JhengHei"/>
                  <a:cs typeface="Manrope"/>
                </a:rPr>
                <a:t>以情境與痛點開場</a:t>
              </a:r>
              <a:r>
                <a:rPr lang="zh-CN" sz="1125" dirty="0">
                  <a:solidFill>
                    <a:srgbClr val="171C24"/>
                  </a:solidFill>
                  <a:latin typeface="Manrope"/>
                  <a:ea typeface="Microsoft JhengHei"/>
                  <a:cs typeface="Manrope"/>
                </a:rPr>
                <a:t>，定性說明</a:t>
              </a:r>
              <a:r>
                <a:rPr lang="zh-CN" sz="1125" b="1" dirty="0">
                  <a:solidFill>
                    <a:srgbClr val="007583"/>
                  </a:solidFill>
                  <a:latin typeface="Manrope"/>
                  <a:ea typeface="Microsoft JhengHei"/>
                  <a:cs typeface="Manrope"/>
                </a:rPr>
                <a:t>使用者價值</a:t>
              </a:r>
              <a:r>
                <a:rPr lang="zh-CN" sz="1125" dirty="0">
                  <a:solidFill>
                    <a:srgbClr val="171C24"/>
                  </a:solidFill>
                  <a:latin typeface="Manrope"/>
                  <a:ea typeface="Microsoft JhengHei"/>
                  <a:cs typeface="Manrope"/>
                </a:rPr>
                <a:t>，並訂定未來的</a:t>
              </a:r>
            </a:p>
          </p:txBody>
        </p:sp>
        <p:sp>
          <p:nvSpPr>
            <p:cNvPr id="33" name="TextBox 33"/>
            <p:cNvSpPr txBox="1"/>
            <p:nvPr/>
          </p:nvSpPr>
          <p:spPr>
            <a:xfrm>
              <a:off x="7224712" y="3326606"/>
              <a:ext cx="2428875" cy="228600"/>
            </a:xfrm>
            <a:prstGeom prst="rect">
              <a:avLst/>
            </a:prstGeom>
            <a:noFill/>
            <a:ln>
              <a:noFill/>
            </a:ln>
          </p:spPr>
          <p:txBody>
            <a:bodyPr wrap="none" lIns="0" tIns="0" rIns="0" bIns="0" anchor="t" anchorCtr="0">
              <a:spAutoFit/>
            </a:bodyPr>
            <a:lstStyle/>
            <a:p>
              <a:pPr algn="l"/>
              <a:r>
                <a:rPr lang="zh-CN" sz="1125" dirty="0">
                  <a:solidFill>
                    <a:srgbClr val="171C24"/>
                  </a:solidFill>
                  <a:latin typeface="Manrope"/>
                  <a:ea typeface="Microsoft JhengHei"/>
                  <a:cs typeface="Manrope"/>
                </a:rPr>
                <a:t>北極星指標作為上線後的衡量標準。</a:t>
              </a:r>
            </a:p>
          </p:txBody>
        </p:sp>
      </p:grpSp>
      <p:grpSp>
        <p:nvGrpSpPr>
          <p:cNvPr id="38" name="Group 38"/>
          <p:cNvGrpSpPr/>
          <p:nvPr/>
        </p:nvGrpSpPr>
        <p:grpSpPr>
          <a:xfrm>
            <a:off x="609600" y="5667375"/>
            <a:ext cx="10972800" cy="571500"/>
            <a:chOff x="609600" y="5667375"/>
            <a:chExt cx="10972800" cy="571500"/>
          </a:xfrm>
        </p:grpSpPr>
        <p:sp>
          <p:nvSpPr>
            <p:cNvPr id="35" name="Rectangle 35"/>
            <p:cNvSpPr/>
            <p:nvPr/>
          </p:nvSpPr>
          <p:spPr>
            <a:xfrm>
              <a:off x="609600" y="5667375"/>
              <a:ext cx="10972800" cy="571500"/>
            </a:xfrm>
            <a:prstGeom prst="roundRect">
              <a:avLst>
                <a:gd name="adj" fmla="val 13333"/>
              </a:avLst>
            </a:prstGeom>
            <a:solidFill>
              <a:srgbClr val="F3F2ED"/>
            </a:solidFill>
            <a:ln>
              <a:noFill/>
            </a:ln>
          </p:spPr>
        </p:sp>
        <p:sp>
          <p:nvSpPr>
            <p:cNvPr id="36" name="Freeform 36"/>
            <p:cNvSpPr/>
            <p:nvPr/>
          </p:nvSpPr>
          <p:spPr>
            <a:xfrm>
              <a:off x="800100" y="5838825"/>
              <a:ext cx="228600" cy="228600"/>
            </a:xfrm>
            <a:custGeom>
              <a:avLst/>
              <a:gdLst/>
              <a:ahLst/>
              <a:cxnLst/>
              <a:rect l="l" t="t" r="r" b="b"/>
              <a:pathLst>
                <a:path w="228600" h="228600">
                  <a:moveTo>
                    <a:pt x="228600" y="114300"/>
                  </a:moveTo>
                  <a:cubicBezTo>
                    <a:pt x="228600" y="177426"/>
                    <a:pt x="177426" y="228600"/>
                    <a:pt x="114300" y="228600"/>
                  </a:cubicBezTo>
                  <a:cubicBezTo>
                    <a:pt x="51174" y="228600"/>
                    <a:pt x="0" y="177426"/>
                    <a:pt x="0" y="114300"/>
                  </a:cubicBezTo>
                  <a:cubicBezTo>
                    <a:pt x="0" y="51174"/>
                    <a:pt x="51174" y="0"/>
                    <a:pt x="114300" y="0"/>
                  </a:cubicBezTo>
                  <a:cubicBezTo>
                    <a:pt x="177426" y="0"/>
                    <a:pt x="228600" y="51174"/>
                    <a:pt x="228600" y="114300"/>
                  </a:cubicBezTo>
                  <a:close/>
                  <a:moveTo>
                    <a:pt x="100012" y="114300"/>
                  </a:moveTo>
                  <a:lnTo>
                    <a:pt x="85725" y="114300"/>
                  </a:lnTo>
                  <a:lnTo>
                    <a:pt x="85725" y="85725"/>
                  </a:lnTo>
                  <a:lnTo>
                    <a:pt x="128588" y="85725"/>
                  </a:lnTo>
                  <a:lnTo>
                    <a:pt x="128588" y="157162"/>
                  </a:lnTo>
                  <a:lnTo>
                    <a:pt x="142875" y="157162"/>
                  </a:lnTo>
                  <a:lnTo>
                    <a:pt x="142875" y="185738"/>
                  </a:lnTo>
                  <a:lnTo>
                    <a:pt x="100012" y="185738"/>
                  </a:lnTo>
                  <a:lnTo>
                    <a:pt x="100012" y="114300"/>
                  </a:lnTo>
                  <a:close/>
                  <a:moveTo>
                    <a:pt x="128588" y="71438"/>
                  </a:moveTo>
                  <a:lnTo>
                    <a:pt x="128588" y="42862"/>
                  </a:lnTo>
                  <a:lnTo>
                    <a:pt x="100012" y="42862"/>
                  </a:lnTo>
                  <a:lnTo>
                    <a:pt x="100012" y="71438"/>
                  </a:lnTo>
                  <a:lnTo>
                    <a:pt x="128588" y="71438"/>
                  </a:lnTo>
                  <a:close/>
                </a:path>
              </a:pathLst>
            </a:custGeom>
            <a:solidFill>
              <a:srgbClr val="153166"/>
            </a:solidFill>
            <a:ln>
              <a:noFill/>
            </a:ln>
          </p:spPr>
        </p:sp>
        <p:sp>
          <p:nvSpPr>
            <p:cNvPr id="37" name="TextBox 37"/>
            <p:cNvSpPr txBox="1"/>
            <p:nvPr/>
          </p:nvSpPr>
          <p:spPr>
            <a:xfrm>
              <a:off x="1110615" y="5877878"/>
              <a:ext cx="7377589" cy="213360"/>
            </a:xfrm>
            <a:prstGeom prst="rect">
              <a:avLst/>
            </a:prstGeom>
            <a:noFill/>
            <a:ln>
              <a:noFill/>
            </a:ln>
          </p:spPr>
          <p:txBody>
            <a:bodyPr wrap="none" lIns="0" tIns="0" rIns="0" bIns="0" anchor="t" anchorCtr="0">
              <a:spAutoFit/>
            </a:bodyPr>
            <a:lstStyle/>
            <a:p>
              <a:pPr algn="l"/>
              <a:r>
                <a:rPr lang="zh-CN" sz="1050" b="1" dirty="0">
                  <a:solidFill>
                    <a:srgbClr val="171C24"/>
                  </a:solidFill>
                  <a:latin typeface="Manrope"/>
                  <a:ea typeface="Microsoft JhengHei"/>
                  <a:cs typeface="Manrope"/>
                </a:rPr>
                <a:t>提示：兩者在說服邏輯上完全不同，優化提案必須以數據指標引路，新產品提案則應以真實痛點與問題本質引路。</a:t>
              </a:r>
            </a:p>
          </p:txBody>
        </p:sp>
      </p:grpSp>
      <p:sp>
        <p:nvSpPr>
          <p:cNvPr id="39" name="TextBox 39"/>
          <p:cNvSpPr txBox="1"/>
          <p:nvPr/>
        </p:nvSpPr>
        <p:spPr>
          <a:xfrm>
            <a:off x="598170" y="6475095"/>
            <a:ext cx="2579179" cy="182880"/>
          </a:xfrm>
          <a:prstGeom prst="rect">
            <a:avLst/>
          </a:prstGeom>
          <a:noFill/>
          <a:ln>
            <a:noFill/>
          </a:ln>
        </p:spPr>
        <p:txBody>
          <a:bodyPr wrap="none" lIns="0" tIns="0" rIns="0" bIns="0" anchor="t" anchorCtr="0">
            <a:spAutoFit/>
          </a:bodyPr>
          <a:lstStyle/>
          <a:p>
            <a:pPr algn="l"/>
            <a:r>
              <a:rPr lang="zh-CN" sz="900" dirty="0">
                <a:solidFill>
                  <a:srgbClr val="525864"/>
                </a:solidFill>
                <a:latin typeface="Manrope"/>
                <a:ea typeface="Microsoft JhengHei"/>
                <a:cs typeface="Manrope"/>
              </a:rPr>
              <a:t>PM PROPOSAL &amp; METRICS EDUCATION · PAGE 02</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400"/>
                                        <p:tgtEl>
                                          <p:spTgt spid="3"/>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slide(fromBottom)">
                                      <p:cBhvr>
                                        <p:cTn id="15" dur="400"/>
                                        <p:tgtEl>
                                          <p:spTgt spid="4"/>
                                        </p:tgtEl>
                                      </p:cBhvr>
                                    </p:animEffect>
                                  </p:childTnLst>
                                </p:cTn>
                              </p:par>
                            </p:childTnLst>
                          </p:cTn>
                        </p:par>
                        <p:par>
                          <p:cTn id="16" fill="hold">
                            <p:stCondLst>
                              <p:cond delay="2700"/>
                            </p:stCondLst>
                            <p:childTnLst>
                              <p:par>
                                <p:cTn id="17" presetID="23" presetClass="entr" presetSubtype="0" fill="hold" nodeType="after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image">
                                      <p:cBhvr>
                                        <p:cTn id="19" dur="400"/>
                                        <p:tgtEl>
                                          <p:spTgt spid="20"/>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fade">
                                      <p:cBhvr>
                                        <p:cTn id="23" dur="400"/>
                                        <p:tgtEl>
                                          <p:spTgt spid="34"/>
                                        </p:tgtEl>
                                      </p:cBhvr>
                                    </p:animEffect>
                                  </p:childTnLst>
                                </p:cTn>
                              </p:par>
                            </p:childTnLst>
                          </p:cTn>
                        </p:par>
                        <p:par>
                          <p:cTn id="24" fill="hold">
                            <p:stCondLst>
                              <p:cond delay="4500"/>
                            </p:stCondLst>
                            <p:childTnLst>
                              <p:par>
                                <p:cTn id="25" presetID="22" presetClass="entr" presetSubtype="1" fill="hold" nodeType="after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wipe(left)">
                                      <p:cBhvr>
                                        <p:cTn id="27" dur="400"/>
                                        <p:tgtEl>
                                          <p:spTgt spid="38"/>
                                        </p:tgtEl>
                                      </p:cBhvr>
                                    </p:animEffect>
                                  </p:childTnLst>
                                </p:cTn>
                              </p:par>
                            </p:childTnLst>
                          </p:cTn>
                        </p:par>
                        <p:par>
                          <p:cTn id="28" fill="hold">
                            <p:stCondLst>
                              <p:cond delay="5400"/>
                            </p:stCondLst>
                            <p:childTnLst>
                              <p:par>
                                <p:cTn id="29" presetID="2" presetClass="entr" presetSubtype="4" fill="hold" nodeType="after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slide(fromBottom)">
                                      <p:cBhvr>
                                        <p:cTn id="31"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20" grpId="0"/>
      <p:bldP spid="34" grpId="0"/>
      <p:bldP spid="38" grpId="0"/>
      <p:bldP spid="3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DFCF9"/>
          </a:solidFill>
          <a:ln>
            <a:noFill/>
          </a:ln>
        </p:spPr>
      </p:sp>
      <p:sp>
        <p:nvSpPr>
          <p:cNvPr id="3" name="TextBox 3"/>
          <p:cNvSpPr txBox="1"/>
          <p:nvPr/>
        </p:nvSpPr>
        <p:spPr>
          <a:xfrm>
            <a:off x="596265" y="648652"/>
            <a:ext cx="1937909" cy="213360"/>
          </a:xfrm>
          <a:prstGeom prst="rect">
            <a:avLst/>
          </a:prstGeom>
          <a:noFill/>
          <a:ln>
            <a:noFill/>
          </a:ln>
        </p:spPr>
        <p:txBody>
          <a:bodyPr wrap="none" lIns="0" tIns="0" rIns="0" bIns="0" anchor="t" anchorCtr="0">
            <a:spAutoFit/>
          </a:bodyPr>
          <a:lstStyle/>
          <a:p>
            <a:pPr algn="l"/>
            <a:r>
              <a:rPr lang="zh-CN" sz="1050" b="1" dirty="0">
                <a:solidFill>
                  <a:srgbClr val="007583"/>
                </a:solidFill>
                <a:latin typeface="Plus Jakarta Sans"/>
                <a:ea typeface="Microsoft JhengHei"/>
                <a:cs typeface="Plus Jakarta Sans"/>
              </a:rPr>
              <a:t>REMOVE SCAFFOLDING NOISE</a:t>
            </a:r>
          </a:p>
        </p:txBody>
      </p:sp>
      <p:sp>
        <p:nvSpPr>
          <p:cNvPr id="4" name="TextBox 4"/>
          <p:cNvSpPr txBox="1"/>
          <p:nvPr/>
        </p:nvSpPr>
        <p:spPr>
          <a:xfrm>
            <a:off x="582930" y="916305"/>
            <a:ext cx="7448364" cy="426720"/>
          </a:xfrm>
          <a:prstGeom prst="rect">
            <a:avLst/>
          </a:prstGeom>
          <a:noFill/>
          <a:ln>
            <a:noFill/>
          </a:ln>
        </p:spPr>
        <p:txBody>
          <a:bodyPr wrap="none" lIns="0" tIns="0" rIns="0" bIns="0" anchor="t" anchorCtr="0">
            <a:spAutoFit/>
          </a:bodyPr>
          <a:lstStyle/>
          <a:p>
            <a:pPr algn="l"/>
            <a:r>
              <a:rPr lang="zh-CN" sz="2100" b="1" dirty="0">
                <a:solidFill>
                  <a:srgbClr val="171C24"/>
                </a:solidFill>
                <a:latin typeface="Plus Jakarta Sans"/>
                <a:ea typeface="Microsoft JhengHei"/>
                <a:cs typeface="Plus Jakarta Sans"/>
              </a:rPr>
              <a:t>排除框架噪音（Framework Noise），讓故事線浮出水面</a:t>
            </a:r>
          </a:p>
        </p:txBody>
      </p:sp>
      <p:grpSp>
        <p:nvGrpSpPr>
          <p:cNvPr id="18" name="Group 18"/>
          <p:cNvGrpSpPr/>
          <p:nvPr/>
        </p:nvGrpSpPr>
        <p:grpSpPr>
          <a:xfrm>
            <a:off x="609600" y="1524000"/>
            <a:ext cx="5238750" cy="4000500"/>
            <a:chOff x="609600" y="1524000"/>
            <a:chExt cx="5238750" cy="4000500"/>
          </a:xfrm>
        </p:grpSpPr>
        <p:sp>
          <p:nvSpPr>
            <p:cNvPr id="5" name="Rectangle 5"/>
            <p:cNvSpPr/>
            <p:nvPr/>
          </p:nvSpPr>
          <p:spPr>
            <a:xfrm>
              <a:off x="609600" y="1524000"/>
              <a:ext cx="5238750" cy="4000500"/>
            </a:xfrm>
            <a:prstGeom prst="roundRect">
              <a:avLst>
                <a:gd name="adj" fmla="val 3810"/>
              </a:avLst>
            </a:prstGeom>
            <a:solidFill>
              <a:srgbClr val="FFFFFF"/>
            </a:solidFill>
            <a:ln w="14288">
              <a:solidFill>
                <a:srgbClr val="E5E3DE"/>
              </a:solidFill>
            </a:ln>
          </p:spPr>
        </p:sp>
        <p:sp>
          <p:nvSpPr>
            <p:cNvPr id="6" name="Freeform 6"/>
            <p:cNvSpPr/>
            <p:nvPr/>
          </p:nvSpPr>
          <p:spPr>
            <a:xfrm>
              <a:off x="838200" y="1752600"/>
              <a:ext cx="228600" cy="228600"/>
            </a:xfrm>
            <a:custGeom>
              <a:avLst/>
              <a:gdLst/>
              <a:ahLst/>
              <a:cxnLst/>
              <a:rect l="l" t="t" r="r" b="b"/>
              <a:pathLst>
                <a:path w="228600" h="228600">
                  <a:moveTo>
                    <a:pt x="228600" y="114300"/>
                  </a:moveTo>
                  <a:cubicBezTo>
                    <a:pt x="228600" y="177426"/>
                    <a:pt x="177426" y="228600"/>
                    <a:pt x="114300" y="228600"/>
                  </a:cubicBezTo>
                  <a:cubicBezTo>
                    <a:pt x="51174" y="228600"/>
                    <a:pt x="0" y="177426"/>
                    <a:pt x="0" y="114300"/>
                  </a:cubicBezTo>
                  <a:cubicBezTo>
                    <a:pt x="0" y="51174"/>
                    <a:pt x="51174" y="0"/>
                    <a:pt x="114300" y="0"/>
                  </a:cubicBezTo>
                  <a:cubicBezTo>
                    <a:pt x="177426" y="0"/>
                    <a:pt x="228600" y="51174"/>
                    <a:pt x="228600" y="114300"/>
                  </a:cubicBezTo>
                  <a:close/>
                  <a:moveTo>
                    <a:pt x="100012" y="114300"/>
                  </a:moveTo>
                  <a:lnTo>
                    <a:pt x="85725" y="114300"/>
                  </a:lnTo>
                  <a:lnTo>
                    <a:pt x="85725" y="85725"/>
                  </a:lnTo>
                  <a:lnTo>
                    <a:pt x="128588" y="85725"/>
                  </a:lnTo>
                  <a:lnTo>
                    <a:pt x="128588" y="157162"/>
                  </a:lnTo>
                  <a:lnTo>
                    <a:pt x="142875" y="157162"/>
                  </a:lnTo>
                  <a:lnTo>
                    <a:pt x="142875" y="185738"/>
                  </a:lnTo>
                  <a:lnTo>
                    <a:pt x="100012" y="185738"/>
                  </a:lnTo>
                  <a:lnTo>
                    <a:pt x="100012" y="114300"/>
                  </a:lnTo>
                  <a:close/>
                  <a:moveTo>
                    <a:pt x="128588" y="71438"/>
                  </a:moveTo>
                  <a:lnTo>
                    <a:pt x="128588" y="42862"/>
                  </a:lnTo>
                  <a:lnTo>
                    <a:pt x="100012" y="42862"/>
                  </a:lnTo>
                  <a:lnTo>
                    <a:pt x="100012" y="71438"/>
                  </a:lnTo>
                  <a:lnTo>
                    <a:pt x="128588" y="71438"/>
                  </a:lnTo>
                  <a:close/>
                </a:path>
              </a:pathLst>
            </a:custGeom>
            <a:solidFill>
              <a:srgbClr val="153166"/>
            </a:solidFill>
            <a:ln>
              <a:noFill/>
            </a:ln>
          </p:spPr>
        </p:sp>
        <p:sp>
          <p:nvSpPr>
            <p:cNvPr id="7" name="TextBox 7"/>
            <p:cNvSpPr txBox="1"/>
            <p:nvPr/>
          </p:nvSpPr>
          <p:spPr>
            <a:xfrm>
              <a:off x="1162050" y="1762125"/>
              <a:ext cx="2138362" cy="304800"/>
            </a:xfrm>
            <a:prstGeom prst="rect">
              <a:avLst/>
            </a:prstGeom>
            <a:noFill/>
            <a:ln>
              <a:noFill/>
            </a:ln>
          </p:spPr>
          <p:txBody>
            <a:bodyPr wrap="none" lIns="0" tIns="0" rIns="0" bIns="0" anchor="t" anchorCtr="0">
              <a:spAutoFit/>
            </a:bodyPr>
            <a:lstStyle/>
            <a:p>
              <a:pPr algn="l"/>
              <a:r>
                <a:rPr lang="zh-CN" sz="1500" b="1" dirty="0">
                  <a:solidFill>
                    <a:srgbClr val="171C24"/>
                  </a:solidFill>
                  <a:latin typeface="Plus Jakarta Sans"/>
                  <a:ea typeface="Microsoft JhengHei"/>
                  <a:cs typeface="Plus Jakarta Sans"/>
                </a:rPr>
                <a:t>認識「鷹架」與其危害</a:t>
              </a:r>
            </a:p>
          </p:txBody>
        </p:sp>
        <p:sp>
          <p:nvSpPr>
            <p:cNvPr id="8" name="TextBox 8"/>
            <p:cNvSpPr txBox="1"/>
            <p:nvPr/>
          </p:nvSpPr>
          <p:spPr>
            <a:xfrm>
              <a:off x="822960" y="2251710"/>
              <a:ext cx="2643207" cy="243840"/>
            </a:xfrm>
            <a:prstGeom prst="rect">
              <a:avLst/>
            </a:prstGeom>
            <a:noFill/>
            <a:ln>
              <a:noFill/>
            </a:ln>
          </p:spPr>
          <p:txBody>
            <a:bodyPr wrap="none" lIns="0" tIns="0" rIns="0" bIns="0" anchor="t" anchorCtr="0">
              <a:spAutoFit/>
            </a:bodyPr>
            <a:lstStyle/>
            <a:p>
              <a:pPr algn="l"/>
              <a:r>
                <a:rPr lang="zh-CN" sz="1200" b="1" dirty="0">
                  <a:solidFill>
                    <a:srgbClr val="153166"/>
                  </a:solidFill>
                  <a:latin typeface="Plus Jakarta Sans"/>
                  <a:ea typeface="Microsoft JhengHei"/>
                  <a:cs typeface="Plus Jakarta Sans"/>
                </a:rPr>
                <a:t>什麼是「鷹架」（Scaffolding）？</a:t>
              </a:r>
            </a:p>
          </p:txBody>
        </p:sp>
        <p:sp>
          <p:nvSpPr>
            <p:cNvPr id="9" name="TextBox 9"/>
            <p:cNvSpPr txBox="1"/>
            <p:nvPr/>
          </p:nvSpPr>
          <p:spPr>
            <a:xfrm>
              <a:off x="823912" y="2545556"/>
              <a:ext cx="3579019" cy="723900"/>
            </a:xfrm>
            <a:prstGeom prst="rect">
              <a:avLst/>
            </a:prstGeom>
            <a:noFill/>
            <a:ln>
              <a:noFill/>
            </a:ln>
          </p:spPr>
          <p:txBody>
            <a:bodyPr wrap="square" lIns="0" tIns="0" rIns="0" bIns="0" anchor="t" anchorCtr="0"/>
            <a:lstStyle/>
            <a:p>
              <a:pPr algn="l">
                <a:lnSpc>
                  <a:spcPts val="1800"/>
                </a:lnSpc>
              </a:pPr>
              <a:r>
                <a:rPr lang="zh-CN" sz="1125" dirty="0">
                  <a:solidFill>
                    <a:srgbClr val="171C24"/>
                  </a:solidFill>
                  <a:latin typeface="Manrope"/>
                  <a:ea typeface="Microsoft JhengHei"/>
                  <a:cs typeface="Manrope"/>
                </a:rPr>
                <a:t>· 鷹架是團隊在梳理思路時所使用的輔助分析工具，</a:t>
              </a:r>
              <a:r>
                <a:rPr lang="zh-CN" sz="1125" dirty="0">
                  <a:solidFill>
                    <a:srgbClr val="171C24"/>
                  </a:solidFill>
                  <a:latin typeface="Manrope"/>
                  <a:ea typeface="Microsoft JhengHei"/>
                  <a:cs typeface="Manrope"/>
                </a:rPr>
                <a:t>如：雙鑽石模型、Persona 用戶畫像、共情圖等。</a:t>
              </a:r>
            </a:p>
            <a:p>
              <a:pPr algn="l">
                <a:lnSpc>
                  <a:spcPts val="1800"/>
                </a:lnSpc>
                <a:spcBef>
                  <a:spcPts val="300"/>
                </a:spcBef>
              </a:pPr>
              <a:r>
                <a:rPr lang="zh-CN" sz="1125" dirty="0">
                  <a:solidFill>
                    <a:srgbClr val="171C24"/>
                  </a:solidFill>
                  <a:latin typeface="Manrope"/>
                  <a:ea typeface="Microsoft JhengHei"/>
                  <a:cs typeface="Manrope"/>
                </a:rPr>
                <a:t>· 核心觀念：當房子蓋好時，輔助用的鷹架就必須拆除。</a:t>
              </a:r>
            </a:p>
          </p:txBody>
        </p:sp>
        <p:sp>
          <p:nvSpPr>
            <p:cNvPr id="10" name="Line 10"/>
            <p:cNvSpPr/>
            <p:nvPr/>
          </p:nvSpPr>
          <p:spPr>
            <a:xfrm>
              <a:off x="838200" y="3429000"/>
              <a:ext cx="4781550" cy="9525"/>
            </a:xfrm>
            <a:custGeom>
              <a:avLst/>
              <a:gdLst/>
              <a:ahLst/>
              <a:cxnLst/>
              <a:rect l="l" t="t" r="r" b="b"/>
              <a:pathLst>
                <a:path w="4781550" h="9525">
                  <a:moveTo>
                    <a:pt x="0" y="0"/>
                  </a:moveTo>
                  <a:lnTo>
                    <a:pt x="4781550" y="0"/>
                  </a:lnTo>
                </a:path>
              </a:pathLst>
            </a:custGeom>
            <a:noFill/>
            <a:ln w="9525">
              <a:solidFill>
                <a:srgbClr val="E5E3DE"/>
              </a:solidFill>
            </a:ln>
          </p:spPr>
        </p:sp>
        <p:sp>
          <p:nvSpPr>
            <p:cNvPr id="11" name="TextBox 11"/>
            <p:cNvSpPr txBox="1"/>
            <p:nvPr/>
          </p:nvSpPr>
          <p:spPr>
            <a:xfrm>
              <a:off x="822960" y="3632835"/>
              <a:ext cx="1710690" cy="243840"/>
            </a:xfrm>
            <a:prstGeom prst="rect">
              <a:avLst/>
            </a:prstGeom>
            <a:noFill/>
            <a:ln>
              <a:noFill/>
            </a:ln>
          </p:spPr>
          <p:txBody>
            <a:bodyPr wrap="none" lIns="0" tIns="0" rIns="0" bIns="0" anchor="t" anchorCtr="0">
              <a:spAutoFit/>
            </a:bodyPr>
            <a:lstStyle/>
            <a:p>
              <a:pPr algn="l"/>
              <a:r>
                <a:rPr lang="zh-CN" sz="1200" b="1" dirty="0">
                  <a:solidFill>
                    <a:srgbClr val="B91C1C"/>
                  </a:solidFill>
                  <a:latin typeface="Plus Jakarta Sans"/>
                  <a:ea typeface="Microsoft JhengHei"/>
                  <a:cs typeface="Plus Jakarta Sans"/>
                </a:rPr>
                <a:t>框架噪音對提案的危害</a:t>
              </a:r>
            </a:p>
          </p:txBody>
        </p:sp>
        <p:sp>
          <p:nvSpPr>
            <p:cNvPr id="12" name="TextBox 12"/>
            <p:cNvSpPr txBox="1"/>
            <p:nvPr/>
          </p:nvSpPr>
          <p:spPr>
            <a:xfrm>
              <a:off x="823912" y="3926681"/>
              <a:ext cx="1265105" cy="228600"/>
            </a:xfrm>
            <a:prstGeom prst="rect">
              <a:avLst/>
            </a:prstGeom>
            <a:noFill/>
            <a:ln>
              <a:noFill/>
            </a:ln>
          </p:spPr>
          <p:txBody>
            <a:bodyPr wrap="none" lIns="0" tIns="0" rIns="0" bIns="0" anchor="t" anchorCtr="0">
              <a:spAutoFit/>
            </a:bodyPr>
            <a:lstStyle/>
            <a:p>
              <a:pPr algn="l"/>
              <a:r>
                <a:rPr lang="zh-CN" sz="1125" b="1" dirty="0">
                  <a:solidFill>
                    <a:srgbClr val="B91C1C"/>
                  </a:solidFill>
                  <a:latin typeface="Manrope"/>
                  <a:ea typeface="Microsoft JhengHei"/>
                  <a:cs typeface="Manrope"/>
                </a:rPr>
                <a:t>· 稀釋核心主張：</a:t>
              </a:r>
            </a:p>
          </p:txBody>
        </p:sp>
        <p:sp>
          <p:nvSpPr>
            <p:cNvPr id="13" name="TextBox 13"/>
            <p:cNvSpPr txBox="1"/>
            <p:nvPr/>
          </p:nvSpPr>
          <p:spPr>
            <a:xfrm>
              <a:off x="1966912" y="3926681"/>
              <a:ext cx="2878931" cy="228600"/>
            </a:xfrm>
            <a:prstGeom prst="rect">
              <a:avLst/>
            </a:prstGeom>
            <a:noFill/>
            <a:ln>
              <a:noFill/>
            </a:ln>
          </p:spPr>
          <p:txBody>
            <a:bodyPr wrap="none" lIns="0" tIns="0" rIns="0" bIns="0" anchor="t" anchorCtr="0">
              <a:spAutoFit/>
            </a:bodyPr>
            <a:lstStyle/>
            <a:p>
              <a:pPr algn="l"/>
              <a:r>
                <a:rPr lang="zh-CN" sz="1125" dirty="0">
                  <a:solidFill>
                    <a:srgbClr val="171C24"/>
                  </a:solidFill>
                  <a:latin typeface="Manrope"/>
                  <a:ea typeface="Microsoft JhengHei"/>
                  <a:cs typeface="Manrope"/>
                </a:rPr>
                <a:t>將「分析框架」直接當作簡報大綱，會導致</a:t>
              </a:r>
            </a:p>
          </p:txBody>
        </p:sp>
        <p:sp>
          <p:nvSpPr>
            <p:cNvPr id="14" name="TextBox 14"/>
            <p:cNvSpPr txBox="1"/>
            <p:nvPr/>
          </p:nvSpPr>
          <p:spPr>
            <a:xfrm>
              <a:off x="823912" y="4155281"/>
              <a:ext cx="3629025" cy="228600"/>
            </a:xfrm>
            <a:prstGeom prst="rect">
              <a:avLst/>
            </a:prstGeom>
            <a:noFill/>
            <a:ln>
              <a:noFill/>
            </a:ln>
          </p:spPr>
          <p:txBody>
            <a:bodyPr wrap="none" lIns="0" tIns="0" rIns="0" bIns="0" anchor="t" anchorCtr="0">
              <a:spAutoFit/>
            </a:bodyPr>
            <a:lstStyle/>
            <a:p>
              <a:pPr algn="l"/>
              <a:r>
                <a:rPr lang="zh-CN" sz="1125" dirty="0">
                  <a:solidFill>
                    <a:srgbClr val="171C24"/>
                  </a:solidFill>
                  <a:latin typeface="Manrope"/>
                  <a:ea typeface="Microsoft JhengHei"/>
                  <a:cs typeface="Manrope"/>
                </a:rPr>
                <a:t>聽眾難以快速抓到重點（問題、為何值得解、解方）。</a:t>
              </a:r>
            </a:p>
          </p:txBody>
        </p:sp>
        <p:sp>
          <p:nvSpPr>
            <p:cNvPr id="15" name="TextBox 15"/>
            <p:cNvSpPr txBox="1"/>
            <p:nvPr/>
          </p:nvSpPr>
          <p:spPr>
            <a:xfrm>
              <a:off x="823912" y="4498181"/>
              <a:ext cx="1107585" cy="228600"/>
            </a:xfrm>
            <a:prstGeom prst="rect">
              <a:avLst/>
            </a:prstGeom>
            <a:noFill/>
            <a:ln>
              <a:noFill/>
            </a:ln>
          </p:spPr>
          <p:txBody>
            <a:bodyPr wrap="none" lIns="0" tIns="0" rIns="0" bIns="0" anchor="t" anchorCtr="0">
              <a:spAutoFit/>
            </a:bodyPr>
            <a:lstStyle/>
            <a:p>
              <a:pPr algn="l"/>
              <a:r>
                <a:rPr lang="zh-CN" sz="1125" b="1" dirty="0">
                  <a:solidFill>
                    <a:srgbClr val="B91C1C"/>
                  </a:solidFill>
                  <a:latin typeface="Manrope"/>
                  <a:ea typeface="Microsoft JhengHei"/>
                  <a:cs typeface="Manrope"/>
                </a:rPr>
                <a:t>· 模板化思考：</a:t>
              </a:r>
            </a:p>
          </p:txBody>
        </p:sp>
        <p:sp>
          <p:nvSpPr>
            <p:cNvPr id="16" name="TextBox 16"/>
            <p:cNvSpPr txBox="1"/>
            <p:nvPr/>
          </p:nvSpPr>
          <p:spPr>
            <a:xfrm>
              <a:off x="1966912" y="4498181"/>
              <a:ext cx="3096458" cy="228600"/>
            </a:xfrm>
            <a:prstGeom prst="rect">
              <a:avLst/>
            </a:prstGeom>
            <a:noFill/>
            <a:ln>
              <a:noFill/>
            </a:ln>
          </p:spPr>
          <p:txBody>
            <a:bodyPr wrap="none" lIns="0" tIns="0" rIns="0" bIns="0" anchor="t" anchorCtr="0">
              <a:spAutoFit/>
            </a:bodyPr>
            <a:lstStyle/>
            <a:p>
              <a:pPr algn="l"/>
              <a:r>
                <a:rPr lang="zh-CN" sz="1125" dirty="0">
                  <a:solidFill>
                    <a:srgbClr val="171C24"/>
                  </a:solidFill>
                  <a:latin typeface="Manrope"/>
                  <a:ea typeface="Microsoft JhengHei"/>
                  <a:cs typeface="Manrope"/>
                </a:rPr>
                <a:t>放上滿是無關生活細節的 Persona 卡片，只會</a:t>
              </a:r>
            </a:p>
          </p:txBody>
        </p:sp>
        <p:sp>
          <p:nvSpPr>
            <p:cNvPr id="17" name="TextBox 17"/>
            <p:cNvSpPr txBox="1"/>
            <p:nvPr/>
          </p:nvSpPr>
          <p:spPr>
            <a:xfrm>
              <a:off x="823912" y="4726781"/>
              <a:ext cx="3479006" cy="228600"/>
            </a:xfrm>
            <a:prstGeom prst="rect">
              <a:avLst/>
            </a:prstGeom>
            <a:noFill/>
            <a:ln>
              <a:noFill/>
            </a:ln>
          </p:spPr>
          <p:txBody>
            <a:bodyPr wrap="none" lIns="0" tIns="0" rIns="0" bIns="0" anchor="t" anchorCtr="0">
              <a:spAutoFit/>
            </a:bodyPr>
            <a:lstStyle/>
            <a:p>
              <a:pPr algn="l"/>
              <a:r>
                <a:rPr lang="zh-CN" sz="1125" dirty="0">
                  <a:solidFill>
                    <a:srgbClr val="171C24"/>
                  </a:solidFill>
                  <a:latin typeface="Manrope"/>
                  <a:ea typeface="Microsoft JhengHei"/>
                  <a:cs typeface="Manrope"/>
                </a:rPr>
                <a:t>增加聽眾的外在認知負荷，無法帶來產品決策價值。</a:t>
              </a:r>
            </a:p>
          </p:txBody>
        </p:sp>
      </p:grpSp>
      <p:grpSp>
        <p:nvGrpSpPr>
          <p:cNvPr id="31" name="Group 31"/>
          <p:cNvGrpSpPr/>
          <p:nvPr/>
        </p:nvGrpSpPr>
        <p:grpSpPr>
          <a:xfrm>
            <a:off x="6343650" y="1524000"/>
            <a:ext cx="5238750" cy="4000500"/>
            <a:chOff x="6343650" y="1524000"/>
            <a:chExt cx="5238750" cy="4000500"/>
          </a:xfrm>
        </p:grpSpPr>
        <p:sp>
          <p:nvSpPr>
            <p:cNvPr id="19" name="Rectangle 19"/>
            <p:cNvSpPr/>
            <p:nvPr/>
          </p:nvSpPr>
          <p:spPr>
            <a:xfrm>
              <a:off x="6343650" y="1524000"/>
              <a:ext cx="5238750" cy="4000500"/>
            </a:xfrm>
            <a:prstGeom prst="roundRect">
              <a:avLst>
                <a:gd name="adj" fmla="val 3810"/>
              </a:avLst>
            </a:prstGeom>
            <a:solidFill>
              <a:srgbClr val="F3F2ED"/>
            </a:solidFill>
            <a:ln w="14288">
              <a:solidFill>
                <a:srgbClr val="E5E3DE"/>
              </a:solidFill>
            </a:ln>
          </p:spPr>
        </p:sp>
        <p:sp>
          <p:nvSpPr>
            <p:cNvPr id="20" name="Rectangle 20"/>
            <p:cNvSpPr/>
            <p:nvPr/>
          </p:nvSpPr>
          <p:spPr>
            <a:xfrm>
              <a:off x="6343650" y="1524000"/>
              <a:ext cx="76200" cy="4000500"/>
            </a:xfrm>
            <a:prstGeom prst="roundRect">
              <a:avLst>
                <a:gd name="adj" fmla="val 50000"/>
              </a:avLst>
            </a:prstGeom>
            <a:solidFill>
              <a:srgbClr val="00969D"/>
            </a:solidFill>
            <a:ln>
              <a:noFill/>
            </a:ln>
          </p:spPr>
        </p:sp>
        <p:sp>
          <p:nvSpPr>
            <p:cNvPr id="21" name="Freeform 21"/>
            <p:cNvSpPr/>
            <p:nvPr/>
          </p:nvSpPr>
          <p:spPr>
            <a:xfrm>
              <a:off x="6600825" y="1752600"/>
              <a:ext cx="171450" cy="228600"/>
            </a:xfrm>
            <a:custGeom>
              <a:avLst/>
              <a:gdLst/>
              <a:ahLst/>
              <a:cxnLst/>
              <a:rect l="l" t="t" r="r" b="b"/>
              <a:pathLst>
                <a:path w="171450" h="228600">
                  <a:moveTo>
                    <a:pt x="42862" y="164306"/>
                  </a:moveTo>
                  <a:lnTo>
                    <a:pt x="42862" y="207169"/>
                  </a:lnTo>
                  <a:lnTo>
                    <a:pt x="64294" y="228600"/>
                  </a:lnTo>
                  <a:lnTo>
                    <a:pt x="107156" y="228600"/>
                  </a:lnTo>
                  <a:lnTo>
                    <a:pt x="128588" y="207169"/>
                  </a:lnTo>
                  <a:lnTo>
                    <a:pt x="128588" y="164306"/>
                  </a:lnTo>
                  <a:lnTo>
                    <a:pt x="146298" y="146595"/>
                  </a:lnTo>
                  <a:cubicBezTo>
                    <a:pt x="162403" y="130491"/>
                    <a:pt x="171450" y="108605"/>
                    <a:pt x="171450" y="85830"/>
                  </a:cubicBezTo>
                  <a:cubicBezTo>
                    <a:pt x="171450" y="38486"/>
                    <a:pt x="133069" y="0"/>
                    <a:pt x="85725" y="0"/>
                  </a:cubicBezTo>
                  <a:cubicBezTo>
                    <a:pt x="38380" y="0"/>
                    <a:pt x="0" y="38486"/>
                    <a:pt x="0" y="85830"/>
                  </a:cubicBezTo>
                  <a:cubicBezTo>
                    <a:pt x="0" y="108605"/>
                    <a:pt x="9047" y="130491"/>
                    <a:pt x="25152" y="146595"/>
                  </a:cubicBezTo>
                  <a:lnTo>
                    <a:pt x="42862" y="164306"/>
                  </a:lnTo>
                  <a:close/>
                  <a:moveTo>
                    <a:pt x="71438" y="141074"/>
                  </a:moveTo>
                  <a:lnTo>
                    <a:pt x="71438" y="85725"/>
                  </a:lnTo>
                  <a:lnTo>
                    <a:pt x="100012" y="85725"/>
                  </a:lnTo>
                  <a:lnTo>
                    <a:pt x="100012" y="141074"/>
                  </a:lnTo>
                  <a:cubicBezTo>
                    <a:pt x="124661" y="134730"/>
                    <a:pt x="142875" y="112355"/>
                    <a:pt x="142875" y="85725"/>
                  </a:cubicBezTo>
                  <a:cubicBezTo>
                    <a:pt x="142875" y="54162"/>
                    <a:pt x="117288" y="28575"/>
                    <a:pt x="85725" y="28575"/>
                  </a:cubicBezTo>
                  <a:cubicBezTo>
                    <a:pt x="54162" y="28575"/>
                    <a:pt x="28575" y="54162"/>
                    <a:pt x="28575" y="85725"/>
                  </a:cubicBezTo>
                  <a:cubicBezTo>
                    <a:pt x="28575" y="112355"/>
                    <a:pt x="46788" y="134730"/>
                    <a:pt x="71438" y="141074"/>
                  </a:cubicBezTo>
                  <a:close/>
                </a:path>
              </a:pathLst>
            </a:custGeom>
            <a:solidFill>
              <a:srgbClr val="007583"/>
            </a:solidFill>
            <a:ln>
              <a:noFill/>
            </a:ln>
          </p:spPr>
        </p:sp>
        <p:sp>
          <p:nvSpPr>
            <p:cNvPr id="22" name="TextBox 22"/>
            <p:cNvSpPr txBox="1"/>
            <p:nvPr/>
          </p:nvSpPr>
          <p:spPr>
            <a:xfrm>
              <a:off x="6896100" y="1762125"/>
              <a:ext cx="2453402" cy="304800"/>
            </a:xfrm>
            <a:prstGeom prst="rect">
              <a:avLst/>
            </a:prstGeom>
            <a:noFill/>
            <a:ln>
              <a:noFill/>
            </a:ln>
          </p:spPr>
          <p:txBody>
            <a:bodyPr wrap="none" lIns="0" tIns="0" rIns="0" bIns="0" anchor="t" anchorCtr="0">
              <a:spAutoFit/>
            </a:bodyPr>
            <a:lstStyle/>
            <a:p>
              <a:pPr algn="l"/>
              <a:r>
                <a:rPr lang="zh-CN" sz="1500" b="1" dirty="0">
                  <a:solidFill>
                    <a:srgbClr val="007583"/>
                  </a:solidFill>
                  <a:latin typeface="Plus Jakarta Sans"/>
                  <a:ea typeface="Microsoft JhengHei"/>
                  <a:cs typeface="Plus Jakarta Sans"/>
                </a:rPr>
                <a:t>NN/g 建議的去鷹架化策略</a:t>
              </a:r>
            </a:p>
          </p:txBody>
        </p:sp>
        <p:grpSp>
          <p:nvGrpSpPr>
            <p:cNvPr id="26" name="Group 26"/>
            <p:cNvGrpSpPr/>
            <p:nvPr/>
          </p:nvGrpSpPr>
          <p:grpSpPr>
            <a:xfrm>
              <a:off x="6572250" y="2286000"/>
              <a:ext cx="4781550" cy="1333500"/>
              <a:chOff x="6572250" y="2286000"/>
              <a:chExt cx="4781550" cy="1333500"/>
            </a:xfrm>
          </p:grpSpPr>
          <p:sp>
            <p:nvSpPr>
              <p:cNvPr id="23" name="Rectangle 23"/>
              <p:cNvSpPr/>
              <p:nvPr/>
            </p:nvSpPr>
            <p:spPr>
              <a:xfrm>
                <a:off x="6572250" y="2286000"/>
                <a:ext cx="4781550" cy="1333500"/>
              </a:xfrm>
              <a:prstGeom prst="roundRect">
                <a:avLst>
                  <a:gd name="adj" fmla="val 5714"/>
                </a:avLst>
              </a:prstGeom>
              <a:solidFill>
                <a:srgbClr val="FFFFFF"/>
              </a:solidFill>
              <a:ln w="9525">
                <a:solidFill>
                  <a:srgbClr val="E5E3DE"/>
                </a:solidFill>
              </a:ln>
            </p:spPr>
          </p:sp>
          <p:sp>
            <p:nvSpPr>
              <p:cNvPr id="24" name="TextBox 24"/>
              <p:cNvSpPr txBox="1"/>
              <p:nvPr/>
            </p:nvSpPr>
            <p:spPr>
              <a:xfrm>
                <a:off x="6747510" y="2499360"/>
                <a:ext cx="2214753" cy="243840"/>
              </a:xfrm>
              <a:prstGeom prst="rect">
                <a:avLst/>
              </a:prstGeom>
              <a:noFill/>
              <a:ln>
                <a:noFill/>
              </a:ln>
            </p:spPr>
            <p:txBody>
              <a:bodyPr wrap="none" lIns="0" tIns="0" rIns="0" bIns="0" anchor="t" anchorCtr="0">
                <a:spAutoFit/>
              </a:bodyPr>
              <a:lstStyle/>
              <a:p>
                <a:pPr algn="l"/>
                <a:r>
                  <a:rPr lang="zh-CN" sz="1200" b="1" dirty="0">
                    <a:solidFill>
                      <a:srgbClr val="153166"/>
                    </a:solidFill>
                    <a:latin typeface="Plus Jakarta Sans"/>
                    <a:ea typeface="Microsoft JhengHei"/>
                    <a:cs typeface="Plus Jakarta Sans"/>
                  </a:rPr>
                  <a:t>策略一：呈現洞察，隱藏模版</a:t>
                </a:r>
              </a:p>
            </p:txBody>
          </p:sp>
          <p:sp>
            <p:nvSpPr>
              <p:cNvPr id="25" name="TextBox 25"/>
              <p:cNvSpPr txBox="1"/>
              <p:nvPr/>
            </p:nvSpPr>
            <p:spPr>
              <a:xfrm>
                <a:off x="6748462" y="2831306"/>
                <a:ext cx="3171825" cy="685800"/>
              </a:xfrm>
              <a:prstGeom prst="rect">
                <a:avLst/>
              </a:prstGeom>
              <a:noFill/>
              <a:ln>
                <a:noFill/>
              </a:ln>
            </p:spPr>
            <p:txBody>
              <a:bodyPr wrap="square" lIns="0" tIns="0" rIns="0" bIns="0" anchor="t" anchorCtr="0"/>
              <a:lstStyle/>
              <a:p>
                <a:pPr algn="l">
                  <a:lnSpc>
                    <a:spcPts val="1800"/>
                  </a:lnSpc>
                </a:pPr>
                <a:r>
                  <a:rPr lang="zh-CN" sz="1125" dirty="0">
                    <a:solidFill>
                      <a:srgbClr val="525864"/>
                    </a:solidFill>
                    <a:latin typeface="Manrope"/>
                    <a:ea typeface="Microsoft JhengHei"/>
                    <a:cs typeface="Manrope"/>
                  </a:rPr>
                  <a:t>不要展示一整張空白或套版的共情圖與流程模型，</a:t>
                </a:r>
                <a:r>
                  <a:rPr lang="zh-CN" sz="1125" dirty="0">
                    <a:solidFill>
                      <a:srgbClr val="525864"/>
                    </a:solidFill>
                    <a:latin typeface="Manrope"/>
                    <a:ea typeface="Microsoft JhengHei"/>
                    <a:cs typeface="Manrope"/>
                  </a:rPr>
                  <a:t>而是直接引用一句最具代表性的使用者訪談原話，</a:t>
                </a:r>
                <a:r>
                  <a:rPr lang="zh-CN" sz="1125" dirty="0">
                    <a:solidFill>
                      <a:srgbClr val="525864"/>
                    </a:solidFill>
                    <a:latin typeface="Manrope"/>
                    <a:ea typeface="Microsoft JhengHei"/>
                    <a:cs typeface="Manrope"/>
                  </a:rPr>
                  <a:t>將背後的「洞察結論」推向幕前。</a:t>
                </a:r>
              </a:p>
            </p:txBody>
          </p:sp>
        </p:grpSp>
        <p:grpSp>
          <p:nvGrpSpPr>
            <p:cNvPr id="30" name="Group 30"/>
            <p:cNvGrpSpPr/>
            <p:nvPr/>
          </p:nvGrpSpPr>
          <p:grpSpPr>
            <a:xfrm>
              <a:off x="6572250" y="3810000"/>
              <a:ext cx="4781550" cy="1428750"/>
              <a:chOff x="6572250" y="3810000"/>
              <a:chExt cx="4781550" cy="1428750"/>
            </a:xfrm>
          </p:grpSpPr>
          <p:sp>
            <p:nvSpPr>
              <p:cNvPr id="27" name="Rectangle 27"/>
              <p:cNvSpPr/>
              <p:nvPr/>
            </p:nvSpPr>
            <p:spPr>
              <a:xfrm>
                <a:off x="6572250" y="3810000"/>
                <a:ext cx="4781550" cy="1428750"/>
              </a:xfrm>
              <a:prstGeom prst="roundRect">
                <a:avLst>
                  <a:gd name="adj" fmla="val 5333"/>
                </a:avLst>
              </a:prstGeom>
              <a:solidFill>
                <a:srgbClr val="FFFFFF"/>
              </a:solidFill>
              <a:ln w="9525">
                <a:solidFill>
                  <a:srgbClr val="E5E3DE"/>
                </a:solidFill>
              </a:ln>
            </p:spPr>
          </p:sp>
          <p:sp>
            <p:nvSpPr>
              <p:cNvPr id="28" name="TextBox 28"/>
              <p:cNvSpPr txBox="1"/>
              <p:nvPr/>
            </p:nvSpPr>
            <p:spPr>
              <a:xfrm>
                <a:off x="6747510" y="4023360"/>
                <a:ext cx="1878711" cy="243840"/>
              </a:xfrm>
              <a:prstGeom prst="rect">
                <a:avLst/>
              </a:prstGeom>
              <a:noFill/>
              <a:ln>
                <a:noFill/>
              </a:ln>
            </p:spPr>
            <p:txBody>
              <a:bodyPr wrap="none" lIns="0" tIns="0" rIns="0" bIns="0" anchor="t" anchorCtr="0">
                <a:spAutoFit/>
              </a:bodyPr>
              <a:lstStyle/>
              <a:p>
                <a:pPr algn="l"/>
                <a:r>
                  <a:rPr lang="zh-CN" sz="1200" b="1" dirty="0">
                    <a:solidFill>
                      <a:srgbClr val="153166"/>
                    </a:solidFill>
                    <a:latin typeface="Plus Jakarta Sans"/>
                    <a:ea typeface="Microsoft JhengHei"/>
                    <a:cs typeface="Plus Jakarta Sans"/>
                  </a:rPr>
                  <a:t>策略二：單一結論句標題</a:t>
                </a:r>
              </a:p>
            </p:txBody>
          </p:sp>
          <p:sp>
            <p:nvSpPr>
              <p:cNvPr id="29" name="TextBox 29"/>
              <p:cNvSpPr txBox="1"/>
              <p:nvPr/>
            </p:nvSpPr>
            <p:spPr>
              <a:xfrm>
                <a:off x="6748462" y="4355306"/>
                <a:ext cx="3886200" cy="685800"/>
              </a:xfrm>
              <a:prstGeom prst="rect">
                <a:avLst/>
              </a:prstGeom>
              <a:noFill/>
              <a:ln>
                <a:noFill/>
              </a:ln>
            </p:spPr>
            <p:txBody>
              <a:bodyPr wrap="square" lIns="0" tIns="0" rIns="0" bIns="0" anchor="t" anchorCtr="0"/>
              <a:lstStyle/>
              <a:p>
                <a:pPr algn="l">
                  <a:lnSpc>
                    <a:spcPts val="1800"/>
                  </a:lnSpc>
                </a:pPr>
                <a:r>
                  <a:rPr lang="zh-CN" sz="1125" dirty="0">
                    <a:solidFill>
                      <a:srgbClr val="525864"/>
                    </a:solidFill>
                    <a:latin typeface="Manrope"/>
                    <a:ea typeface="Microsoft JhengHei"/>
                    <a:cs typeface="Manrope"/>
                  </a:rPr>
                  <a:t>每張投影片的標題不應使用目錄名詞（例：「使用者訪談」）</a:t>
                </a:r>
                <a:r>
                  <a:rPr lang="zh-CN" sz="1125" dirty="0">
                    <a:solidFill>
                      <a:srgbClr val="525864"/>
                    </a:solidFill>
                    <a:latin typeface="Manrope"/>
                    <a:ea typeface="Microsoft JhengHei"/>
                    <a:cs typeface="Manrope"/>
                  </a:rPr>
                  <a:t>而是直接改為一句結論主張（例：「產品經理在起草新產品</a:t>
                </a:r>
                <a:r>
                  <a:rPr lang="zh-CN" sz="1125" dirty="0">
                    <a:solidFill>
                      <a:srgbClr val="525864"/>
                    </a:solidFill>
                    <a:latin typeface="Manrope"/>
                    <a:ea typeface="Microsoft JhengHei"/>
                    <a:cs typeface="Manrope"/>
                  </a:rPr>
                  <a:t>需求時，常因空白文檔面臨嚴重的起步焦慮」）。</a:t>
                </a:r>
              </a:p>
            </p:txBody>
          </p:sp>
        </p:grpSp>
      </p:grpSp>
      <p:sp>
        <p:nvSpPr>
          <p:cNvPr id="32" name="TextBox 32"/>
          <p:cNvSpPr txBox="1"/>
          <p:nvPr/>
        </p:nvSpPr>
        <p:spPr>
          <a:xfrm>
            <a:off x="598170" y="6475095"/>
            <a:ext cx="2579179" cy="182880"/>
          </a:xfrm>
          <a:prstGeom prst="rect">
            <a:avLst/>
          </a:prstGeom>
          <a:noFill/>
          <a:ln>
            <a:noFill/>
          </a:ln>
        </p:spPr>
        <p:txBody>
          <a:bodyPr wrap="none" lIns="0" tIns="0" rIns="0" bIns="0" anchor="t" anchorCtr="0">
            <a:spAutoFit/>
          </a:bodyPr>
          <a:lstStyle/>
          <a:p>
            <a:pPr algn="l"/>
            <a:r>
              <a:rPr lang="zh-CN" sz="900" dirty="0">
                <a:solidFill>
                  <a:srgbClr val="525864"/>
                </a:solidFill>
                <a:latin typeface="Manrope"/>
                <a:ea typeface="Microsoft JhengHei"/>
                <a:cs typeface="Manrope"/>
              </a:rPr>
              <a:t>PM PROPOSAL &amp; METRICS EDUCATION · PAGE 03</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image">
                                      <p:cBhvr>
                                        <p:cTn id="7" dur="400"/>
                                        <p:tgtEl>
                                          <p:spTgt spid="2"/>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400"/>
                                        <p:tgtEl>
                                          <p:spTgt spid="3"/>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400"/>
                                        <p:tgtEl>
                                          <p:spTgt spid="4"/>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slide(fromBottom)">
                                      <p:cBhvr>
                                        <p:cTn id="19" dur="400"/>
                                        <p:tgtEl>
                                          <p:spTgt spid="18"/>
                                        </p:tgtEl>
                                      </p:cBhvr>
                                    </p:animEffect>
                                  </p:childTnLst>
                                </p:cTn>
                              </p:par>
                            </p:childTnLst>
                          </p:cTn>
                        </p:par>
                        <p:par>
                          <p:cTn id="20" fill="hold">
                            <p:stCondLst>
                              <p:cond delay="3600"/>
                            </p:stCondLst>
                            <p:childTnLst>
                              <p:par>
                                <p:cTn id="21" presetID="23" presetClass="entr" presetSubtype="0" fill="hold" nodeType="after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image">
                                      <p:cBhvr>
                                        <p:cTn id="23" dur="400"/>
                                        <p:tgtEl>
                                          <p:spTgt spid="31"/>
                                        </p:tgtEl>
                                      </p:cBhvr>
                                    </p:animEffect>
                                  </p:childTnLst>
                                </p:cTn>
                              </p:par>
                            </p:childTnLst>
                          </p:cTn>
                        </p:par>
                        <p:par>
                          <p:cTn id="24" fill="hold">
                            <p:stCondLst>
                              <p:cond delay="4500"/>
                            </p:stCondLst>
                            <p:childTnLst>
                              <p:par>
                                <p:cTn id="25" presetID="10" presetClass="entr" presetSubtype="0" fill="hold" nodeType="after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18" grpId="0"/>
      <p:bldP spid="31" grpId="0"/>
      <p:bldP spid="3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DFCF9"/>
          </a:solidFill>
          <a:ln>
            <a:noFill/>
          </a:ln>
        </p:spPr>
      </p:sp>
      <p:sp>
        <p:nvSpPr>
          <p:cNvPr id="3" name="TextBox 3"/>
          <p:cNvSpPr txBox="1"/>
          <p:nvPr/>
        </p:nvSpPr>
        <p:spPr>
          <a:xfrm>
            <a:off x="596265" y="648652"/>
            <a:ext cx="2371613" cy="213360"/>
          </a:xfrm>
          <a:prstGeom prst="rect">
            <a:avLst/>
          </a:prstGeom>
          <a:noFill/>
          <a:ln>
            <a:noFill/>
          </a:ln>
        </p:spPr>
        <p:txBody>
          <a:bodyPr wrap="none" lIns="0" tIns="0" rIns="0" bIns="0" anchor="t" anchorCtr="0">
            <a:spAutoFit/>
          </a:bodyPr>
          <a:lstStyle/>
          <a:p>
            <a:pPr algn="l"/>
            <a:r>
              <a:rPr lang="zh-CN" sz="1050" b="1" dirty="0">
                <a:solidFill>
                  <a:srgbClr val="007583"/>
                </a:solidFill>
                <a:latin typeface="Plus Jakarta Sans"/>
                <a:ea typeface="Microsoft JhengHei"/>
                <a:cs typeface="Plus Jakarta Sans"/>
              </a:rPr>
              <a:t>1-TO-N FRAMEWORK &amp; USER STORY</a:t>
            </a:r>
          </a:p>
        </p:txBody>
      </p:sp>
      <p:sp>
        <p:nvSpPr>
          <p:cNvPr id="4" name="TextBox 4"/>
          <p:cNvSpPr txBox="1"/>
          <p:nvPr/>
        </p:nvSpPr>
        <p:spPr>
          <a:xfrm>
            <a:off x="582930" y="916305"/>
            <a:ext cx="7051415" cy="426720"/>
          </a:xfrm>
          <a:prstGeom prst="rect">
            <a:avLst/>
          </a:prstGeom>
          <a:noFill/>
          <a:ln>
            <a:noFill/>
          </a:ln>
        </p:spPr>
        <p:txBody>
          <a:bodyPr wrap="none" lIns="0" tIns="0" rIns="0" bIns="0" anchor="t" anchorCtr="0">
            <a:spAutoFit/>
          </a:bodyPr>
          <a:lstStyle/>
          <a:p>
            <a:pPr algn="l"/>
            <a:r>
              <a:rPr lang="zh-CN" sz="2100" b="1" dirty="0">
                <a:solidFill>
                  <a:srgbClr val="171C24"/>
                </a:solidFill>
                <a:latin typeface="Plus Jakarta Sans"/>
                <a:ea typeface="Microsoft JhengHei"/>
                <a:cs typeface="Plus Jakarta Sans"/>
              </a:rPr>
              <a:t>已有產品優化的七頁敘事鏈（以 Notion AI 摘要為例）</a:t>
            </a:r>
          </a:p>
        </p:txBody>
      </p:sp>
      <p:grpSp>
        <p:nvGrpSpPr>
          <p:cNvPr id="23" name="Group 23"/>
          <p:cNvGrpSpPr/>
          <p:nvPr/>
        </p:nvGrpSpPr>
        <p:grpSpPr>
          <a:xfrm>
            <a:off x="609600" y="1524000"/>
            <a:ext cx="3619500" cy="4000500"/>
            <a:chOff x="609600" y="1524000"/>
            <a:chExt cx="3619500" cy="4000500"/>
          </a:xfrm>
        </p:grpSpPr>
        <p:sp>
          <p:nvSpPr>
            <p:cNvPr id="5" name="Rectangle 5"/>
            <p:cNvSpPr/>
            <p:nvPr/>
          </p:nvSpPr>
          <p:spPr>
            <a:xfrm>
              <a:off x="609600" y="1524000"/>
              <a:ext cx="3619500" cy="4000500"/>
            </a:xfrm>
            <a:prstGeom prst="roundRect">
              <a:avLst>
                <a:gd name="adj" fmla="val 4211"/>
              </a:avLst>
            </a:prstGeom>
            <a:solidFill>
              <a:srgbClr val="FFFFFF"/>
            </a:solidFill>
            <a:ln w="14288">
              <a:solidFill>
                <a:srgbClr val="E5E3DE"/>
              </a:solidFill>
            </a:ln>
          </p:spPr>
        </p:sp>
        <p:sp>
          <p:nvSpPr>
            <p:cNvPr id="6" name="Rectangle 6"/>
            <p:cNvSpPr/>
            <p:nvPr/>
          </p:nvSpPr>
          <p:spPr>
            <a:xfrm>
              <a:off x="609600" y="1524000"/>
              <a:ext cx="76200" cy="4000500"/>
            </a:xfrm>
            <a:prstGeom prst="roundRect">
              <a:avLst>
                <a:gd name="adj" fmla="val 50000"/>
              </a:avLst>
            </a:prstGeom>
            <a:solidFill>
              <a:srgbClr val="153166"/>
            </a:solidFill>
            <a:ln>
              <a:noFill/>
            </a:ln>
          </p:spPr>
        </p:sp>
        <p:sp>
          <p:nvSpPr>
            <p:cNvPr id="7" name="Freeform 7"/>
            <p:cNvSpPr/>
            <p:nvPr/>
          </p:nvSpPr>
          <p:spPr>
            <a:xfrm>
              <a:off x="838200" y="1766888"/>
              <a:ext cx="228600" cy="214312"/>
            </a:xfrm>
            <a:custGeom>
              <a:avLst/>
              <a:gdLst/>
              <a:ahLst/>
              <a:cxnLst/>
              <a:rect l="l" t="t" r="r" b="b"/>
              <a:pathLst>
                <a:path w="228600" h="214312">
                  <a:moveTo>
                    <a:pt x="0" y="0"/>
                  </a:moveTo>
                  <a:lnTo>
                    <a:pt x="228600" y="0"/>
                  </a:lnTo>
                  <a:lnTo>
                    <a:pt x="228600" y="171450"/>
                  </a:lnTo>
                  <a:lnTo>
                    <a:pt x="157162" y="171450"/>
                  </a:lnTo>
                  <a:lnTo>
                    <a:pt x="114300" y="214312"/>
                  </a:lnTo>
                  <a:lnTo>
                    <a:pt x="71438" y="171450"/>
                  </a:lnTo>
                  <a:lnTo>
                    <a:pt x="0" y="171450"/>
                  </a:lnTo>
                  <a:lnTo>
                    <a:pt x="0" y="0"/>
                  </a:lnTo>
                  <a:close/>
                </a:path>
              </a:pathLst>
            </a:custGeom>
            <a:solidFill>
              <a:srgbClr val="153166"/>
            </a:solidFill>
            <a:ln>
              <a:noFill/>
            </a:ln>
          </p:spPr>
        </p:sp>
        <p:sp>
          <p:nvSpPr>
            <p:cNvPr id="8" name="TextBox 8"/>
            <p:cNvSpPr txBox="1"/>
            <p:nvPr/>
          </p:nvSpPr>
          <p:spPr>
            <a:xfrm>
              <a:off x="1163955" y="1778318"/>
              <a:ext cx="2236415" cy="274320"/>
            </a:xfrm>
            <a:prstGeom prst="rect">
              <a:avLst/>
            </a:prstGeom>
            <a:noFill/>
            <a:ln>
              <a:noFill/>
            </a:ln>
          </p:spPr>
          <p:txBody>
            <a:bodyPr wrap="none" lIns="0" tIns="0" rIns="0" bIns="0" anchor="t" anchorCtr="0">
              <a:spAutoFit/>
            </a:bodyPr>
            <a:lstStyle/>
            <a:p>
              <a:pPr algn="l"/>
              <a:r>
                <a:rPr lang="zh-CN" sz="1350" b="1" dirty="0">
                  <a:solidFill>
                    <a:srgbClr val="171C24"/>
                  </a:solidFill>
                  <a:latin typeface="Plus Jakarta Sans"/>
                  <a:ea typeface="Microsoft JhengHei"/>
                  <a:cs typeface="Plus Jakarta Sans"/>
                </a:rPr>
                <a:t>使用者故事 (User Story)</a:t>
              </a:r>
            </a:p>
          </p:txBody>
        </p:sp>
        <p:sp>
          <p:nvSpPr>
            <p:cNvPr id="9" name="TextBox 9"/>
            <p:cNvSpPr txBox="1"/>
            <p:nvPr/>
          </p:nvSpPr>
          <p:spPr>
            <a:xfrm>
              <a:off x="824865" y="2267902"/>
              <a:ext cx="1607118" cy="213360"/>
            </a:xfrm>
            <a:prstGeom prst="rect">
              <a:avLst/>
            </a:prstGeom>
            <a:noFill/>
            <a:ln>
              <a:noFill/>
            </a:ln>
          </p:spPr>
          <p:txBody>
            <a:bodyPr wrap="none" lIns="0" tIns="0" rIns="0" bIns="0" anchor="t" anchorCtr="0">
              <a:spAutoFit/>
            </a:bodyPr>
            <a:lstStyle/>
            <a:p>
              <a:pPr algn="l"/>
              <a:r>
                <a:rPr lang="zh-CN" sz="1050" b="1" dirty="0">
                  <a:solidFill>
                    <a:srgbClr val="007583"/>
                  </a:solidFill>
                  <a:latin typeface="Manrope"/>
                  <a:ea typeface="Microsoft JhengHei"/>
                  <a:cs typeface="Manrope"/>
                </a:rPr>
                <a:t>USER STORY 三段式公式</a:t>
              </a:r>
            </a:p>
          </p:txBody>
        </p:sp>
        <p:sp>
          <p:nvSpPr>
            <p:cNvPr id="10" name="Rectangle 10"/>
            <p:cNvSpPr/>
            <p:nvPr/>
          </p:nvSpPr>
          <p:spPr>
            <a:xfrm>
              <a:off x="838200" y="2571750"/>
              <a:ext cx="3162300" cy="571500"/>
            </a:xfrm>
            <a:prstGeom prst="roundRect">
              <a:avLst>
                <a:gd name="adj" fmla="val 10000"/>
              </a:avLst>
            </a:prstGeom>
            <a:solidFill>
              <a:srgbClr val="F3F2ED"/>
            </a:solidFill>
            <a:ln>
              <a:noFill/>
            </a:ln>
          </p:spPr>
        </p:sp>
        <p:sp>
          <p:nvSpPr>
            <p:cNvPr id="11" name="TextBox 11"/>
            <p:cNvSpPr txBox="1"/>
            <p:nvPr/>
          </p:nvSpPr>
          <p:spPr>
            <a:xfrm>
              <a:off x="940118" y="2695099"/>
              <a:ext cx="2773680" cy="388620"/>
            </a:xfrm>
            <a:prstGeom prst="rect">
              <a:avLst/>
            </a:prstGeom>
            <a:noFill/>
            <a:ln>
              <a:noFill/>
            </a:ln>
          </p:spPr>
          <p:txBody>
            <a:bodyPr wrap="square" lIns="0" tIns="0" rIns="0" bIns="0" anchor="t" anchorCtr="0"/>
            <a:lstStyle/>
            <a:p>
              <a:pPr algn="l">
                <a:lnSpc>
                  <a:spcPts val="1500"/>
                </a:lnSpc>
              </a:pPr>
              <a:r>
                <a:rPr lang="zh-CN" sz="975" dirty="0">
                  <a:solidFill>
                    <a:srgbClr val="171C24"/>
                  </a:solidFill>
                  <a:latin typeface="Manrope"/>
                  <a:ea typeface="Microsoft JhengHei"/>
                  <a:cs typeface="Manrope"/>
                </a:rPr>
                <a:t>身為 [特定使用者角色], 我想要 [進行功能操作],</a:t>
              </a:r>
              <a:r>
                <a:rPr lang="zh-CN" sz="975" dirty="0">
                  <a:solidFill>
                    <a:srgbClr val="171C24"/>
                  </a:solidFill>
                  <a:latin typeface="Manrope"/>
                  <a:ea typeface="Microsoft JhengHei"/>
                  <a:cs typeface="Manrope"/>
                </a:rPr>
                <a:t>以便能 [獲得特定價值 / 解決痛點]。</a:t>
              </a:r>
            </a:p>
          </p:txBody>
        </p:sp>
        <p:sp>
          <p:nvSpPr>
            <p:cNvPr id="12" name="Line 12"/>
            <p:cNvSpPr/>
            <p:nvPr/>
          </p:nvSpPr>
          <p:spPr>
            <a:xfrm>
              <a:off x="838200" y="3333750"/>
              <a:ext cx="3162300" cy="9525"/>
            </a:xfrm>
            <a:custGeom>
              <a:avLst/>
              <a:gdLst/>
              <a:ahLst/>
              <a:cxnLst/>
              <a:rect l="l" t="t" r="r" b="b"/>
              <a:pathLst>
                <a:path w="3162300" h="9525">
                  <a:moveTo>
                    <a:pt x="0" y="0"/>
                  </a:moveTo>
                  <a:lnTo>
                    <a:pt x="3162300" y="0"/>
                  </a:lnTo>
                </a:path>
              </a:pathLst>
            </a:custGeom>
            <a:noFill/>
            <a:ln w="9525">
              <a:solidFill>
                <a:srgbClr val="E5E3DE"/>
              </a:solidFill>
            </a:ln>
          </p:spPr>
        </p:sp>
        <p:sp>
          <p:nvSpPr>
            <p:cNvPr id="13" name="TextBox 13"/>
            <p:cNvSpPr txBox="1"/>
            <p:nvPr/>
          </p:nvSpPr>
          <p:spPr>
            <a:xfrm>
              <a:off x="824865" y="3506152"/>
              <a:ext cx="2070225" cy="213360"/>
            </a:xfrm>
            <a:prstGeom prst="rect">
              <a:avLst/>
            </a:prstGeom>
            <a:noFill/>
            <a:ln>
              <a:noFill/>
            </a:ln>
          </p:spPr>
          <p:txBody>
            <a:bodyPr wrap="none" lIns="0" tIns="0" rIns="0" bIns="0" anchor="t" anchorCtr="0">
              <a:spAutoFit/>
            </a:bodyPr>
            <a:lstStyle/>
            <a:p>
              <a:pPr algn="l"/>
              <a:r>
                <a:rPr lang="zh-CN" sz="1050" b="1" dirty="0">
                  <a:solidFill>
                    <a:srgbClr val="153166"/>
                  </a:solidFill>
                  <a:latin typeface="Manrope"/>
                  <a:ea typeface="Microsoft JhengHei"/>
                  <a:cs typeface="Manrope"/>
                </a:rPr>
                <a:t>本案實務示範 (Notion AI 摘要)</a:t>
              </a:r>
            </a:p>
          </p:txBody>
        </p:sp>
        <p:sp>
          <p:nvSpPr>
            <p:cNvPr id="14" name="Rectangle 14"/>
            <p:cNvSpPr/>
            <p:nvPr/>
          </p:nvSpPr>
          <p:spPr>
            <a:xfrm>
              <a:off x="838200" y="3810000"/>
              <a:ext cx="3162300" cy="1485900"/>
            </a:xfrm>
            <a:prstGeom prst="roundRect">
              <a:avLst>
                <a:gd name="adj" fmla="val 5128"/>
              </a:avLst>
            </a:prstGeom>
            <a:solidFill>
              <a:srgbClr val="FDFCF9"/>
            </a:solidFill>
            <a:ln w="9525">
              <a:solidFill>
                <a:srgbClr val="E5E3DE"/>
              </a:solidFill>
            </a:ln>
          </p:spPr>
        </p:sp>
        <p:sp>
          <p:nvSpPr>
            <p:cNvPr id="15" name="TextBox 15"/>
            <p:cNvSpPr txBox="1"/>
            <p:nvPr/>
          </p:nvSpPr>
          <p:spPr>
            <a:xfrm>
              <a:off x="940118" y="3990499"/>
              <a:ext cx="550356" cy="198120"/>
            </a:xfrm>
            <a:prstGeom prst="rect">
              <a:avLst/>
            </a:prstGeom>
            <a:noFill/>
            <a:ln>
              <a:noFill/>
            </a:ln>
          </p:spPr>
          <p:txBody>
            <a:bodyPr wrap="none" lIns="0" tIns="0" rIns="0" bIns="0" anchor="t" anchorCtr="0">
              <a:spAutoFit/>
            </a:bodyPr>
            <a:lstStyle/>
            <a:p>
              <a:pPr algn="l"/>
              <a:r>
                <a:rPr lang="zh-CN" sz="975" b="1" i="1" dirty="0">
                  <a:solidFill>
                    <a:srgbClr val="153166"/>
                  </a:solidFill>
                  <a:latin typeface="Manrope"/>
                  <a:ea typeface="Microsoft JhengHei"/>
                  <a:cs typeface="Manrope"/>
                </a:rPr>
                <a:t>· 角色：</a:t>
              </a:r>
            </a:p>
          </p:txBody>
        </p:sp>
        <p:sp>
          <p:nvSpPr>
            <p:cNvPr id="16" name="TextBox 16"/>
            <p:cNvSpPr txBox="1"/>
            <p:nvPr/>
          </p:nvSpPr>
          <p:spPr>
            <a:xfrm>
              <a:off x="1454468" y="3990499"/>
              <a:ext cx="1285923" cy="198120"/>
            </a:xfrm>
            <a:prstGeom prst="rect">
              <a:avLst/>
            </a:prstGeom>
            <a:noFill/>
            <a:ln>
              <a:noFill/>
            </a:ln>
          </p:spPr>
          <p:txBody>
            <a:bodyPr wrap="none" lIns="0" tIns="0" rIns="0" bIns="0" anchor="t" anchorCtr="0">
              <a:spAutoFit/>
            </a:bodyPr>
            <a:lstStyle/>
            <a:p>
              <a:pPr algn="l"/>
              <a:r>
                <a:rPr lang="zh-CN" sz="975" i="1" dirty="0">
                  <a:solidFill>
                    <a:srgbClr val="171C24"/>
                  </a:solidFill>
                  <a:latin typeface="Manrope"/>
                  <a:ea typeface="Microsoft JhengHei"/>
                  <a:cs typeface="Manrope"/>
                </a:rPr>
                <a:t>跨團隊專案經理 (PM)</a:t>
              </a:r>
            </a:p>
          </p:txBody>
        </p:sp>
        <p:sp>
          <p:nvSpPr>
            <p:cNvPr id="17" name="TextBox 17"/>
            <p:cNvSpPr txBox="1"/>
            <p:nvPr/>
          </p:nvSpPr>
          <p:spPr>
            <a:xfrm>
              <a:off x="940118" y="4219099"/>
              <a:ext cx="550356" cy="198120"/>
            </a:xfrm>
            <a:prstGeom prst="rect">
              <a:avLst/>
            </a:prstGeom>
            <a:noFill/>
            <a:ln>
              <a:noFill/>
            </a:ln>
          </p:spPr>
          <p:txBody>
            <a:bodyPr wrap="none" lIns="0" tIns="0" rIns="0" bIns="0" anchor="t" anchorCtr="0">
              <a:spAutoFit/>
            </a:bodyPr>
            <a:lstStyle/>
            <a:p>
              <a:pPr algn="l"/>
              <a:r>
                <a:rPr lang="zh-CN" sz="975" b="1" i="1" dirty="0">
                  <a:solidFill>
                    <a:srgbClr val="153166"/>
                  </a:solidFill>
                  <a:latin typeface="Manrope"/>
                  <a:ea typeface="Microsoft JhengHei"/>
                  <a:cs typeface="Manrope"/>
                </a:rPr>
                <a:t>· 操作：</a:t>
              </a:r>
            </a:p>
          </p:txBody>
        </p:sp>
        <p:sp>
          <p:nvSpPr>
            <p:cNvPr id="18" name="TextBox 18"/>
            <p:cNvSpPr txBox="1"/>
            <p:nvPr/>
          </p:nvSpPr>
          <p:spPr>
            <a:xfrm>
              <a:off x="1454468" y="4219099"/>
              <a:ext cx="1844992" cy="198120"/>
            </a:xfrm>
            <a:prstGeom prst="rect">
              <a:avLst/>
            </a:prstGeom>
            <a:noFill/>
            <a:ln>
              <a:noFill/>
            </a:ln>
          </p:spPr>
          <p:txBody>
            <a:bodyPr wrap="none" lIns="0" tIns="0" rIns="0" bIns="0" anchor="t" anchorCtr="0">
              <a:spAutoFit/>
            </a:bodyPr>
            <a:lstStyle/>
            <a:p>
              <a:pPr algn="l"/>
              <a:r>
                <a:rPr lang="zh-CN" sz="975" i="1" dirty="0">
                  <a:solidFill>
                    <a:srgbClr val="171C24"/>
                  </a:solidFill>
                  <a:latin typeface="Manrope"/>
                  <a:ea typeface="Microsoft JhengHei"/>
                  <a:cs typeface="Manrope"/>
                </a:rPr>
                <a:t>會後一鍵生成結構化摘要與任務</a:t>
              </a:r>
            </a:p>
          </p:txBody>
        </p:sp>
        <p:sp>
          <p:nvSpPr>
            <p:cNvPr id="19" name="TextBox 19"/>
            <p:cNvSpPr txBox="1"/>
            <p:nvPr/>
          </p:nvSpPr>
          <p:spPr>
            <a:xfrm>
              <a:off x="940118" y="4447699"/>
              <a:ext cx="550356" cy="198120"/>
            </a:xfrm>
            <a:prstGeom prst="rect">
              <a:avLst/>
            </a:prstGeom>
            <a:noFill/>
            <a:ln>
              <a:noFill/>
            </a:ln>
          </p:spPr>
          <p:txBody>
            <a:bodyPr wrap="none" lIns="0" tIns="0" rIns="0" bIns="0" anchor="t" anchorCtr="0">
              <a:spAutoFit/>
            </a:bodyPr>
            <a:lstStyle/>
            <a:p>
              <a:pPr algn="l"/>
              <a:r>
                <a:rPr lang="zh-CN" sz="975" b="1" i="1" dirty="0">
                  <a:solidFill>
                    <a:srgbClr val="153166"/>
                  </a:solidFill>
                  <a:latin typeface="Manrope"/>
                  <a:ea typeface="Microsoft JhengHei"/>
                  <a:cs typeface="Manrope"/>
                </a:rPr>
                <a:t>· 價值：</a:t>
              </a:r>
            </a:p>
          </p:txBody>
        </p:sp>
        <p:sp>
          <p:nvSpPr>
            <p:cNvPr id="20" name="TextBox 20"/>
            <p:cNvSpPr txBox="1"/>
            <p:nvPr/>
          </p:nvSpPr>
          <p:spPr>
            <a:xfrm>
              <a:off x="1454468" y="4447699"/>
              <a:ext cx="1805988" cy="198120"/>
            </a:xfrm>
            <a:prstGeom prst="rect">
              <a:avLst/>
            </a:prstGeom>
            <a:noFill/>
            <a:ln>
              <a:noFill/>
            </a:ln>
          </p:spPr>
          <p:txBody>
            <a:bodyPr wrap="none" lIns="0" tIns="0" rIns="0" bIns="0" anchor="t" anchorCtr="0">
              <a:spAutoFit/>
            </a:bodyPr>
            <a:lstStyle/>
            <a:p>
              <a:pPr algn="l"/>
              <a:r>
                <a:rPr lang="zh-CN" sz="975" i="1" dirty="0">
                  <a:solidFill>
                    <a:srgbClr val="171C24"/>
                  </a:solidFill>
                  <a:latin typeface="Manrope"/>
                  <a:ea typeface="Microsoft JhengHei"/>
                  <a:cs typeface="Manrope"/>
                </a:rPr>
                <a:t>會後黃金 10 分鐘內立即發布，</a:t>
              </a:r>
            </a:p>
          </p:txBody>
        </p:sp>
        <p:sp>
          <p:nvSpPr>
            <p:cNvPr id="21" name="TextBox 21"/>
            <p:cNvSpPr txBox="1"/>
            <p:nvPr/>
          </p:nvSpPr>
          <p:spPr>
            <a:xfrm>
              <a:off x="1454468" y="4638199"/>
              <a:ext cx="1844992" cy="198120"/>
            </a:xfrm>
            <a:prstGeom prst="rect">
              <a:avLst/>
            </a:prstGeom>
            <a:noFill/>
            <a:ln>
              <a:noFill/>
            </a:ln>
          </p:spPr>
          <p:txBody>
            <a:bodyPr wrap="none" lIns="0" tIns="0" rIns="0" bIns="0" anchor="t" anchorCtr="0">
              <a:spAutoFit/>
            </a:bodyPr>
            <a:lstStyle/>
            <a:p>
              <a:pPr algn="l"/>
              <a:r>
                <a:rPr lang="zh-CN" sz="975" i="1" dirty="0">
                  <a:solidFill>
                    <a:srgbClr val="171C24"/>
                  </a:solidFill>
                  <a:latin typeface="Manrope"/>
                  <a:ea typeface="Microsoft JhengHei"/>
                  <a:cs typeface="Manrope"/>
                </a:rPr>
                <a:t>以結構化清單降低閱讀摩擦力，</a:t>
              </a:r>
            </a:p>
          </p:txBody>
        </p:sp>
        <p:sp>
          <p:nvSpPr>
            <p:cNvPr id="22" name="TextBox 22"/>
            <p:cNvSpPr txBox="1"/>
            <p:nvPr/>
          </p:nvSpPr>
          <p:spPr>
            <a:xfrm>
              <a:off x="1454468" y="4828699"/>
              <a:ext cx="1844992" cy="198120"/>
            </a:xfrm>
            <a:prstGeom prst="rect">
              <a:avLst/>
            </a:prstGeom>
            <a:noFill/>
            <a:ln>
              <a:noFill/>
            </a:ln>
          </p:spPr>
          <p:txBody>
            <a:bodyPr wrap="none" lIns="0" tIns="0" rIns="0" bIns="0" anchor="t" anchorCtr="0">
              <a:spAutoFit/>
            </a:bodyPr>
            <a:lstStyle/>
            <a:p>
              <a:pPr algn="l"/>
              <a:r>
                <a:rPr lang="zh-CN" sz="975" i="1" dirty="0">
                  <a:solidFill>
                    <a:srgbClr val="171C24"/>
                  </a:solidFill>
                  <a:latin typeface="Manrope"/>
                  <a:ea typeface="Microsoft JhengHei"/>
                  <a:cs typeface="Manrope"/>
                </a:rPr>
                <a:t>移除團隊點開瀏覽的心理門檻。</a:t>
              </a:r>
            </a:p>
          </p:txBody>
        </p:sp>
      </p:grpSp>
      <p:grpSp>
        <p:nvGrpSpPr>
          <p:cNvPr id="71" name="Group 71"/>
          <p:cNvGrpSpPr/>
          <p:nvPr/>
        </p:nvGrpSpPr>
        <p:grpSpPr>
          <a:xfrm>
            <a:off x="4457700" y="1524000"/>
            <a:ext cx="7124700" cy="4000500"/>
            <a:chOff x="4457700" y="1524000"/>
            <a:chExt cx="7124700" cy="4000500"/>
          </a:xfrm>
        </p:grpSpPr>
        <p:sp>
          <p:nvSpPr>
            <p:cNvPr id="24" name="Rectangle 24"/>
            <p:cNvSpPr/>
            <p:nvPr/>
          </p:nvSpPr>
          <p:spPr>
            <a:xfrm>
              <a:off x="4457700" y="1524000"/>
              <a:ext cx="7124700" cy="4000500"/>
            </a:xfrm>
            <a:prstGeom prst="roundRect">
              <a:avLst>
                <a:gd name="adj" fmla="val 3810"/>
              </a:avLst>
            </a:prstGeom>
            <a:solidFill>
              <a:srgbClr val="FFFFFF"/>
            </a:solidFill>
            <a:ln w="14288">
              <a:solidFill>
                <a:srgbClr val="E5E3DE"/>
              </a:solidFill>
            </a:ln>
          </p:spPr>
        </p:sp>
        <p:sp>
          <p:nvSpPr>
            <p:cNvPr id="25" name="Rectangle 25"/>
            <p:cNvSpPr/>
            <p:nvPr/>
          </p:nvSpPr>
          <p:spPr>
            <a:xfrm>
              <a:off x="4457700" y="1524000"/>
              <a:ext cx="7124700" cy="381000"/>
            </a:xfrm>
            <a:prstGeom prst="roundRect">
              <a:avLst>
                <a:gd name="adj" fmla="val 40000"/>
              </a:avLst>
            </a:prstGeom>
            <a:solidFill>
              <a:srgbClr val="153166"/>
            </a:solidFill>
            <a:ln>
              <a:noFill/>
            </a:ln>
          </p:spPr>
        </p:sp>
        <p:sp>
          <p:nvSpPr>
            <p:cNvPr id="26" name="Rectangle 26"/>
            <p:cNvSpPr/>
            <p:nvPr/>
          </p:nvSpPr>
          <p:spPr>
            <a:xfrm>
              <a:off x="4457700" y="1714500"/>
              <a:ext cx="7124700" cy="190500"/>
            </a:xfrm>
            <a:prstGeom prst="rect">
              <a:avLst/>
            </a:prstGeom>
            <a:solidFill>
              <a:srgbClr val="153166"/>
            </a:solidFill>
            <a:ln>
              <a:noFill/>
            </a:ln>
          </p:spPr>
        </p:sp>
        <p:sp>
          <p:nvSpPr>
            <p:cNvPr id="27" name="TextBox 27"/>
            <p:cNvSpPr txBox="1"/>
            <p:nvPr/>
          </p:nvSpPr>
          <p:spPr>
            <a:xfrm>
              <a:off x="4672965" y="1658302"/>
              <a:ext cx="320707"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Plus Jakarta Sans"/>
                  <a:ea typeface="Microsoft JhengHei"/>
                  <a:cs typeface="Plus Jakarta Sans"/>
                </a:rPr>
                <a:t>頁數</a:t>
              </a:r>
            </a:p>
          </p:txBody>
        </p:sp>
        <p:sp>
          <p:nvSpPr>
            <p:cNvPr id="28" name="TextBox 28"/>
            <p:cNvSpPr txBox="1"/>
            <p:nvPr/>
          </p:nvSpPr>
          <p:spPr>
            <a:xfrm>
              <a:off x="5206365" y="1658302"/>
              <a:ext cx="2290753"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Plus Jakarta Sans"/>
                  <a:ea typeface="Microsoft JhengHei"/>
                  <a:cs typeface="Plus Jakarta Sans"/>
                </a:rPr>
                <a:t>投影片結論標題 (單一結論句主張)</a:t>
              </a:r>
            </a:p>
          </p:txBody>
        </p:sp>
        <p:sp>
          <p:nvSpPr>
            <p:cNvPr id="29" name="TextBox 29"/>
            <p:cNvSpPr txBox="1"/>
            <p:nvPr/>
          </p:nvSpPr>
          <p:spPr>
            <a:xfrm>
              <a:off x="9206865" y="1658302"/>
              <a:ext cx="1408643"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Plus Jakarta Sans"/>
                  <a:ea typeface="Microsoft JhengHei"/>
                  <a:cs typeface="Plus Jakarta Sans"/>
                </a:rPr>
                <a:t>核心呈現內容 (焦點)</a:t>
              </a:r>
            </a:p>
          </p:txBody>
        </p:sp>
        <p:grpSp>
          <p:nvGrpSpPr>
            <p:cNvPr id="35" name="Group 35"/>
            <p:cNvGrpSpPr/>
            <p:nvPr/>
          </p:nvGrpSpPr>
          <p:grpSpPr>
            <a:xfrm>
              <a:off x="4457700" y="1905000"/>
              <a:ext cx="7124700" cy="485775"/>
              <a:chOff x="4457700" y="1905000"/>
              <a:chExt cx="7124700" cy="485775"/>
            </a:xfrm>
          </p:grpSpPr>
          <p:sp>
            <p:nvSpPr>
              <p:cNvPr id="30" name="Rectangle 30"/>
              <p:cNvSpPr/>
              <p:nvPr/>
            </p:nvSpPr>
            <p:spPr>
              <a:xfrm>
                <a:off x="4457700" y="1905000"/>
                <a:ext cx="7124700" cy="476250"/>
              </a:xfrm>
              <a:prstGeom prst="rect">
                <a:avLst/>
              </a:prstGeom>
              <a:solidFill>
                <a:srgbClr val="FFFFFF"/>
              </a:solidFill>
              <a:ln>
                <a:noFill/>
              </a:ln>
            </p:spPr>
          </p:sp>
          <p:sp>
            <p:nvSpPr>
              <p:cNvPr id="31" name="TextBox 31"/>
              <p:cNvSpPr txBox="1"/>
              <p:nvPr/>
            </p:nvSpPr>
            <p:spPr>
              <a:xfrm>
                <a:off x="4673918" y="2085499"/>
                <a:ext cx="447968" cy="198120"/>
              </a:xfrm>
              <a:prstGeom prst="rect">
                <a:avLst/>
              </a:prstGeom>
              <a:noFill/>
              <a:ln>
                <a:noFill/>
              </a:ln>
            </p:spPr>
            <p:txBody>
              <a:bodyPr wrap="none" lIns="0" tIns="0" rIns="0" bIns="0" anchor="t" anchorCtr="0">
                <a:spAutoFit/>
              </a:bodyPr>
              <a:lstStyle/>
              <a:p>
                <a:pPr algn="l"/>
                <a:r>
                  <a:rPr lang="zh-CN" sz="975" b="1" dirty="0">
                    <a:solidFill>
                      <a:srgbClr val="153166"/>
                    </a:solidFill>
                    <a:latin typeface="Manrope"/>
                    <a:ea typeface="Microsoft JhengHei"/>
                    <a:cs typeface="Manrope"/>
                  </a:rPr>
                  <a:t>Slide 1</a:t>
                </a:r>
              </a:p>
            </p:txBody>
          </p:sp>
          <p:sp>
            <p:nvSpPr>
              <p:cNvPr id="32" name="TextBox 32"/>
              <p:cNvSpPr txBox="1"/>
              <p:nvPr/>
            </p:nvSpPr>
            <p:spPr>
              <a:xfrm>
                <a:off x="5207318" y="2085499"/>
                <a:ext cx="2755106" cy="198120"/>
              </a:xfrm>
              <a:prstGeom prst="rect">
                <a:avLst/>
              </a:prstGeom>
              <a:noFill/>
              <a:ln>
                <a:noFill/>
              </a:ln>
            </p:spPr>
            <p:txBody>
              <a:bodyPr wrap="none" lIns="0" tIns="0" rIns="0" bIns="0" anchor="t" anchorCtr="0">
                <a:spAutoFit/>
              </a:bodyPr>
              <a:lstStyle/>
              <a:p>
                <a:pPr algn="l"/>
                <a:r>
                  <a:rPr lang="zh-CN" sz="975" b="1" dirty="0">
                    <a:solidFill>
                      <a:srgbClr val="171C24"/>
                    </a:solidFill>
                    <a:latin typeface="Manrope"/>
                    <a:ea typeface="Microsoft JhengHei"/>
                    <a:cs typeface="Manrope"/>
                  </a:rPr>
                  <a:t>我們目前以每週活躍協作文件數衡量平台價值</a:t>
                </a:r>
              </a:p>
            </p:txBody>
          </p:sp>
          <p:sp>
            <p:nvSpPr>
              <p:cNvPr id="33" name="TextBox 33"/>
              <p:cNvSpPr txBox="1"/>
              <p:nvPr/>
            </p:nvSpPr>
            <p:spPr>
              <a:xfrm>
                <a:off x="9207818" y="2085499"/>
                <a:ext cx="1844992" cy="198120"/>
              </a:xfrm>
              <a:prstGeom prst="rect">
                <a:avLst/>
              </a:prstGeom>
              <a:noFill/>
              <a:ln>
                <a:noFill/>
              </a:ln>
            </p:spPr>
            <p:txBody>
              <a:bodyPr wrap="none" lIns="0" tIns="0" rIns="0" bIns="0" anchor="t" anchorCtr="0">
                <a:spAutoFit/>
              </a:bodyPr>
              <a:lstStyle/>
              <a:p>
                <a:pPr algn="l"/>
                <a:r>
                  <a:rPr lang="zh-CN" sz="975" dirty="0">
                    <a:solidFill>
                      <a:srgbClr val="525864"/>
                    </a:solidFill>
                    <a:latin typeface="Manrope"/>
                    <a:ea typeface="Microsoft JhengHei"/>
                    <a:cs typeface="Manrope"/>
                  </a:rPr>
                  <a:t>說明產品現狀的北極星指標定義</a:t>
                </a:r>
              </a:p>
            </p:txBody>
          </p:sp>
          <p:sp>
            <p:nvSpPr>
              <p:cNvPr id="34" name="Line 34"/>
              <p:cNvSpPr/>
              <p:nvPr/>
            </p:nvSpPr>
            <p:spPr>
              <a:xfrm>
                <a:off x="4457700" y="2381250"/>
                <a:ext cx="7124700" cy="9525"/>
              </a:xfrm>
              <a:custGeom>
                <a:avLst/>
                <a:gdLst/>
                <a:ahLst/>
                <a:cxnLst/>
                <a:rect l="l" t="t" r="r" b="b"/>
                <a:pathLst>
                  <a:path w="7124700" h="9525">
                    <a:moveTo>
                      <a:pt x="0" y="0"/>
                    </a:moveTo>
                    <a:lnTo>
                      <a:pt x="7124700" y="0"/>
                    </a:lnTo>
                  </a:path>
                </a:pathLst>
              </a:custGeom>
              <a:noFill/>
              <a:ln w="9525">
                <a:solidFill>
                  <a:srgbClr val="E5E3DE"/>
                </a:solidFill>
              </a:ln>
            </p:spPr>
          </p:sp>
        </p:grpSp>
        <p:grpSp>
          <p:nvGrpSpPr>
            <p:cNvPr id="41" name="Group 41"/>
            <p:cNvGrpSpPr/>
            <p:nvPr/>
          </p:nvGrpSpPr>
          <p:grpSpPr>
            <a:xfrm>
              <a:off x="4457700" y="2381250"/>
              <a:ext cx="7124700" cy="485775"/>
              <a:chOff x="4457700" y="2381250"/>
              <a:chExt cx="7124700" cy="485775"/>
            </a:xfrm>
          </p:grpSpPr>
          <p:sp>
            <p:nvSpPr>
              <p:cNvPr id="36" name="Rectangle 36"/>
              <p:cNvSpPr/>
              <p:nvPr/>
            </p:nvSpPr>
            <p:spPr>
              <a:xfrm>
                <a:off x="4457700" y="2381250"/>
                <a:ext cx="7124700" cy="476250"/>
              </a:xfrm>
              <a:prstGeom prst="rect">
                <a:avLst/>
              </a:prstGeom>
              <a:solidFill>
                <a:srgbClr val="F3F2ED"/>
              </a:solidFill>
              <a:ln>
                <a:noFill/>
              </a:ln>
            </p:spPr>
          </p:sp>
          <p:sp>
            <p:nvSpPr>
              <p:cNvPr id="37" name="TextBox 37"/>
              <p:cNvSpPr txBox="1"/>
              <p:nvPr/>
            </p:nvSpPr>
            <p:spPr>
              <a:xfrm>
                <a:off x="4673918" y="2561749"/>
                <a:ext cx="447968" cy="198120"/>
              </a:xfrm>
              <a:prstGeom prst="rect">
                <a:avLst/>
              </a:prstGeom>
              <a:noFill/>
              <a:ln>
                <a:noFill/>
              </a:ln>
            </p:spPr>
            <p:txBody>
              <a:bodyPr wrap="none" lIns="0" tIns="0" rIns="0" bIns="0" anchor="t" anchorCtr="0">
                <a:spAutoFit/>
              </a:bodyPr>
              <a:lstStyle/>
              <a:p>
                <a:pPr algn="l"/>
                <a:r>
                  <a:rPr lang="zh-CN" sz="975" b="1" dirty="0">
                    <a:solidFill>
                      <a:srgbClr val="153166"/>
                    </a:solidFill>
                    <a:latin typeface="Manrope"/>
                    <a:ea typeface="Microsoft JhengHei"/>
                    <a:cs typeface="Manrope"/>
                  </a:rPr>
                  <a:t>Slide 2</a:t>
                </a:r>
              </a:p>
            </p:txBody>
          </p:sp>
          <p:sp>
            <p:nvSpPr>
              <p:cNvPr id="38" name="TextBox 38"/>
              <p:cNvSpPr txBox="1"/>
              <p:nvPr/>
            </p:nvSpPr>
            <p:spPr>
              <a:xfrm>
                <a:off x="5207318" y="2561749"/>
                <a:ext cx="3164657" cy="198120"/>
              </a:xfrm>
              <a:prstGeom prst="rect">
                <a:avLst/>
              </a:prstGeom>
              <a:noFill/>
              <a:ln>
                <a:noFill/>
              </a:ln>
            </p:spPr>
            <p:txBody>
              <a:bodyPr wrap="none" lIns="0" tIns="0" rIns="0" bIns="0" anchor="t" anchorCtr="0">
                <a:spAutoFit/>
              </a:bodyPr>
              <a:lstStyle/>
              <a:p>
                <a:pPr algn="l"/>
                <a:r>
                  <a:rPr lang="zh-CN" sz="975" b="1" dirty="0">
                    <a:solidFill>
                      <a:srgbClr val="171C24"/>
                    </a:solidFill>
                    <a:latin typeface="Manrope"/>
                    <a:ea typeface="Microsoft JhengHei"/>
                    <a:cs typeface="Manrope"/>
                  </a:rPr>
                  <a:t>每週有高達四成的會議記錄文件在建立後便無人瀏覽</a:t>
                </a:r>
              </a:p>
            </p:txBody>
          </p:sp>
          <p:sp>
            <p:nvSpPr>
              <p:cNvPr id="39" name="TextBox 39"/>
              <p:cNvSpPr txBox="1"/>
              <p:nvPr/>
            </p:nvSpPr>
            <p:spPr>
              <a:xfrm>
                <a:off x="9207818" y="2561749"/>
                <a:ext cx="2235041" cy="198120"/>
              </a:xfrm>
              <a:prstGeom prst="rect">
                <a:avLst/>
              </a:prstGeom>
              <a:noFill/>
              <a:ln>
                <a:noFill/>
              </a:ln>
            </p:spPr>
            <p:txBody>
              <a:bodyPr wrap="none" lIns="0" tIns="0" rIns="0" bIns="0" anchor="t" anchorCtr="0">
                <a:spAutoFit/>
              </a:bodyPr>
              <a:lstStyle/>
              <a:p>
                <a:pPr algn="l"/>
                <a:r>
                  <a:rPr lang="zh-CN" sz="975" dirty="0">
                    <a:solidFill>
                      <a:srgbClr val="525864"/>
                    </a:solidFill>
                    <a:latin typeface="Manrope"/>
                    <a:ea typeface="Microsoft JhengHei"/>
                    <a:cs typeface="Manrope"/>
                  </a:rPr>
                  <a:t>展示漏斗數據，點出會議紀錄流失瓶頸</a:t>
                </a:r>
              </a:p>
            </p:txBody>
          </p:sp>
          <p:sp>
            <p:nvSpPr>
              <p:cNvPr id="40" name="Line 40"/>
              <p:cNvSpPr/>
              <p:nvPr/>
            </p:nvSpPr>
            <p:spPr>
              <a:xfrm>
                <a:off x="4457700" y="2857500"/>
                <a:ext cx="7124700" cy="9525"/>
              </a:xfrm>
              <a:custGeom>
                <a:avLst/>
                <a:gdLst/>
                <a:ahLst/>
                <a:cxnLst/>
                <a:rect l="l" t="t" r="r" b="b"/>
                <a:pathLst>
                  <a:path w="7124700" h="9525">
                    <a:moveTo>
                      <a:pt x="0" y="0"/>
                    </a:moveTo>
                    <a:lnTo>
                      <a:pt x="7124700" y="0"/>
                    </a:lnTo>
                  </a:path>
                </a:pathLst>
              </a:custGeom>
              <a:noFill/>
              <a:ln w="9525">
                <a:solidFill>
                  <a:srgbClr val="E5E3DE"/>
                </a:solidFill>
              </a:ln>
            </p:spPr>
          </p:sp>
        </p:grpSp>
        <p:grpSp>
          <p:nvGrpSpPr>
            <p:cNvPr id="47" name="Group 47"/>
            <p:cNvGrpSpPr/>
            <p:nvPr/>
          </p:nvGrpSpPr>
          <p:grpSpPr>
            <a:xfrm>
              <a:off x="4457700" y="2857500"/>
              <a:ext cx="7124700" cy="485775"/>
              <a:chOff x="4457700" y="2857500"/>
              <a:chExt cx="7124700" cy="485775"/>
            </a:xfrm>
          </p:grpSpPr>
          <p:sp>
            <p:nvSpPr>
              <p:cNvPr id="42" name="Rectangle 42"/>
              <p:cNvSpPr/>
              <p:nvPr/>
            </p:nvSpPr>
            <p:spPr>
              <a:xfrm>
                <a:off x="4457700" y="2857500"/>
                <a:ext cx="7124700" cy="476250"/>
              </a:xfrm>
              <a:prstGeom prst="rect">
                <a:avLst/>
              </a:prstGeom>
              <a:solidFill>
                <a:srgbClr val="FFFFFF"/>
              </a:solidFill>
              <a:ln>
                <a:noFill/>
              </a:ln>
            </p:spPr>
          </p:sp>
          <p:sp>
            <p:nvSpPr>
              <p:cNvPr id="43" name="TextBox 43"/>
              <p:cNvSpPr txBox="1"/>
              <p:nvPr/>
            </p:nvSpPr>
            <p:spPr>
              <a:xfrm>
                <a:off x="4673918" y="3037999"/>
                <a:ext cx="447968" cy="198120"/>
              </a:xfrm>
              <a:prstGeom prst="rect">
                <a:avLst/>
              </a:prstGeom>
              <a:noFill/>
              <a:ln>
                <a:noFill/>
              </a:ln>
            </p:spPr>
            <p:txBody>
              <a:bodyPr wrap="none" lIns="0" tIns="0" rIns="0" bIns="0" anchor="t" anchorCtr="0">
                <a:spAutoFit/>
              </a:bodyPr>
              <a:lstStyle/>
              <a:p>
                <a:pPr algn="l"/>
                <a:r>
                  <a:rPr lang="zh-CN" sz="975" b="1" dirty="0">
                    <a:solidFill>
                      <a:srgbClr val="153166"/>
                    </a:solidFill>
                    <a:latin typeface="Manrope"/>
                    <a:ea typeface="Microsoft JhengHei"/>
                    <a:cs typeface="Manrope"/>
                  </a:rPr>
                  <a:t>Slide 3</a:t>
                </a:r>
              </a:p>
            </p:txBody>
          </p:sp>
          <p:sp>
            <p:nvSpPr>
              <p:cNvPr id="44" name="TextBox 44"/>
              <p:cNvSpPr txBox="1"/>
              <p:nvPr/>
            </p:nvSpPr>
            <p:spPr>
              <a:xfrm>
                <a:off x="5207318" y="3037999"/>
                <a:ext cx="2755106" cy="198120"/>
              </a:xfrm>
              <a:prstGeom prst="rect">
                <a:avLst/>
              </a:prstGeom>
              <a:noFill/>
              <a:ln>
                <a:noFill/>
              </a:ln>
            </p:spPr>
            <p:txBody>
              <a:bodyPr wrap="none" lIns="0" tIns="0" rIns="0" bIns="0" anchor="t" anchorCtr="0">
                <a:spAutoFit/>
              </a:bodyPr>
              <a:lstStyle/>
              <a:p>
                <a:pPr algn="l"/>
                <a:r>
                  <a:rPr lang="zh-CN" sz="975" b="1" dirty="0">
                    <a:solidFill>
                      <a:srgbClr val="171C24"/>
                    </a:solidFill>
                    <a:latin typeface="Manrope"/>
                    <a:ea typeface="Microsoft JhengHei"/>
                    <a:cs typeface="Manrope"/>
                  </a:rPr>
                  <a:t>專案經理省下整理紀錄時間才能專注推動專案</a:t>
                </a:r>
              </a:p>
            </p:txBody>
          </p:sp>
          <p:sp>
            <p:nvSpPr>
              <p:cNvPr id="45" name="TextBox 45"/>
              <p:cNvSpPr txBox="1"/>
              <p:nvPr/>
            </p:nvSpPr>
            <p:spPr>
              <a:xfrm>
                <a:off x="9207818" y="3037999"/>
                <a:ext cx="2332553" cy="198120"/>
              </a:xfrm>
              <a:prstGeom prst="rect">
                <a:avLst/>
              </a:prstGeom>
              <a:noFill/>
              <a:ln>
                <a:noFill/>
              </a:ln>
            </p:spPr>
            <p:txBody>
              <a:bodyPr wrap="none" lIns="0" tIns="0" rIns="0" bIns="0" anchor="t" anchorCtr="0">
                <a:spAutoFit/>
              </a:bodyPr>
              <a:lstStyle/>
              <a:p>
                <a:pPr algn="l"/>
                <a:r>
                  <a:rPr lang="zh-CN" sz="975" dirty="0">
                    <a:solidFill>
                      <a:srgbClr val="525864"/>
                    </a:solidFill>
                    <a:latin typeface="Manrope"/>
                    <a:ea typeface="Microsoft JhengHei"/>
                    <a:cs typeface="Manrope"/>
                  </a:rPr>
                  <a:t>引入 PM 痛點與上述的 User Story 橋樑</a:t>
                </a:r>
              </a:p>
            </p:txBody>
          </p:sp>
          <p:sp>
            <p:nvSpPr>
              <p:cNvPr id="46" name="Line 46"/>
              <p:cNvSpPr/>
              <p:nvPr/>
            </p:nvSpPr>
            <p:spPr>
              <a:xfrm>
                <a:off x="4457700" y="3333750"/>
                <a:ext cx="7124700" cy="9525"/>
              </a:xfrm>
              <a:custGeom>
                <a:avLst/>
                <a:gdLst/>
                <a:ahLst/>
                <a:cxnLst/>
                <a:rect l="l" t="t" r="r" b="b"/>
                <a:pathLst>
                  <a:path w="7124700" h="9525">
                    <a:moveTo>
                      <a:pt x="0" y="0"/>
                    </a:moveTo>
                    <a:lnTo>
                      <a:pt x="7124700" y="0"/>
                    </a:lnTo>
                  </a:path>
                </a:pathLst>
              </a:custGeom>
              <a:noFill/>
              <a:ln w="9525">
                <a:solidFill>
                  <a:srgbClr val="E5E3DE"/>
                </a:solidFill>
              </a:ln>
            </p:spPr>
          </p:sp>
        </p:grpSp>
        <p:grpSp>
          <p:nvGrpSpPr>
            <p:cNvPr id="53" name="Group 53"/>
            <p:cNvGrpSpPr/>
            <p:nvPr/>
          </p:nvGrpSpPr>
          <p:grpSpPr>
            <a:xfrm>
              <a:off x="4457700" y="3333750"/>
              <a:ext cx="7124700" cy="485775"/>
              <a:chOff x="4457700" y="3333750"/>
              <a:chExt cx="7124700" cy="485775"/>
            </a:xfrm>
          </p:grpSpPr>
          <p:sp>
            <p:nvSpPr>
              <p:cNvPr id="48" name="Rectangle 48"/>
              <p:cNvSpPr/>
              <p:nvPr/>
            </p:nvSpPr>
            <p:spPr>
              <a:xfrm>
                <a:off x="4457700" y="3333750"/>
                <a:ext cx="7124700" cy="476250"/>
              </a:xfrm>
              <a:prstGeom prst="rect">
                <a:avLst/>
              </a:prstGeom>
              <a:solidFill>
                <a:srgbClr val="F3F2ED"/>
              </a:solidFill>
              <a:ln>
                <a:noFill/>
              </a:ln>
            </p:spPr>
          </p:sp>
          <p:sp>
            <p:nvSpPr>
              <p:cNvPr id="49" name="TextBox 49"/>
              <p:cNvSpPr txBox="1"/>
              <p:nvPr/>
            </p:nvSpPr>
            <p:spPr>
              <a:xfrm>
                <a:off x="4673918" y="3514249"/>
                <a:ext cx="447968" cy="198120"/>
              </a:xfrm>
              <a:prstGeom prst="rect">
                <a:avLst/>
              </a:prstGeom>
              <a:noFill/>
              <a:ln>
                <a:noFill/>
              </a:ln>
            </p:spPr>
            <p:txBody>
              <a:bodyPr wrap="none" lIns="0" tIns="0" rIns="0" bIns="0" anchor="t" anchorCtr="0">
                <a:spAutoFit/>
              </a:bodyPr>
              <a:lstStyle/>
              <a:p>
                <a:pPr algn="l"/>
                <a:r>
                  <a:rPr lang="zh-CN" sz="975" b="1" dirty="0">
                    <a:solidFill>
                      <a:srgbClr val="153166"/>
                    </a:solidFill>
                    <a:latin typeface="Manrope"/>
                    <a:ea typeface="Microsoft JhengHei"/>
                    <a:cs typeface="Manrope"/>
                  </a:rPr>
                  <a:t>Slide 4</a:t>
                </a:r>
              </a:p>
            </p:txBody>
          </p:sp>
          <p:sp>
            <p:nvSpPr>
              <p:cNvPr id="50" name="TextBox 50"/>
              <p:cNvSpPr txBox="1"/>
              <p:nvPr/>
            </p:nvSpPr>
            <p:spPr>
              <a:xfrm>
                <a:off x="5207318" y="3514249"/>
                <a:ext cx="2345555" cy="198120"/>
              </a:xfrm>
              <a:prstGeom prst="rect">
                <a:avLst/>
              </a:prstGeom>
              <a:noFill/>
              <a:ln>
                <a:noFill/>
              </a:ln>
            </p:spPr>
            <p:txBody>
              <a:bodyPr wrap="none" lIns="0" tIns="0" rIns="0" bIns="0" anchor="t" anchorCtr="0">
                <a:spAutoFit/>
              </a:bodyPr>
              <a:lstStyle/>
              <a:p>
                <a:pPr algn="l"/>
                <a:r>
                  <a:rPr lang="zh-CN" sz="975" b="1" dirty="0">
                    <a:solidFill>
                      <a:srgbClr val="171C24"/>
                    </a:solidFill>
                    <a:latin typeface="Manrope"/>
                    <a:ea typeface="Microsoft JhengHei"/>
                    <a:cs typeface="Manrope"/>
                  </a:rPr>
                  <a:t>成功定義：讓會議決議無縫融入工作流</a:t>
                </a:r>
              </a:p>
            </p:txBody>
          </p:sp>
          <p:sp>
            <p:nvSpPr>
              <p:cNvPr id="51" name="TextBox 51"/>
              <p:cNvSpPr txBox="1"/>
              <p:nvPr/>
            </p:nvSpPr>
            <p:spPr>
              <a:xfrm>
                <a:off x="9207818" y="3514249"/>
                <a:ext cx="2066020" cy="198120"/>
              </a:xfrm>
              <a:prstGeom prst="rect">
                <a:avLst/>
              </a:prstGeom>
              <a:noFill/>
              <a:ln>
                <a:noFill/>
              </a:ln>
            </p:spPr>
            <p:txBody>
              <a:bodyPr wrap="none" lIns="0" tIns="0" rIns="0" bIns="0" anchor="t" anchorCtr="0">
                <a:spAutoFit/>
              </a:bodyPr>
              <a:lstStyle/>
              <a:p>
                <a:pPr algn="l"/>
                <a:r>
                  <a:rPr lang="zh-CN" sz="975" dirty="0">
                    <a:solidFill>
                      <a:srgbClr val="525864"/>
                    </a:solidFill>
                    <a:latin typeface="Manrope"/>
                    <a:ea typeface="Microsoft JhengHei"/>
                    <a:cs typeface="Manrope"/>
                  </a:rPr>
                  <a:t>制定成功標準，呼應 Slide 2 的瓶頸</a:t>
                </a:r>
              </a:p>
            </p:txBody>
          </p:sp>
          <p:sp>
            <p:nvSpPr>
              <p:cNvPr id="52" name="Line 52"/>
              <p:cNvSpPr/>
              <p:nvPr/>
            </p:nvSpPr>
            <p:spPr>
              <a:xfrm>
                <a:off x="4457700" y="3810000"/>
                <a:ext cx="7124700" cy="9525"/>
              </a:xfrm>
              <a:custGeom>
                <a:avLst/>
                <a:gdLst/>
                <a:ahLst/>
                <a:cxnLst/>
                <a:rect l="l" t="t" r="r" b="b"/>
                <a:pathLst>
                  <a:path w="7124700" h="9525">
                    <a:moveTo>
                      <a:pt x="0" y="0"/>
                    </a:moveTo>
                    <a:lnTo>
                      <a:pt x="7124700" y="0"/>
                    </a:lnTo>
                  </a:path>
                </a:pathLst>
              </a:custGeom>
              <a:noFill/>
              <a:ln w="9525">
                <a:solidFill>
                  <a:srgbClr val="E5E3DE"/>
                </a:solidFill>
              </a:ln>
            </p:spPr>
          </p:sp>
        </p:grpSp>
        <p:grpSp>
          <p:nvGrpSpPr>
            <p:cNvPr id="59" name="Group 59"/>
            <p:cNvGrpSpPr/>
            <p:nvPr/>
          </p:nvGrpSpPr>
          <p:grpSpPr>
            <a:xfrm>
              <a:off x="4457700" y="3810000"/>
              <a:ext cx="7124700" cy="485775"/>
              <a:chOff x="4457700" y="3810000"/>
              <a:chExt cx="7124700" cy="485775"/>
            </a:xfrm>
          </p:grpSpPr>
          <p:sp>
            <p:nvSpPr>
              <p:cNvPr id="54" name="Rectangle 54"/>
              <p:cNvSpPr/>
              <p:nvPr/>
            </p:nvSpPr>
            <p:spPr>
              <a:xfrm>
                <a:off x="4457700" y="3810000"/>
                <a:ext cx="7124700" cy="476250"/>
              </a:xfrm>
              <a:prstGeom prst="rect">
                <a:avLst/>
              </a:prstGeom>
              <a:solidFill>
                <a:srgbClr val="FFFFFF"/>
              </a:solidFill>
              <a:ln>
                <a:noFill/>
              </a:ln>
            </p:spPr>
          </p:sp>
          <p:sp>
            <p:nvSpPr>
              <p:cNvPr id="55" name="TextBox 55"/>
              <p:cNvSpPr txBox="1"/>
              <p:nvPr/>
            </p:nvSpPr>
            <p:spPr>
              <a:xfrm>
                <a:off x="4673918" y="3990499"/>
                <a:ext cx="447968" cy="198120"/>
              </a:xfrm>
              <a:prstGeom prst="rect">
                <a:avLst/>
              </a:prstGeom>
              <a:noFill/>
              <a:ln>
                <a:noFill/>
              </a:ln>
            </p:spPr>
            <p:txBody>
              <a:bodyPr wrap="none" lIns="0" tIns="0" rIns="0" bIns="0" anchor="t" anchorCtr="0">
                <a:spAutoFit/>
              </a:bodyPr>
              <a:lstStyle/>
              <a:p>
                <a:pPr algn="l"/>
                <a:r>
                  <a:rPr lang="zh-CN" sz="975" b="1" dirty="0">
                    <a:solidFill>
                      <a:srgbClr val="153166"/>
                    </a:solidFill>
                    <a:latin typeface="Manrope"/>
                    <a:ea typeface="Microsoft JhengHei"/>
                    <a:cs typeface="Manrope"/>
                  </a:rPr>
                  <a:t>Slide 5</a:t>
                </a:r>
              </a:p>
            </p:txBody>
          </p:sp>
          <p:sp>
            <p:nvSpPr>
              <p:cNvPr id="56" name="TextBox 56"/>
              <p:cNvSpPr txBox="1"/>
              <p:nvPr/>
            </p:nvSpPr>
            <p:spPr>
              <a:xfrm>
                <a:off x="5207318" y="3990499"/>
                <a:ext cx="2816539" cy="198120"/>
              </a:xfrm>
              <a:prstGeom prst="rect">
                <a:avLst/>
              </a:prstGeom>
              <a:noFill/>
              <a:ln>
                <a:noFill/>
              </a:ln>
            </p:spPr>
            <p:txBody>
              <a:bodyPr wrap="none" lIns="0" tIns="0" rIns="0" bIns="0" anchor="t" anchorCtr="0">
                <a:spAutoFit/>
              </a:bodyPr>
              <a:lstStyle/>
              <a:p>
                <a:pPr algn="l"/>
                <a:r>
                  <a:rPr lang="zh-CN" sz="975" b="1" dirty="0">
                    <a:solidFill>
                      <a:srgbClr val="171C24"/>
                    </a:solidFill>
                    <a:latin typeface="Manrope"/>
                    <a:ea typeface="Microsoft JhengHei"/>
                    <a:cs typeface="Manrope"/>
                  </a:rPr>
                  <a:t>透過一鍵 AI 摘要將語音紀錄自動轉為行動清單</a:t>
                </a:r>
              </a:p>
            </p:txBody>
          </p:sp>
          <p:sp>
            <p:nvSpPr>
              <p:cNvPr id="57" name="TextBox 57"/>
              <p:cNvSpPr txBox="1"/>
              <p:nvPr/>
            </p:nvSpPr>
            <p:spPr>
              <a:xfrm>
                <a:off x="9207818" y="3990499"/>
                <a:ext cx="1844992" cy="198120"/>
              </a:xfrm>
              <a:prstGeom prst="rect">
                <a:avLst/>
              </a:prstGeom>
              <a:noFill/>
              <a:ln>
                <a:noFill/>
              </a:ln>
            </p:spPr>
            <p:txBody>
              <a:bodyPr wrap="none" lIns="0" tIns="0" rIns="0" bIns="0" anchor="t" anchorCtr="0">
                <a:spAutoFit/>
              </a:bodyPr>
              <a:lstStyle/>
              <a:p>
                <a:pPr algn="l"/>
                <a:r>
                  <a:rPr lang="zh-CN" sz="975" dirty="0">
                    <a:solidFill>
                      <a:srgbClr val="525864"/>
                    </a:solidFill>
                    <a:latin typeface="Manrope"/>
                    <a:ea typeface="Microsoft JhengHei"/>
                    <a:cs typeface="Manrope"/>
                  </a:rPr>
                  <a:t>說明功能的推動機制與運作邏輯</a:t>
                </a:r>
              </a:p>
            </p:txBody>
          </p:sp>
          <p:sp>
            <p:nvSpPr>
              <p:cNvPr id="58" name="Line 58"/>
              <p:cNvSpPr/>
              <p:nvPr/>
            </p:nvSpPr>
            <p:spPr>
              <a:xfrm>
                <a:off x="4457700" y="4286250"/>
                <a:ext cx="7124700" cy="9525"/>
              </a:xfrm>
              <a:custGeom>
                <a:avLst/>
                <a:gdLst/>
                <a:ahLst/>
                <a:cxnLst/>
                <a:rect l="l" t="t" r="r" b="b"/>
                <a:pathLst>
                  <a:path w="7124700" h="9525">
                    <a:moveTo>
                      <a:pt x="0" y="0"/>
                    </a:moveTo>
                    <a:lnTo>
                      <a:pt x="7124700" y="0"/>
                    </a:lnTo>
                  </a:path>
                </a:pathLst>
              </a:custGeom>
              <a:noFill/>
              <a:ln w="9525">
                <a:solidFill>
                  <a:srgbClr val="E5E3DE"/>
                </a:solidFill>
              </a:ln>
            </p:spPr>
          </p:sp>
        </p:grpSp>
        <p:grpSp>
          <p:nvGrpSpPr>
            <p:cNvPr id="65" name="Group 65"/>
            <p:cNvGrpSpPr/>
            <p:nvPr/>
          </p:nvGrpSpPr>
          <p:grpSpPr>
            <a:xfrm>
              <a:off x="4457700" y="4286250"/>
              <a:ext cx="7124700" cy="485775"/>
              <a:chOff x="4457700" y="4286250"/>
              <a:chExt cx="7124700" cy="485775"/>
            </a:xfrm>
          </p:grpSpPr>
          <p:sp>
            <p:nvSpPr>
              <p:cNvPr id="60" name="Rectangle 60"/>
              <p:cNvSpPr/>
              <p:nvPr/>
            </p:nvSpPr>
            <p:spPr>
              <a:xfrm>
                <a:off x="4457700" y="4286250"/>
                <a:ext cx="7124700" cy="476250"/>
              </a:xfrm>
              <a:prstGeom prst="rect">
                <a:avLst/>
              </a:prstGeom>
              <a:solidFill>
                <a:srgbClr val="F3F2ED"/>
              </a:solidFill>
              <a:ln>
                <a:noFill/>
              </a:ln>
            </p:spPr>
          </p:sp>
          <p:sp>
            <p:nvSpPr>
              <p:cNvPr id="61" name="TextBox 61"/>
              <p:cNvSpPr txBox="1"/>
              <p:nvPr/>
            </p:nvSpPr>
            <p:spPr>
              <a:xfrm>
                <a:off x="4673918" y="4466749"/>
                <a:ext cx="447968" cy="198120"/>
              </a:xfrm>
              <a:prstGeom prst="rect">
                <a:avLst/>
              </a:prstGeom>
              <a:noFill/>
              <a:ln>
                <a:noFill/>
              </a:ln>
            </p:spPr>
            <p:txBody>
              <a:bodyPr wrap="none" lIns="0" tIns="0" rIns="0" bIns="0" anchor="t" anchorCtr="0">
                <a:spAutoFit/>
              </a:bodyPr>
              <a:lstStyle/>
              <a:p>
                <a:pPr algn="l"/>
                <a:r>
                  <a:rPr lang="zh-CN" sz="975" b="1" dirty="0">
                    <a:solidFill>
                      <a:srgbClr val="153166"/>
                    </a:solidFill>
                    <a:latin typeface="Manrope"/>
                    <a:ea typeface="Microsoft JhengHei"/>
                    <a:cs typeface="Manrope"/>
                  </a:rPr>
                  <a:t>Slide 6</a:t>
                </a:r>
              </a:p>
            </p:txBody>
          </p:sp>
          <p:sp>
            <p:nvSpPr>
              <p:cNvPr id="62" name="TextBox 62"/>
              <p:cNvSpPr txBox="1"/>
              <p:nvPr/>
            </p:nvSpPr>
            <p:spPr>
              <a:xfrm>
                <a:off x="5207318" y="4466749"/>
                <a:ext cx="2366033" cy="198120"/>
              </a:xfrm>
              <a:prstGeom prst="rect">
                <a:avLst/>
              </a:prstGeom>
              <a:noFill/>
              <a:ln>
                <a:noFill/>
              </a:ln>
            </p:spPr>
            <p:txBody>
              <a:bodyPr wrap="none" lIns="0" tIns="0" rIns="0" bIns="0" anchor="t" anchorCtr="0">
                <a:spAutoFit/>
              </a:bodyPr>
              <a:lstStyle/>
              <a:p>
                <a:pPr algn="l"/>
                <a:r>
                  <a:rPr lang="zh-CN" sz="975" b="1" dirty="0">
                    <a:solidFill>
                      <a:srgbClr val="171C24"/>
                    </a:solidFill>
                    <a:latin typeface="Manrope"/>
                    <a:ea typeface="Microsoft JhengHei"/>
                    <a:cs typeface="Manrope"/>
                  </a:rPr>
                  <a:t>AI 會議記錄助理功能設計與技術可行性</a:t>
                </a:r>
              </a:p>
            </p:txBody>
          </p:sp>
          <p:sp>
            <p:nvSpPr>
              <p:cNvPr id="63" name="TextBox 63"/>
              <p:cNvSpPr txBox="1"/>
              <p:nvPr/>
            </p:nvSpPr>
            <p:spPr>
              <a:xfrm>
                <a:off x="9207818" y="4466749"/>
                <a:ext cx="2105025" cy="198120"/>
              </a:xfrm>
              <a:prstGeom prst="rect">
                <a:avLst/>
              </a:prstGeom>
              <a:noFill/>
              <a:ln>
                <a:noFill/>
              </a:ln>
            </p:spPr>
            <p:txBody>
              <a:bodyPr wrap="none" lIns="0" tIns="0" rIns="0" bIns="0" anchor="t" anchorCtr="0">
                <a:spAutoFit/>
              </a:bodyPr>
              <a:lstStyle/>
              <a:p>
                <a:pPr algn="l"/>
                <a:r>
                  <a:rPr lang="zh-CN" sz="975" dirty="0">
                    <a:solidFill>
                      <a:srgbClr val="525864"/>
                    </a:solidFill>
                    <a:latin typeface="Manrope"/>
                    <a:ea typeface="Microsoft JhengHei"/>
                    <a:cs typeface="Manrope"/>
                  </a:rPr>
                  <a:t>展現系統架構圖、介面原型與護城河</a:t>
                </a:r>
              </a:p>
            </p:txBody>
          </p:sp>
          <p:sp>
            <p:nvSpPr>
              <p:cNvPr id="64" name="Line 64"/>
              <p:cNvSpPr/>
              <p:nvPr/>
            </p:nvSpPr>
            <p:spPr>
              <a:xfrm>
                <a:off x="4457700" y="4762500"/>
                <a:ext cx="7124700" cy="9525"/>
              </a:xfrm>
              <a:custGeom>
                <a:avLst/>
                <a:gdLst/>
                <a:ahLst/>
                <a:cxnLst/>
                <a:rect l="l" t="t" r="r" b="b"/>
                <a:pathLst>
                  <a:path w="7124700" h="9525">
                    <a:moveTo>
                      <a:pt x="0" y="0"/>
                    </a:moveTo>
                    <a:lnTo>
                      <a:pt x="7124700" y="0"/>
                    </a:lnTo>
                  </a:path>
                </a:pathLst>
              </a:custGeom>
              <a:noFill/>
              <a:ln w="9525">
                <a:solidFill>
                  <a:srgbClr val="E5E3DE"/>
                </a:solidFill>
              </a:ln>
            </p:spPr>
          </p:sp>
        </p:grpSp>
        <p:grpSp>
          <p:nvGrpSpPr>
            <p:cNvPr id="70" name="Group 70"/>
            <p:cNvGrpSpPr/>
            <p:nvPr/>
          </p:nvGrpSpPr>
          <p:grpSpPr>
            <a:xfrm>
              <a:off x="4457700" y="4762500"/>
              <a:ext cx="7124700" cy="762000"/>
              <a:chOff x="4457700" y="4762500"/>
              <a:chExt cx="7124700" cy="762000"/>
            </a:xfrm>
          </p:grpSpPr>
          <p:sp>
            <p:nvSpPr>
              <p:cNvPr id="66" name="Rectangle 66"/>
              <p:cNvSpPr/>
              <p:nvPr/>
            </p:nvSpPr>
            <p:spPr>
              <a:xfrm>
                <a:off x="4457700" y="4762500"/>
                <a:ext cx="7124700" cy="762000"/>
              </a:xfrm>
              <a:prstGeom prst="rect">
                <a:avLst/>
              </a:prstGeom>
              <a:solidFill>
                <a:srgbClr val="FFFFFF"/>
              </a:solidFill>
              <a:ln>
                <a:noFill/>
              </a:ln>
            </p:spPr>
          </p:sp>
          <p:sp>
            <p:nvSpPr>
              <p:cNvPr id="67" name="TextBox 67"/>
              <p:cNvSpPr txBox="1"/>
              <p:nvPr/>
            </p:nvSpPr>
            <p:spPr>
              <a:xfrm>
                <a:off x="4673918" y="4942999"/>
                <a:ext cx="447968" cy="198120"/>
              </a:xfrm>
              <a:prstGeom prst="rect">
                <a:avLst/>
              </a:prstGeom>
              <a:noFill/>
              <a:ln>
                <a:noFill/>
              </a:ln>
            </p:spPr>
            <p:txBody>
              <a:bodyPr wrap="none" lIns="0" tIns="0" rIns="0" bIns="0" anchor="t" anchorCtr="0">
                <a:spAutoFit/>
              </a:bodyPr>
              <a:lstStyle/>
              <a:p>
                <a:pPr algn="l"/>
                <a:r>
                  <a:rPr lang="zh-CN" sz="975" b="1" dirty="0">
                    <a:solidFill>
                      <a:srgbClr val="153166"/>
                    </a:solidFill>
                    <a:latin typeface="Manrope"/>
                    <a:ea typeface="Microsoft JhengHei"/>
                    <a:cs typeface="Manrope"/>
                  </a:rPr>
                  <a:t>Slide 7</a:t>
                </a:r>
              </a:p>
            </p:txBody>
          </p:sp>
          <p:sp>
            <p:nvSpPr>
              <p:cNvPr id="68" name="TextBox 68"/>
              <p:cNvSpPr txBox="1"/>
              <p:nvPr/>
            </p:nvSpPr>
            <p:spPr>
              <a:xfrm>
                <a:off x="5207318" y="4942999"/>
                <a:ext cx="2625090" cy="388620"/>
              </a:xfrm>
              <a:prstGeom prst="rect">
                <a:avLst/>
              </a:prstGeom>
              <a:noFill/>
              <a:ln>
                <a:noFill/>
              </a:ln>
            </p:spPr>
            <p:txBody>
              <a:bodyPr wrap="square" lIns="0" tIns="0" rIns="0" bIns="0" anchor="t" anchorCtr="0"/>
              <a:lstStyle/>
              <a:p>
                <a:pPr algn="l">
                  <a:lnSpc>
                    <a:spcPts val="1500"/>
                  </a:lnSpc>
                </a:pPr>
                <a:r>
                  <a:rPr lang="zh-CN" sz="975" b="1" dirty="0">
                    <a:solidFill>
                      <a:srgbClr val="171C24"/>
                    </a:solidFill>
                    <a:latin typeface="Manrope"/>
                    <a:ea typeface="Microsoft JhengHei"/>
                    <a:cs typeface="Manrope"/>
                  </a:rPr>
                  <a:t>驗證計畫：以北極星指標、功能層成功指標、</a:t>
                </a:r>
                <a:r>
                  <a:rPr lang="zh-CN" sz="975" b="1" dirty="0">
                    <a:solidFill>
                      <a:srgbClr val="171C24"/>
                    </a:solidFill>
                    <a:latin typeface="Manrope"/>
                    <a:ea typeface="Microsoft JhengHei"/>
                    <a:cs typeface="Manrope"/>
                  </a:rPr>
                  <a:t>量能指標、護欄指標把關成效</a:t>
                </a:r>
              </a:p>
            </p:txBody>
          </p:sp>
          <p:sp>
            <p:nvSpPr>
              <p:cNvPr id="69" name="TextBox 69"/>
              <p:cNvSpPr txBox="1"/>
              <p:nvPr/>
            </p:nvSpPr>
            <p:spPr>
              <a:xfrm>
                <a:off x="9207818" y="4942999"/>
                <a:ext cx="1454944" cy="198120"/>
              </a:xfrm>
              <a:prstGeom prst="rect">
                <a:avLst/>
              </a:prstGeom>
              <a:noFill/>
              <a:ln>
                <a:noFill/>
              </a:ln>
            </p:spPr>
            <p:txBody>
              <a:bodyPr wrap="none" lIns="0" tIns="0" rIns="0" bIns="0" anchor="t" anchorCtr="0">
                <a:spAutoFit/>
              </a:bodyPr>
              <a:lstStyle/>
              <a:p>
                <a:pPr algn="l"/>
                <a:r>
                  <a:rPr lang="zh-CN" sz="975" dirty="0">
                    <a:solidFill>
                      <a:srgbClr val="525864"/>
                    </a:solidFill>
                    <a:latin typeface="Manrope"/>
                    <a:ea typeface="Microsoft JhengHei"/>
                    <a:cs typeface="Manrope"/>
                  </a:rPr>
                  <a:t>制定完整指標分層樹狀圖</a:t>
                </a:r>
              </a:p>
            </p:txBody>
          </p:sp>
        </p:grpSp>
      </p:grpSp>
      <p:sp>
        <p:nvSpPr>
          <p:cNvPr id="72" name="TextBox 72"/>
          <p:cNvSpPr txBox="1"/>
          <p:nvPr/>
        </p:nvSpPr>
        <p:spPr>
          <a:xfrm>
            <a:off x="598170" y="6475095"/>
            <a:ext cx="2579179" cy="182880"/>
          </a:xfrm>
          <a:prstGeom prst="rect">
            <a:avLst/>
          </a:prstGeom>
          <a:noFill/>
          <a:ln>
            <a:noFill/>
          </a:ln>
        </p:spPr>
        <p:txBody>
          <a:bodyPr wrap="none" lIns="0" tIns="0" rIns="0" bIns="0" anchor="t" anchorCtr="0">
            <a:spAutoFit/>
          </a:bodyPr>
          <a:lstStyle/>
          <a:p>
            <a:pPr algn="l"/>
            <a:r>
              <a:rPr lang="zh-CN" sz="900" dirty="0">
                <a:solidFill>
                  <a:srgbClr val="525864"/>
                </a:solidFill>
                <a:latin typeface="Manrope"/>
                <a:ea typeface="Microsoft JhengHei"/>
                <a:cs typeface="Manrope"/>
              </a:rPr>
              <a:t>PM PROPOSAL &amp; METRICS EDUCATION · PAGE 04</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400"/>
                                        <p:tgtEl>
                                          <p:spTgt spid="2"/>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slide(fromBottom)">
                                      <p:cBhvr>
                                        <p:cTn id="11" dur="400"/>
                                        <p:tgtEl>
                                          <p:spTgt spid="3"/>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image">
                                      <p:cBhvr>
                                        <p:cTn id="15" dur="400"/>
                                        <p:tgtEl>
                                          <p:spTgt spid="4"/>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00"/>
                                        <p:tgtEl>
                                          <p:spTgt spid="23"/>
                                        </p:tgtEl>
                                      </p:cBhvr>
                                    </p:animEffect>
                                  </p:childTnLst>
                                </p:cTn>
                              </p:par>
                            </p:childTnLst>
                          </p:cTn>
                        </p:par>
                        <p:par>
                          <p:cTn id="20" fill="hold">
                            <p:stCondLst>
                              <p:cond delay="3600"/>
                            </p:stCondLst>
                            <p:childTnLst>
                              <p:par>
                                <p:cTn id="21" presetID="22" presetClass="entr" presetSubtype="1" fill="hold" nodeType="afterEffect">
                                  <p:stCondLst>
                                    <p:cond delay="0"/>
                                  </p:stCondLst>
                                  <p:childTnLst>
                                    <p:set>
                                      <p:cBhvr>
                                        <p:cTn id="22" dur="1" fill="hold">
                                          <p:stCondLst>
                                            <p:cond delay="0"/>
                                          </p:stCondLst>
                                        </p:cTn>
                                        <p:tgtEl>
                                          <p:spTgt spid="71"/>
                                        </p:tgtEl>
                                        <p:attrNameLst>
                                          <p:attrName>style.visibility</p:attrName>
                                        </p:attrNameLst>
                                      </p:cBhvr>
                                      <p:to>
                                        <p:strVal val="visible"/>
                                      </p:to>
                                    </p:set>
                                    <p:animEffect transition="in" filter="wipe(left)">
                                      <p:cBhvr>
                                        <p:cTn id="23" dur="400"/>
                                        <p:tgtEl>
                                          <p:spTgt spid="71"/>
                                        </p:tgtEl>
                                      </p:cBhvr>
                                    </p:animEffect>
                                  </p:childTnLst>
                                </p:cTn>
                              </p:par>
                            </p:childTnLst>
                          </p:cTn>
                        </p:par>
                        <p:par>
                          <p:cTn id="24" fill="hold">
                            <p:stCondLst>
                              <p:cond delay="4500"/>
                            </p:stCondLst>
                            <p:childTnLst>
                              <p:par>
                                <p:cTn id="25" presetID="2" presetClass="entr" presetSubtype="4" fill="hold" nodeType="afterEffect">
                                  <p:stCondLst>
                                    <p:cond delay="0"/>
                                  </p:stCondLst>
                                  <p:childTnLst>
                                    <p:set>
                                      <p:cBhvr>
                                        <p:cTn id="26" dur="1" fill="hold">
                                          <p:stCondLst>
                                            <p:cond delay="0"/>
                                          </p:stCondLst>
                                        </p:cTn>
                                        <p:tgtEl>
                                          <p:spTgt spid="72"/>
                                        </p:tgtEl>
                                        <p:attrNameLst>
                                          <p:attrName>style.visibility</p:attrName>
                                        </p:attrNameLst>
                                      </p:cBhvr>
                                      <p:to>
                                        <p:strVal val="visible"/>
                                      </p:to>
                                    </p:set>
                                    <p:animEffect transition="in" filter="slide(fromBottom)">
                                      <p:cBhvr>
                                        <p:cTn id="27" dur="4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23" grpId="0"/>
      <p:bldP spid="71" grpId="0"/>
      <p:bldP spid="7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DFCF9"/>
          </a:solidFill>
          <a:ln>
            <a:noFill/>
          </a:ln>
        </p:spPr>
      </p:sp>
      <p:sp>
        <p:nvSpPr>
          <p:cNvPr id="3" name="TextBox 3"/>
          <p:cNvSpPr txBox="1"/>
          <p:nvPr/>
        </p:nvSpPr>
        <p:spPr>
          <a:xfrm>
            <a:off x="596265" y="648652"/>
            <a:ext cx="2371613" cy="213360"/>
          </a:xfrm>
          <a:prstGeom prst="rect">
            <a:avLst/>
          </a:prstGeom>
          <a:noFill/>
          <a:ln>
            <a:noFill/>
          </a:ln>
        </p:spPr>
        <p:txBody>
          <a:bodyPr wrap="none" lIns="0" tIns="0" rIns="0" bIns="0" anchor="t" anchorCtr="0">
            <a:spAutoFit/>
          </a:bodyPr>
          <a:lstStyle/>
          <a:p>
            <a:pPr algn="l"/>
            <a:r>
              <a:rPr lang="zh-CN" sz="1050" b="1" dirty="0">
                <a:solidFill>
                  <a:srgbClr val="007583"/>
                </a:solidFill>
                <a:latin typeface="Plus Jakarta Sans"/>
                <a:ea typeface="Microsoft JhengHei"/>
                <a:cs typeface="Plus Jakarta Sans"/>
              </a:rPr>
              <a:t>0-TO-1 FRAMEWORK &amp; USER STORY</a:t>
            </a:r>
          </a:p>
        </p:txBody>
      </p:sp>
      <p:sp>
        <p:nvSpPr>
          <p:cNvPr id="4" name="TextBox 4"/>
          <p:cNvSpPr txBox="1"/>
          <p:nvPr/>
        </p:nvSpPr>
        <p:spPr>
          <a:xfrm>
            <a:off x="582930" y="916305"/>
            <a:ext cx="6639763" cy="426720"/>
          </a:xfrm>
          <a:prstGeom prst="rect">
            <a:avLst/>
          </a:prstGeom>
          <a:noFill/>
          <a:ln>
            <a:noFill/>
          </a:ln>
        </p:spPr>
        <p:txBody>
          <a:bodyPr wrap="none" lIns="0" tIns="0" rIns="0" bIns="0" anchor="t" anchorCtr="0">
            <a:spAutoFit/>
          </a:bodyPr>
          <a:lstStyle/>
          <a:p>
            <a:pPr algn="l"/>
            <a:r>
              <a:rPr lang="zh-CN" sz="2100" b="1" dirty="0">
                <a:solidFill>
                  <a:srgbClr val="171C24"/>
                </a:solidFill>
                <a:latin typeface="Plus Jakarta Sans"/>
                <a:ea typeface="Microsoft JhengHei"/>
                <a:cs typeface="Plus Jakarta Sans"/>
              </a:rPr>
              <a:t>全新產品開發的六頁敘事鏈（以 AI PRD 助理為例）</a:t>
            </a:r>
          </a:p>
        </p:txBody>
      </p:sp>
      <p:grpSp>
        <p:nvGrpSpPr>
          <p:cNvPr id="23" name="Group 23"/>
          <p:cNvGrpSpPr/>
          <p:nvPr/>
        </p:nvGrpSpPr>
        <p:grpSpPr>
          <a:xfrm>
            <a:off x="609600" y="1524000"/>
            <a:ext cx="3619500" cy="4000500"/>
            <a:chOff x="609600" y="1524000"/>
            <a:chExt cx="3619500" cy="4000500"/>
          </a:xfrm>
        </p:grpSpPr>
        <p:sp>
          <p:nvSpPr>
            <p:cNvPr id="5" name="Rectangle 5"/>
            <p:cNvSpPr/>
            <p:nvPr/>
          </p:nvSpPr>
          <p:spPr>
            <a:xfrm>
              <a:off x="609600" y="1524000"/>
              <a:ext cx="3619500" cy="4000500"/>
            </a:xfrm>
            <a:prstGeom prst="roundRect">
              <a:avLst>
                <a:gd name="adj" fmla="val 4211"/>
              </a:avLst>
            </a:prstGeom>
            <a:solidFill>
              <a:srgbClr val="FFFFFF"/>
            </a:solidFill>
            <a:ln w="14288">
              <a:solidFill>
                <a:srgbClr val="E5E3DE"/>
              </a:solidFill>
            </a:ln>
          </p:spPr>
        </p:sp>
        <p:sp>
          <p:nvSpPr>
            <p:cNvPr id="6" name="Rectangle 6"/>
            <p:cNvSpPr/>
            <p:nvPr/>
          </p:nvSpPr>
          <p:spPr>
            <a:xfrm>
              <a:off x="609600" y="1524000"/>
              <a:ext cx="76200" cy="4000500"/>
            </a:xfrm>
            <a:prstGeom prst="roundRect">
              <a:avLst>
                <a:gd name="adj" fmla="val 50000"/>
              </a:avLst>
            </a:prstGeom>
            <a:solidFill>
              <a:srgbClr val="00969D"/>
            </a:solidFill>
            <a:ln>
              <a:noFill/>
            </a:ln>
          </p:spPr>
        </p:sp>
        <p:sp>
          <p:nvSpPr>
            <p:cNvPr id="7" name="Freeform 7"/>
            <p:cNvSpPr/>
            <p:nvPr/>
          </p:nvSpPr>
          <p:spPr>
            <a:xfrm>
              <a:off x="838200" y="1766888"/>
              <a:ext cx="228600" cy="214312"/>
            </a:xfrm>
            <a:custGeom>
              <a:avLst/>
              <a:gdLst/>
              <a:ahLst/>
              <a:cxnLst/>
              <a:rect l="l" t="t" r="r" b="b"/>
              <a:pathLst>
                <a:path w="228600" h="214312">
                  <a:moveTo>
                    <a:pt x="0" y="0"/>
                  </a:moveTo>
                  <a:lnTo>
                    <a:pt x="228600" y="0"/>
                  </a:lnTo>
                  <a:lnTo>
                    <a:pt x="228600" y="171450"/>
                  </a:lnTo>
                  <a:lnTo>
                    <a:pt x="157162" y="171450"/>
                  </a:lnTo>
                  <a:lnTo>
                    <a:pt x="114300" y="214312"/>
                  </a:lnTo>
                  <a:lnTo>
                    <a:pt x="71438" y="171450"/>
                  </a:lnTo>
                  <a:lnTo>
                    <a:pt x="0" y="171450"/>
                  </a:lnTo>
                  <a:lnTo>
                    <a:pt x="0" y="0"/>
                  </a:lnTo>
                  <a:close/>
                </a:path>
              </a:pathLst>
            </a:custGeom>
            <a:solidFill>
              <a:srgbClr val="00969D"/>
            </a:solidFill>
            <a:ln>
              <a:noFill/>
            </a:ln>
          </p:spPr>
        </p:sp>
        <p:sp>
          <p:nvSpPr>
            <p:cNvPr id="8" name="TextBox 8"/>
            <p:cNvSpPr txBox="1"/>
            <p:nvPr/>
          </p:nvSpPr>
          <p:spPr>
            <a:xfrm>
              <a:off x="1163955" y="1778318"/>
              <a:ext cx="2236415" cy="274320"/>
            </a:xfrm>
            <a:prstGeom prst="rect">
              <a:avLst/>
            </a:prstGeom>
            <a:noFill/>
            <a:ln>
              <a:noFill/>
            </a:ln>
          </p:spPr>
          <p:txBody>
            <a:bodyPr wrap="none" lIns="0" tIns="0" rIns="0" bIns="0" anchor="t" anchorCtr="0">
              <a:spAutoFit/>
            </a:bodyPr>
            <a:lstStyle/>
            <a:p>
              <a:pPr algn="l"/>
              <a:r>
                <a:rPr lang="zh-CN" sz="1350" b="1" dirty="0">
                  <a:solidFill>
                    <a:srgbClr val="171C24"/>
                  </a:solidFill>
                  <a:latin typeface="Plus Jakarta Sans"/>
                  <a:ea typeface="Microsoft JhengHei"/>
                  <a:cs typeface="Plus Jakarta Sans"/>
                </a:rPr>
                <a:t>使用者故事 (User Story)</a:t>
              </a:r>
            </a:p>
          </p:txBody>
        </p:sp>
        <p:sp>
          <p:nvSpPr>
            <p:cNvPr id="9" name="TextBox 9"/>
            <p:cNvSpPr txBox="1"/>
            <p:nvPr/>
          </p:nvSpPr>
          <p:spPr>
            <a:xfrm>
              <a:off x="824865" y="2267902"/>
              <a:ext cx="1607118" cy="213360"/>
            </a:xfrm>
            <a:prstGeom prst="rect">
              <a:avLst/>
            </a:prstGeom>
            <a:noFill/>
            <a:ln>
              <a:noFill/>
            </a:ln>
          </p:spPr>
          <p:txBody>
            <a:bodyPr wrap="none" lIns="0" tIns="0" rIns="0" bIns="0" anchor="t" anchorCtr="0">
              <a:spAutoFit/>
            </a:bodyPr>
            <a:lstStyle/>
            <a:p>
              <a:pPr algn="l"/>
              <a:r>
                <a:rPr lang="zh-CN" sz="1050" b="1" dirty="0">
                  <a:solidFill>
                    <a:srgbClr val="007583"/>
                  </a:solidFill>
                  <a:latin typeface="Manrope"/>
                  <a:ea typeface="Microsoft JhengHei"/>
                  <a:cs typeface="Manrope"/>
                </a:rPr>
                <a:t>USER STORY 三段式公式</a:t>
              </a:r>
            </a:p>
          </p:txBody>
        </p:sp>
        <p:sp>
          <p:nvSpPr>
            <p:cNvPr id="10" name="Rectangle 10"/>
            <p:cNvSpPr/>
            <p:nvPr/>
          </p:nvSpPr>
          <p:spPr>
            <a:xfrm>
              <a:off x="838200" y="2571750"/>
              <a:ext cx="3162300" cy="571500"/>
            </a:xfrm>
            <a:prstGeom prst="roundRect">
              <a:avLst>
                <a:gd name="adj" fmla="val 10000"/>
              </a:avLst>
            </a:prstGeom>
            <a:solidFill>
              <a:srgbClr val="F3F2ED"/>
            </a:solidFill>
            <a:ln>
              <a:noFill/>
            </a:ln>
          </p:spPr>
        </p:sp>
        <p:sp>
          <p:nvSpPr>
            <p:cNvPr id="11" name="TextBox 11"/>
            <p:cNvSpPr txBox="1"/>
            <p:nvPr/>
          </p:nvSpPr>
          <p:spPr>
            <a:xfrm>
              <a:off x="940118" y="2695099"/>
              <a:ext cx="2773680" cy="388620"/>
            </a:xfrm>
            <a:prstGeom prst="rect">
              <a:avLst/>
            </a:prstGeom>
            <a:noFill/>
            <a:ln>
              <a:noFill/>
            </a:ln>
          </p:spPr>
          <p:txBody>
            <a:bodyPr wrap="square" lIns="0" tIns="0" rIns="0" bIns="0" anchor="t" anchorCtr="0"/>
            <a:lstStyle/>
            <a:p>
              <a:pPr algn="l">
                <a:lnSpc>
                  <a:spcPts val="1500"/>
                </a:lnSpc>
              </a:pPr>
              <a:r>
                <a:rPr lang="zh-CN" sz="975" dirty="0">
                  <a:solidFill>
                    <a:srgbClr val="171C24"/>
                  </a:solidFill>
                  <a:latin typeface="Manrope"/>
                  <a:ea typeface="Microsoft JhengHei"/>
                  <a:cs typeface="Manrope"/>
                </a:rPr>
                <a:t>身為 [特定使用者角色], 我想要 [進行功能操作],</a:t>
              </a:r>
              <a:r>
                <a:rPr lang="zh-CN" sz="975" dirty="0">
                  <a:solidFill>
                    <a:srgbClr val="171C24"/>
                  </a:solidFill>
                  <a:latin typeface="Manrope"/>
                  <a:ea typeface="Microsoft JhengHei"/>
                  <a:cs typeface="Manrope"/>
                </a:rPr>
                <a:t>以便能 [獲得特定價值 / 解決痛點]。</a:t>
              </a:r>
            </a:p>
          </p:txBody>
        </p:sp>
        <p:sp>
          <p:nvSpPr>
            <p:cNvPr id="12" name="Line 12"/>
            <p:cNvSpPr/>
            <p:nvPr/>
          </p:nvSpPr>
          <p:spPr>
            <a:xfrm>
              <a:off x="838200" y="3333750"/>
              <a:ext cx="3162300" cy="9525"/>
            </a:xfrm>
            <a:custGeom>
              <a:avLst/>
              <a:gdLst/>
              <a:ahLst/>
              <a:cxnLst/>
              <a:rect l="l" t="t" r="r" b="b"/>
              <a:pathLst>
                <a:path w="3162300" h="9525">
                  <a:moveTo>
                    <a:pt x="0" y="0"/>
                  </a:moveTo>
                  <a:lnTo>
                    <a:pt x="3162300" y="0"/>
                  </a:lnTo>
                </a:path>
              </a:pathLst>
            </a:custGeom>
            <a:noFill/>
            <a:ln w="9525">
              <a:solidFill>
                <a:srgbClr val="E5E3DE"/>
              </a:solidFill>
            </a:ln>
          </p:spPr>
        </p:sp>
        <p:sp>
          <p:nvSpPr>
            <p:cNvPr id="13" name="TextBox 13"/>
            <p:cNvSpPr txBox="1"/>
            <p:nvPr/>
          </p:nvSpPr>
          <p:spPr>
            <a:xfrm>
              <a:off x="824865" y="3506152"/>
              <a:ext cx="1864400" cy="213360"/>
            </a:xfrm>
            <a:prstGeom prst="rect">
              <a:avLst/>
            </a:prstGeom>
            <a:noFill/>
            <a:ln>
              <a:noFill/>
            </a:ln>
          </p:spPr>
          <p:txBody>
            <a:bodyPr wrap="none" lIns="0" tIns="0" rIns="0" bIns="0" anchor="t" anchorCtr="0">
              <a:spAutoFit/>
            </a:bodyPr>
            <a:lstStyle/>
            <a:p>
              <a:pPr algn="l"/>
              <a:r>
                <a:rPr lang="zh-CN" sz="1050" b="1" dirty="0">
                  <a:solidFill>
                    <a:srgbClr val="007583"/>
                  </a:solidFill>
                  <a:latin typeface="Manrope"/>
                  <a:ea typeface="Microsoft JhengHei"/>
                  <a:cs typeface="Manrope"/>
                </a:rPr>
                <a:t>本案實務示範 (AI PRD 助理)</a:t>
              </a:r>
            </a:p>
          </p:txBody>
        </p:sp>
        <p:sp>
          <p:nvSpPr>
            <p:cNvPr id="14" name="Rectangle 14"/>
            <p:cNvSpPr/>
            <p:nvPr/>
          </p:nvSpPr>
          <p:spPr>
            <a:xfrm>
              <a:off x="838200" y="3810000"/>
              <a:ext cx="3162300" cy="1485900"/>
            </a:xfrm>
            <a:prstGeom prst="roundRect">
              <a:avLst>
                <a:gd name="adj" fmla="val 5128"/>
              </a:avLst>
            </a:prstGeom>
            <a:solidFill>
              <a:srgbClr val="FDFCF9"/>
            </a:solidFill>
            <a:ln w="9525">
              <a:solidFill>
                <a:srgbClr val="E5E3DE"/>
              </a:solidFill>
            </a:ln>
          </p:spPr>
        </p:sp>
        <p:sp>
          <p:nvSpPr>
            <p:cNvPr id="15" name="TextBox 15"/>
            <p:cNvSpPr txBox="1"/>
            <p:nvPr/>
          </p:nvSpPr>
          <p:spPr>
            <a:xfrm>
              <a:off x="940118" y="3990499"/>
              <a:ext cx="550356" cy="198120"/>
            </a:xfrm>
            <a:prstGeom prst="rect">
              <a:avLst/>
            </a:prstGeom>
            <a:noFill/>
            <a:ln>
              <a:noFill/>
            </a:ln>
          </p:spPr>
          <p:txBody>
            <a:bodyPr wrap="none" lIns="0" tIns="0" rIns="0" bIns="0" anchor="t" anchorCtr="0">
              <a:spAutoFit/>
            </a:bodyPr>
            <a:lstStyle/>
            <a:p>
              <a:pPr algn="l"/>
              <a:r>
                <a:rPr lang="zh-CN" sz="975" b="1" i="1" dirty="0">
                  <a:solidFill>
                    <a:srgbClr val="007583"/>
                  </a:solidFill>
                  <a:latin typeface="Manrope"/>
                  <a:ea typeface="Microsoft JhengHei"/>
                  <a:cs typeface="Manrope"/>
                </a:rPr>
                <a:t>· 角色：</a:t>
              </a:r>
            </a:p>
          </p:txBody>
        </p:sp>
        <p:sp>
          <p:nvSpPr>
            <p:cNvPr id="16" name="TextBox 16"/>
            <p:cNvSpPr txBox="1"/>
            <p:nvPr/>
          </p:nvSpPr>
          <p:spPr>
            <a:xfrm>
              <a:off x="1454468" y="3990499"/>
              <a:ext cx="2066020" cy="198120"/>
            </a:xfrm>
            <a:prstGeom prst="rect">
              <a:avLst/>
            </a:prstGeom>
            <a:noFill/>
            <a:ln>
              <a:noFill/>
            </a:ln>
          </p:spPr>
          <p:txBody>
            <a:bodyPr wrap="none" lIns="0" tIns="0" rIns="0" bIns="0" anchor="t" anchorCtr="0">
              <a:spAutoFit/>
            </a:bodyPr>
            <a:lstStyle/>
            <a:p>
              <a:pPr algn="l"/>
              <a:r>
                <a:rPr lang="zh-CN" sz="975" i="1" dirty="0">
                  <a:solidFill>
                    <a:srgbClr val="171C24"/>
                  </a:solidFill>
                  <a:latin typeface="Manrope"/>
                  <a:ea typeface="Microsoft JhengHei"/>
                  <a:cs typeface="Manrope"/>
                </a:rPr>
                <a:t>初入行或工作超載的產品經理 (PM)</a:t>
              </a:r>
            </a:p>
          </p:txBody>
        </p:sp>
        <p:sp>
          <p:nvSpPr>
            <p:cNvPr id="17" name="TextBox 17"/>
            <p:cNvSpPr txBox="1"/>
            <p:nvPr/>
          </p:nvSpPr>
          <p:spPr>
            <a:xfrm>
              <a:off x="940118" y="4219099"/>
              <a:ext cx="550356" cy="198120"/>
            </a:xfrm>
            <a:prstGeom prst="rect">
              <a:avLst/>
            </a:prstGeom>
            <a:noFill/>
            <a:ln>
              <a:noFill/>
            </a:ln>
          </p:spPr>
          <p:txBody>
            <a:bodyPr wrap="none" lIns="0" tIns="0" rIns="0" bIns="0" anchor="t" anchorCtr="0">
              <a:spAutoFit/>
            </a:bodyPr>
            <a:lstStyle/>
            <a:p>
              <a:pPr algn="l"/>
              <a:r>
                <a:rPr lang="zh-CN" sz="975" b="1" i="1" dirty="0">
                  <a:solidFill>
                    <a:srgbClr val="007583"/>
                  </a:solidFill>
                  <a:latin typeface="Manrope"/>
                  <a:ea typeface="Microsoft JhengHei"/>
                  <a:cs typeface="Manrope"/>
                </a:rPr>
                <a:t>· 操作：</a:t>
              </a:r>
            </a:p>
          </p:txBody>
        </p:sp>
        <p:sp>
          <p:nvSpPr>
            <p:cNvPr id="18" name="TextBox 18"/>
            <p:cNvSpPr txBox="1"/>
            <p:nvPr/>
          </p:nvSpPr>
          <p:spPr>
            <a:xfrm>
              <a:off x="1454468" y="4219099"/>
              <a:ext cx="1838492" cy="198120"/>
            </a:xfrm>
            <a:prstGeom prst="rect">
              <a:avLst/>
            </a:prstGeom>
            <a:noFill/>
            <a:ln>
              <a:noFill/>
            </a:ln>
          </p:spPr>
          <p:txBody>
            <a:bodyPr wrap="none" lIns="0" tIns="0" rIns="0" bIns="0" anchor="t" anchorCtr="0">
              <a:spAutoFit/>
            </a:bodyPr>
            <a:lstStyle/>
            <a:p>
              <a:pPr algn="l"/>
              <a:r>
                <a:rPr lang="zh-CN" sz="975" i="1" dirty="0">
                  <a:solidFill>
                    <a:srgbClr val="171C24"/>
                  </a:solidFill>
                  <a:latin typeface="Manrope"/>
                  <a:ea typeface="Microsoft JhengHei"/>
                  <a:cs typeface="Manrope"/>
                </a:rPr>
                <a:t>輸入想法後自動生成結構化 PRD</a:t>
              </a:r>
            </a:p>
          </p:txBody>
        </p:sp>
        <p:sp>
          <p:nvSpPr>
            <p:cNvPr id="19" name="TextBox 19"/>
            <p:cNvSpPr txBox="1"/>
            <p:nvPr/>
          </p:nvSpPr>
          <p:spPr>
            <a:xfrm>
              <a:off x="940118" y="4447699"/>
              <a:ext cx="550356" cy="198120"/>
            </a:xfrm>
            <a:prstGeom prst="rect">
              <a:avLst/>
            </a:prstGeom>
            <a:noFill/>
            <a:ln>
              <a:noFill/>
            </a:ln>
          </p:spPr>
          <p:txBody>
            <a:bodyPr wrap="none" lIns="0" tIns="0" rIns="0" bIns="0" anchor="t" anchorCtr="0">
              <a:spAutoFit/>
            </a:bodyPr>
            <a:lstStyle/>
            <a:p>
              <a:pPr algn="l"/>
              <a:r>
                <a:rPr lang="zh-CN" sz="975" b="1" i="1" dirty="0">
                  <a:solidFill>
                    <a:srgbClr val="007583"/>
                  </a:solidFill>
                  <a:latin typeface="Manrope"/>
                  <a:ea typeface="Microsoft JhengHei"/>
                  <a:cs typeface="Manrope"/>
                </a:rPr>
                <a:t>· 價值：</a:t>
              </a:r>
            </a:p>
          </p:txBody>
        </p:sp>
        <p:sp>
          <p:nvSpPr>
            <p:cNvPr id="20" name="TextBox 20"/>
            <p:cNvSpPr txBox="1"/>
            <p:nvPr/>
          </p:nvSpPr>
          <p:spPr>
            <a:xfrm>
              <a:off x="1454468" y="4447699"/>
              <a:ext cx="1844992" cy="198120"/>
            </a:xfrm>
            <a:prstGeom prst="rect">
              <a:avLst/>
            </a:prstGeom>
            <a:noFill/>
            <a:ln>
              <a:noFill/>
            </a:ln>
          </p:spPr>
          <p:txBody>
            <a:bodyPr wrap="none" lIns="0" tIns="0" rIns="0" bIns="0" anchor="t" anchorCtr="0">
              <a:spAutoFit/>
            </a:bodyPr>
            <a:lstStyle/>
            <a:p>
              <a:pPr algn="l"/>
              <a:r>
                <a:rPr lang="zh-CN" sz="975" i="1" dirty="0">
                  <a:solidFill>
                    <a:srgbClr val="171C24"/>
                  </a:solidFill>
                  <a:latin typeface="Manrope"/>
                  <a:ea typeface="Microsoft JhengHei"/>
                  <a:cs typeface="Manrope"/>
                </a:rPr>
                <a:t>克服寫作阻力與空白文檔焦慮，</a:t>
              </a:r>
            </a:p>
          </p:txBody>
        </p:sp>
        <p:sp>
          <p:nvSpPr>
            <p:cNvPr id="21" name="TextBox 21"/>
            <p:cNvSpPr txBox="1"/>
            <p:nvPr/>
          </p:nvSpPr>
          <p:spPr>
            <a:xfrm>
              <a:off x="1454468" y="4638199"/>
              <a:ext cx="1714976" cy="198120"/>
            </a:xfrm>
            <a:prstGeom prst="rect">
              <a:avLst/>
            </a:prstGeom>
            <a:noFill/>
            <a:ln>
              <a:noFill/>
            </a:ln>
          </p:spPr>
          <p:txBody>
            <a:bodyPr wrap="none" lIns="0" tIns="0" rIns="0" bIns="0" anchor="t" anchorCtr="0">
              <a:spAutoFit/>
            </a:bodyPr>
            <a:lstStyle/>
            <a:p>
              <a:pPr algn="l"/>
              <a:r>
                <a:rPr lang="zh-CN" sz="975" i="1" dirty="0">
                  <a:solidFill>
                    <a:srgbClr val="171C24"/>
                  </a:solidFill>
                  <a:latin typeface="Manrope"/>
                  <a:ea typeface="Microsoft JhengHei"/>
                  <a:cs typeface="Manrope"/>
                </a:rPr>
                <a:t>將工作重心轉移至用戶研究與</a:t>
              </a:r>
            </a:p>
          </p:txBody>
        </p:sp>
        <p:sp>
          <p:nvSpPr>
            <p:cNvPr id="22" name="TextBox 22"/>
            <p:cNvSpPr txBox="1"/>
            <p:nvPr/>
          </p:nvSpPr>
          <p:spPr>
            <a:xfrm>
              <a:off x="1454468" y="4828699"/>
              <a:ext cx="1064895" cy="198120"/>
            </a:xfrm>
            <a:prstGeom prst="rect">
              <a:avLst/>
            </a:prstGeom>
            <a:noFill/>
            <a:ln>
              <a:noFill/>
            </a:ln>
          </p:spPr>
          <p:txBody>
            <a:bodyPr wrap="none" lIns="0" tIns="0" rIns="0" bIns="0" anchor="t" anchorCtr="0">
              <a:spAutoFit/>
            </a:bodyPr>
            <a:lstStyle/>
            <a:p>
              <a:pPr algn="l"/>
              <a:r>
                <a:rPr lang="zh-CN" sz="975" i="1" dirty="0">
                  <a:solidFill>
                    <a:srgbClr val="171C24"/>
                  </a:solidFill>
                  <a:latin typeface="Manrope"/>
                  <a:ea typeface="Microsoft JhengHei"/>
                  <a:cs typeface="Manrope"/>
                </a:rPr>
                <a:t>跨團隊協作溝通。</a:t>
              </a:r>
            </a:p>
          </p:txBody>
        </p:sp>
      </p:grpSp>
      <p:grpSp>
        <p:nvGrpSpPr>
          <p:cNvPr id="65" name="Group 65"/>
          <p:cNvGrpSpPr/>
          <p:nvPr/>
        </p:nvGrpSpPr>
        <p:grpSpPr>
          <a:xfrm>
            <a:off x="4457700" y="1524000"/>
            <a:ext cx="7124700" cy="4000500"/>
            <a:chOff x="4457700" y="1524000"/>
            <a:chExt cx="7124700" cy="4000500"/>
          </a:xfrm>
        </p:grpSpPr>
        <p:sp>
          <p:nvSpPr>
            <p:cNvPr id="24" name="Rectangle 24"/>
            <p:cNvSpPr/>
            <p:nvPr/>
          </p:nvSpPr>
          <p:spPr>
            <a:xfrm>
              <a:off x="4457700" y="1524000"/>
              <a:ext cx="7124700" cy="4000500"/>
            </a:xfrm>
            <a:prstGeom prst="roundRect">
              <a:avLst>
                <a:gd name="adj" fmla="val 3810"/>
              </a:avLst>
            </a:prstGeom>
            <a:solidFill>
              <a:srgbClr val="FFFFFF"/>
            </a:solidFill>
            <a:ln w="14288">
              <a:solidFill>
                <a:srgbClr val="E5E3DE"/>
              </a:solidFill>
            </a:ln>
          </p:spPr>
        </p:sp>
        <p:sp>
          <p:nvSpPr>
            <p:cNvPr id="25" name="Rectangle 25"/>
            <p:cNvSpPr/>
            <p:nvPr/>
          </p:nvSpPr>
          <p:spPr>
            <a:xfrm>
              <a:off x="4457700" y="1524000"/>
              <a:ext cx="7124700" cy="381000"/>
            </a:xfrm>
            <a:prstGeom prst="roundRect">
              <a:avLst>
                <a:gd name="adj" fmla="val 40000"/>
              </a:avLst>
            </a:prstGeom>
            <a:solidFill>
              <a:srgbClr val="007583"/>
            </a:solidFill>
            <a:ln>
              <a:noFill/>
            </a:ln>
          </p:spPr>
        </p:sp>
        <p:sp>
          <p:nvSpPr>
            <p:cNvPr id="26" name="Rectangle 26"/>
            <p:cNvSpPr/>
            <p:nvPr/>
          </p:nvSpPr>
          <p:spPr>
            <a:xfrm>
              <a:off x="4457700" y="1714500"/>
              <a:ext cx="7124700" cy="190500"/>
            </a:xfrm>
            <a:prstGeom prst="rect">
              <a:avLst/>
            </a:prstGeom>
            <a:solidFill>
              <a:srgbClr val="007583"/>
            </a:solidFill>
            <a:ln>
              <a:noFill/>
            </a:ln>
          </p:spPr>
        </p:sp>
        <p:sp>
          <p:nvSpPr>
            <p:cNvPr id="27" name="TextBox 27"/>
            <p:cNvSpPr txBox="1"/>
            <p:nvPr/>
          </p:nvSpPr>
          <p:spPr>
            <a:xfrm>
              <a:off x="4672965" y="1658302"/>
              <a:ext cx="320707"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Plus Jakarta Sans"/>
                  <a:ea typeface="Microsoft JhengHei"/>
                  <a:cs typeface="Plus Jakarta Sans"/>
                </a:rPr>
                <a:t>頁數</a:t>
              </a:r>
            </a:p>
          </p:txBody>
        </p:sp>
        <p:sp>
          <p:nvSpPr>
            <p:cNvPr id="28" name="TextBox 28"/>
            <p:cNvSpPr txBox="1"/>
            <p:nvPr/>
          </p:nvSpPr>
          <p:spPr>
            <a:xfrm>
              <a:off x="5206365" y="1658302"/>
              <a:ext cx="2290753"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Plus Jakarta Sans"/>
                  <a:ea typeface="Microsoft JhengHei"/>
                  <a:cs typeface="Plus Jakarta Sans"/>
                </a:rPr>
                <a:t>投影片結論標題 (單一結論句主張)</a:t>
              </a:r>
            </a:p>
          </p:txBody>
        </p:sp>
        <p:sp>
          <p:nvSpPr>
            <p:cNvPr id="29" name="TextBox 29"/>
            <p:cNvSpPr txBox="1"/>
            <p:nvPr/>
          </p:nvSpPr>
          <p:spPr>
            <a:xfrm>
              <a:off x="9206865" y="1658302"/>
              <a:ext cx="1408643"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Plus Jakarta Sans"/>
                  <a:ea typeface="Microsoft JhengHei"/>
                  <a:cs typeface="Plus Jakarta Sans"/>
                </a:rPr>
                <a:t>核心呈現內容 (焦點)</a:t>
              </a:r>
            </a:p>
          </p:txBody>
        </p:sp>
        <p:grpSp>
          <p:nvGrpSpPr>
            <p:cNvPr id="35" name="Group 35"/>
            <p:cNvGrpSpPr/>
            <p:nvPr/>
          </p:nvGrpSpPr>
          <p:grpSpPr>
            <a:xfrm>
              <a:off x="4457700" y="1905000"/>
              <a:ext cx="7124700" cy="581025"/>
              <a:chOff x="4457700" y="1905000"/>
              <a:chExt cx="7124700" cy="581025"/>
            </a:xfrm>
          </p:grpSpPr>
          <p:sp>
            <p:nvSpPr>
              <p:cNvPr id="30" name="Rectangle 30"/>
              <p:cNvSpPr/>
              <p:nvPr/>
            </p:nvSpPr>
            <p:spPr>
              <a:xfrm>
                <a:off x="4457700" y="1905000"/>
                <a:ext cx="7124700" cy="571500"/>
              </a:xfrm>
              <a:prstGeom prst="rect">
                <a:avLst/>
              </a:prstGeom>
              <a:solidFill>
                <a:srgbClr val="FFFFFF"/>
              </a:solidFill>
              <a:ln>
                <a:noFill/>
              </a:ln>
            </p:spPr>
          </p:sp>
          <p:sp>
            <p:nvSpPr>
              <p:cNvPr id="31" name="TextBox 31"/>
              <p:cNvSpPr txBox="1"/>
              <p:nvPr/>
            </p:nvSpPr>
            <p:spPr>
              <a:xfrm>
                <a:off x="4673918" y="2133124"/>
                <a:ext cx="447968" cy="198120"/>
              </a:xfrm>
              <a:prstGeom prst="rect">
                <a:avLst/>
              </a:prstGeom>
              <a:noFill/>
              <a:ln>
                <a:noFill/>
              </a:ln>
            </p:spPr>
            <p:txBody>
              <a:bodyPr wrap="none" lIns="0" tIns="0" rIns="0" bIns="0" anchor="t" anchorCtr="0">
                <a:spAutoFit/>
              </a:bodyPr>
              <a:lstStyle/>
              <a:p>
                <a:pPr algn="l"/>
                <a:r>
                  <a:rPr lang="zh-CN" sz="975" b="1" dirty="0">
                    <a:solidFill>
                      <a:srgbClr val="007583"/>
                    </a:solidFill>
                    <a:latin typeface="Manrope"/>
                    <a:ea typeface="Microsoft JhengHei"/>
                    <a:cs typeface="Manrope"/>
                  </a:rPr>
                  <a:t>Slide 1</a:t>
                </a:r>
              </a:p>
            </p:txBody>
          </p:sp>
          <p:sp>
            <p:nvSpPr>
              <p:cNvPr id="32" name="TextBox 32"/>
              <p:cNvSpPr txBox="1"/>
              <p:nvPr/>
            </p:nvSpPr>
            <p:spPr>
              <a:xfrm>
                <a:off x="5207318" y="2133124"/>
                <a:ext cx="3574209" cy="198120"/>
              </a:xfrm>
              <a:prstGeom prst="rect">
                <a:avLst/>
              </a:prstGeom>
              <a:noFill/>
              <a:ln>
                <a:noFill/>
              </a:ln>
            </p:spPr>
            <p:txBody>
              <a:bodyPr wrap="none" lIns="0" tIns="0" rIns="0" bIns="0" anchor="t" anchorCtr="0">
                <a:spAutoFit/>
              </a:bodyPr>
              <a:lstStyle/>
              <a:p>
                <a:pPr algn="l"/>
                <a:r>
                  <a:rPr lang="zh-CN" sz="975" b="1" dirty="0">
                    <a:solidFill>
                      <a:srgbClr val="171C24"/>
                    </a:solidFill>
                    <a:latin typeface="Manrope"/>
                    <a:ea typeface="Microsoft JhengHei"/>
                    <a:cs typeface="Manrope"/>
                  </a:rPr>
                  <a:t>產品經理在起草新產品需求時，常面臨嚴重的空白起步焦慮</a:t>
                </a:r>
              </a:p>
            </p:txBody>
          </p:sp>
          <p:sp>
            <p:nvSpPr>
              <p:cNvPr id="33" name="TextBox 33"/>
              <p:cNvSpPr txBox="1"/>
              <p:nvPr/>
            </p:nvSpPr>
            <p:spPr>
              <a:xfrm>
                <a:off x="9207818" y="2133124"/>
                <a:ext cx="1975009" cy="198120"/>
              </a:xfrm>
              <a:prstGeom prst="rect">
                <a:avLst/>
              </a:prstGeom>
              <a:noFill/>
              <a:ln>
                <a:noFill/>
              </a:ln>
            </p:spPr>
            <p:txBody>
              <a:bodyPr wrap="none" lIns="0" tIns="0" rIns="0" bIns="0" anchor="t" anchorCtr="0">
                <a:spAutoFit/>
              </a:bodyPr>
              <a:lstStyle/>
              <a:p>
                <a:pPr algn="l"/>
                <a:r>
                  <a:rPr lang="zh-CN" sz="975" dirty="0">
                    <a:solidFill>
                      <a:srgbClr val="525864"/>
                    </a:solidFill>
                    <a:latin typeface="Manrope"/>
                    <a:ea typeface="Microsoft JhengHei"/>
                    <a:cs typeface="Manrope"/>
                  </a:rPr>
                  <a:t>以故事性痛點開場，帶出寫作瓶頸</a:t>
                </a:r>
              </a:p>
            </p:txBody>
          </p:sp>
          <p:sp>
            <p:nvSpPr>
              <p:cNvPr id="34" name="Line 34"/>
              <p:cNvSpPr/>
              <p:nvPr/>
            </p:nvSpPr>
            <p:spPr>
              <a:xfrm>
                <a:off x="4457700" y="2476500"/>
                <a:ext cx="7124700" cy="9525"/>
              </a:xfrm>
              <a:custGeom>
                <a:avLst/>
                <a:gdLst/>
                <a:ahLst/>
                <a:cxnLst/>
                <a:rect l="l" t="t" r="r" b="b"/>
                <a:pathLst>
                  <a:path w="7124700" h="9525">
                    <a:moveTo>
                      <a:pt x="0" y="0"/>
                    </a:moveTo>
                    <a:lnTo>
                      <a:pt x="7124700" y="0"/>
                    </a:lnTo>
                  </a:path>
                </a:pathLst>
              </a:custGeom>
              <a:noFill/>
              <a:ln w="9525">
                <a:solidFill>
                  <a:srgbClr val="E5E3DE"/>
                </a:solidFill>
              </a:ln>
            </p:spPr>
          </p:sp>
        </p:grpSp>
        <p:grpSp>
          <p:nvGrpSpPr>
            <p:cNvPr id="41" name="Group 41"/>
            <p:cNvGrpSpPr/>
            <p:nvPr/>
          </p:nvGrpSpPr>
          <p:grpSpPr>
            <a:xfrm>
              <a:off x="4457700" y="2476500"/>
              <a:ext cx="7124700" cy="581025"/>
              <a:chOff x="4457700" y="2476500"/>
              <a:chExt cx="7124700" cy="581025"/>
            </a:xfrm>
          </p:grpSpPr>
          <p:sp>
            <p:nvSpPr>
              <p:cNvPr id="36" name="Rectangle 36"/>
              <p:cNvSpPr/>
              <p:nvPr/>
            </p:nvSpPr>
            <p:spPr>
              <a:xfrm>
                <a:off x="4457700" y="2476500"/>
                <a:ext cx="7124700" cy="571500"/>
              </a:xfrm>
              <a:prstGeom prst="rect">
                <a:avLst/>
              </a:prstGeom>
              <a:solidFill>
                <a:srgbClr val="F3F2ED"/>
              </a:solidFill>
              <a:ln>
                <a:noFill/>
              </a:ln>
            </p:spPr>
          </p:sp>
          <p:sp>
            <p:nvSpPr>
              <p:cNvPr id="37" name="TextBox 37"/>
              <p:cNvSpPr txBox="1"/>
              <p:nvPr/>
            </p:nvSpPr>
            <p:spPr>
              <a:xfrm>
                <a:off x="4673918" y="2704624"/>
                <a:ext cx="447968" cy="198120"/>
              </a:xfrm>
              <a:prstGeom prst="rect">
                <a:avLst/>
              </a:prstGeom>
              <a:noFill/>
              <a:ln>
                <a:noFill/>
              </a:ln>
            </p:spPr>
            <p:txBody>
              <a:bodyPr wrap="none" lIns="0" tIns="0" rIns="0" bIns="0" anchor="t" anchorCtr="0">
                <a:spAutoFit/>
              </a:bodyPr>
              <a:lstStyle/>
              <a:p>
                <a:pPr algn="l"/>
                <a:r>
                  <a:rPr lang="zh-CN" sz="975" b="1" dirty="0">
                    <a:solidFill>
                      <a:srgbClr val="007583"/>
                    </a:solidFill>
                    <a:latin typeface="Manrope"/>
                    <a:ea typeface="Microsoft JhengHei"/>
                    <a:cs typeface="Manrope"/>
                  </a:rPr>
                  <a:t>Slide 2</a:t>
                </a:r>
              </a:p>
            </p:txBody>
          </p:sp>
          <p:sp>
            <p:nvSpPr>
              <p:cNvPr id="38" name="TextBox 38"/>
              <p:cNvSpPr txBox="1"/>
              <p:nvPr/>
            </p:nvSpPr>
            <p:spPr>
              <a:xfrm>
                <a:off x="5207318" y="2704624"/>
                <a:ext cx="3437692" cy="198120"/>
              </a:xfrm>
              <a:prstGeom prst="rect">
                <a:avLst/>
              </a:prstGeom>
              <a:noFill/>
              <a:ln>
                <a:noFill/>
              </a:ln>
            </p:spPr>
            <p:txBody>
              <a:bodyPr wrap="none" lIns="0" tIns="0" rIns="0" bIns="0" anchor="t" anchorCtr="0">
                <a:spAutoFit/>
              </a:bodyPr>
              <a:lstStyle/>
              <a:p>
                <a:pPr algn="l"/>
                <a:r>
                  <a:rPr lang="zh-CN" sz="975" b="1" dirty="0">
                    <a:solidFill>
                      <a:srgbClr val="171C24"/>
                    </a:solidFill>
                    <a:latin typeface="Manrope"/>
                    <a:ea typeface="Microsoft JhengHei"/>
                    <a:cs typeface="Manrope"/>
                  </a:rPr>
                  <a:t>深入探討起步焦慮的本質與當前手動撰寫的工作效率瓶頸</a:t>
                </a:r>
              </a:p>
            </p:txBody>
          </p:sp>
          <p:sp>
            <p:nvSpPr>
              <p:cNvPr id="39" name="TextBox 39"/>
              <p:cNvSpPr txBox="1"/>
              <p:nvPr/>
            </p:nvSpPr>
            <p:spPr>
              <a:xfrm>
                <a:off x="9207818" y="2704624"/>
                <a:ext cx="1844992" cy="198120"/>
              </a:xfrm>
              <a:prstGeom prst="rect">
                <a:avLst/>
              </a:prstGeom>
              <a:noFill/>
              <a:ln>
                <a:noFill/>
              </a:ln>
            </p:spPr>
            <p:txBody>
              <a:bodyPr wrap="none" lIns="0" tIns="0" rIns="0" bIns="0" anchor="t" anchorCtr="0">
                <a:spAutoFit/>
              </a:bodyPr>
              <a:lstStyle/>
              <a:p>
                <a:pPr algn="l"/>
                <a:r>
                  <a:rPr lang="zh-CN" sz="975" dirty="0">
                    <a:solidFill>
                      <a:srgbClr val="525864"/>
                    </a:solidFill>
                    <a:latin typeface="Manrope"/>
                    <a:ea typeface="Microsoft JhengHei"/>
                    <a:cs typeface="Manrope"/>
                  </a:rPr>
                  <a:t>問題探索與定性痛點的細緻分析</a:t>
                </a:r>
              </a:p>
            </p:txBody>
          </p:sp>
          <p:sp>
            <p:nvSpPr>
              <p:cNvPr id="40" name="Line 40"/>
              <p:cNvSpPr/>
              <p:nvPr/>
            </p:nvSpPr>
            <p:spPr>
              <a:xfrm>
                <a:off x="4457700" y="3048000"/>
                <a:ext cx="7124700" cy="9525"/>
              </a:xfrm>
              <a:custGeom>
                <a:avLst/>
                <a:gdLst/>
                <a:ahLst/>
                <a:cxnLst/>
                <a:rect l="l" t="t" r="r" b="b"/>
                <a:pathLst>
                  <a:path w="7124700" h="9525">
                    <a:moveTo>
                      <a:pt x="0" y="0"/>
                    </a:moveTo>
                    <a:lnTo>
                      <a:pt x="7124700" y="0"/>
                    </a:lnTo>
                  </a:path>
                </a:pathLst>
              </a:custGeom>
              <a:noFill/>
              <a:ln w="9525">
                <a:solidFill>
                  <a:srgbClr val="E5E3DE"/>
                </a:solidFill>
              </a:ln>
            </p:spPr>
          </p:sp>
        </p:grpSp>
        <p:grpSp>
          <p:nvGrpSpPr>
            <p:cNvPr id="47" name="Group 47"/>
            <p:cNvGrpSpPr/>
            <p:nvPr/>
          </p:nvGrpSpPr>
          <p:grpSpPr>
            <a:xfrm>
              <a:off x="4457700" y="3048000"/>
              <a:ext cx="7124700" cy="581025"/>
              <a:chOff x="4457700" y="3048000"/>
              <a:chExt cx="7124700" cy="581025"/>
            </a:xfrm>
          </p:grpSpPr>
          <p:sp>
            <p:nvSpPr>
              <p:cNvPr id="42" name="Rectangle 42"/>
              <p:cNvSpPr/>
              <p:nvPr/>
            </p:nvSpPr>
            <p:spPr>
              <a:xfrm>
                <a:off x="4457700" y="3048000"/>
                <a:ext cx="7124700" cy="571500"/>
              </a:xfrm>
              <a:prstGeom prst="rect">
                <a:avLst/>
              </a:prstGeom>
              <a:solidFill>
                <a:srgbClr val="FFFFFF"/>
              </a:solidFill>
              <a:ln>
                <a:noFill/>
              </a:ln>
            </p:spPr>
          </p:sp>
          <p:sp>
            <p:nvSpPr>
              <p:cNvPr id="43" name="TextBox 43"/>
              <p:cNvSpPr txBox="1"/>
              <p:nvPr/>
            </p:nvSpPr>
            <p:spPr>
              <a:xfrm>
                <a:off x="4673918" y="3276124"/>
                <a:ext cx="447968" cy="198120"/>
              </a:xfrm>
              <a:prstGeom prst="rect">
                <a:avLst/>
              </a:prstGeom>
              <a:noFill/>
              <a:ln>
                <a:noFill/>
              </a:ln>
            </p:spPr>
            <p:txBody>
              <a:bodyPr wrap="none" lIns="0" tIns="0" rIns="0" bIns="0" anchor="t" anchorCtr="0">
                <a:spAutoFit/>
              </a:bodyPr>
              <a:lstStyle/>
              <a:p>
                <a:pPr algn="l"/>
                <a:r>
                  <a:rPr lang="zh-CN" sz="975" b="1" dirty="0">
                    <a:solidFill>
                      <a:srgbClr val="007583"/>
                    </a:solidFill>
                    <a:latin typeface="Manrope"/>
                    <a:ea typeface="Microsoft JhengHei"/>
                    <a:cs typeface="Manrope"/>
                  </a:rPr>
                  <a:t>Slide 3</a:t>
                </a:r>
              </a:p>
            </p:txBody>
          </p:sp>
          <p:sp>
            <p:nvSpPr>
              <p:cNvPr id="44" name="TextBox 44"/>
              <p:cNvSpPr txBox="1"/>
              <p:nvPr/>
            </p:nvSpPr>
            <p:spPr>
              <a:xfrm>
                <a:off x="5207318" y="3276124"/>
                <a:ext cx="3847243" cy="198120"/>
              </a:xfrm>
              <a:prstGeom prst="rect">
                <a:avLst/>
              </a:prstGeom>
              <a:noFill/>
              <a:ln>
                <a:noFill/>
              </a:ln>
            </p:spPr>
            <p:txBody>
              <a:bodyPr wrap="none" lIns="0" tIns="0" rIns="0" bIns="0" anchor="t" anchorCtr="0">
                <a:spAutoFit/>
              </a:bodyPr>
              <a:lstStyle/>
              <a:p>
                <a:pPr algn="l"/>
                <a:r>
                  <a:rPr lang="zh-CN" sz="975" b="1" dirty="0">
                    <a:solidFill>
                      <a:srgbClr val="171C24"/>
                    </a:solidFill>
                    <a:latin typeface="Manrope"/>
                    <a:ea typeface="Microsoft JhengHei"/>
                    <a:cs typeface="Manrope"/>
                  </a:rPr>
                  <a:t>目標用戶：面臨高頻寫作壓力卻缺乏模板引導的初中階產品經理</a:t>
                </a:r>
              </a:p>
            </p:txBody>
          </p:sp>
          <p:sp>
            <p:nvSpPr>
              <p:cNvPr id="45" name="TextBox 45"/>
              <p:cNvSpPr txBox="1"/>
              <p:nvPr/>
            </p:nvSpPr>
            <p:spPr>
              <a:xfrm>
                <a:off x="9207818" y="3276124"/>
                <a:ext cx="1714976" cy="198120"/>
              </a:xfrm>
              <a:prstGeom prst="rect">
                <a:avLst/>
              </a:prstGeom>
              <a:noFill/>
              <a:ln>
                <a:noFill/>
              </a:ln>
            </p:spPr>
            <p:txBody>
              <a:bodyPr wrap="none" lIns="0" tIns="0" rIns="0" bIns="0" anchor="t" anchorCtr="0">
                <a:spAutoFit/>
              </a:bodyPr>
              <a:lstStyle/>
              <a:p>
                <a:pPr algn="l"/>
                <a:r>
                  <a:rPr lang="zh-CN" sz="975" dirty="0">
                    <a:solidFill>
                      <a:srgbClr val="525864"/>
                    </a:solidFill>
                    <a:latin typeface="Manrope"/>
                    <a:ea typeface="Microsoft JhengHei"/>
                    <a:cs typeface="Manrope"/>
                  </a:rPr>
                  <a:t>精確定位目標族群與使用情境</a:t>
                </a:r>
              </a:p>
            </p:txBody>
          </p:sp>
          <p:sp>
            <p:nvSpPr>
              <p:cNvPr id="46" name="Line 46"/>
              <p:cNvSpPr/>
              <p:nvPr/>
            </p:nvSpPr>
            <p:spPr>
              <a:xfrm>
                <a:off x="4457700" y="3619500"/>
                <a:ext cx="7124700" cy="9525"/>
              </a:xfrm>
              <a:custGeom>
                <a:avLst/>
                <a:gdLst/>
                <a:ahLst/>
                <a:cxnLst/>
                <a:rect l="l" t="t" r="r" b="b"/>
                <a:pathLst>
                  <a:path w="7124700" h="9525">
                    <a:moveTo>
                      <a:pt x="0" y="0"/>
                    </a:moveTo>
                    <a:lnTo>
                      <a:pt x="7124700" y="0"/>
                    </a:lnTo>
                  </a:path>
                </a:pathLst>
              </a:custGeom>
              <a:noFill/>
              <a:ln w="9525">
                <a:solidFill>
                  <a:srgbClr val="E5E3DE"/>
                </a:solidFill>
              </a:ln>
            </p:spPr>
          </p:sp>
        </p:grpSp>
        <p:grpSp>
          <p:nvGrpSpPr>
            <p:cNvPr id="53" name="Group 53"/>
            <p:cNvGrpSpPr/>
            <p:nvPr/>
          </p:nvGrpSpPr>
          <p:grpSpPr>
            <a:xfrm>
              <a:off x="4457700" y="3619500"/>
              <a:ext cx="7124700" cy="581025"/>
              <a:chOff x="4457700" y="3619500"/>
              <a:chExt cx="7124700" cy="581025"/>
            </a:xfrm>
          </p:grpSpPr>
          <p:sp>
            <p:nvSpPr>
              <p:cNvPr id="48" name="Rectangle 48"/>
              <p:cNvSpPr/>
              <p:nvPr/>
            </p:nvSpPr>
            <p:spPr>
              <a:xfrm>
                <a:off x="4457700" y="3619500"/>
                <a:ext cx="7124700" cy="571500"/>
              </a:xfrm>
              <a:prstGeom prst="rect">
                <a:avLst/>
              </a:prstGeom>
              <a:solidFill>
                <a:srgbClr val="F3F2ED"/>
              </a:solidFill>
              <a:ln>
                <a:noFill/>
              </a:ln>
            </p:spPr>
          </p:sp>
          <p:sp>
            <p:nvSpPr>
              <p:cNvPr id="49" name="TextBox 49"/>
              <p:cNvSpPr txBox="1"/>
              <p:nvPr/>
            </p:nvSpPr>
            <p:spPr>
              <a:xfrm>
                <a:off x="4673918" y="3847624"/>
                <a:ext cx="447968" cy="198120"/>
              </a:xfrm>
              <a:prstGeom prst="rect">
                <a:avLst/>
              </a:prstGeom>
              <a:noFill/>
              <a:ln>
                <a:noFill/>
              </a:ln>
            </p:spPr>
            <p:txBody>
              <a:bodyPr wrap="none" lIns="0" tIns="0" rIns="0" bIns="0" anchor="t" anchorCtr="0">
                <a:spAutoFit/>
              </a:bodyPr>
              <a:lstStyle/>
              <a:p>
                <a:pPr algn="l"/>
                <a:r>
                  <a:rPr lang="zh-CN" sz="975" b="1" dirty="0">
                    <a:solidFill>
                      <a:srgbClr val="007583"/>
                    </a:solidFill>
                    <a:latin typeface="Manrope"/>
                    <a:ea typeface="Microsoft JhengHei"/>
                    <a:cs typeface="Manrope"/>
                  </a:rPr>
                  <a:t>Slide 4</a:t>
                </a:r>
              </a:p>
            </p:txBody>
          </p:sp>
          <p:sp>
            <p:nvSpPr>
              <p:cNvPr id="50" name="TextBox 50"/>
              <p:cNvSpPr txBox="1"/>
              <p:nvPr/>
            </p:nvSpPr>
            <p:spPr>
              <a:xfrm>
                <a:off x="5207318" y="3847624"/>
                <a:ext cx="3710726" cy="198120"/>
              </a:xfrm>
              <a:prstGeom prst="rect">
                <a:avLst/>
              </a:prstGeom>
              <a:noFill/>
              <a:ln>
                <a:noFill/>
              </a:ln>
            </p:spPr>
            <p:txBody>
              <a:bodyPr wrap="none" lIns="0" tIns="0" rIns="0" bIns="0" anchor="t" anchorCtr="0">
                <a:spAutoFit/>
              </a:bodyPr>
              <a:lstStyle/>
              <a:p>
                <a:pPr algn="l"/>
                <a:r>
                  <a:rPr lang="zh-CN" sz="975" b="1" dirty="0">
                    <a:solidFill>
                      <a:srgbClr val="171C24"/>
                    </a:solidFill>
                    <a:latin typeface="Manrope"/>
                    <a:ea typeface="Microsoft JhengHei"/>
                    <a:cs typeface="Manrope"/>
                  </a:rPr>
                  <a:t>成功定義：讓產品經理從輸入想法到首份草稿縮短至十分鐘內</a:t>
                </a:r>
              </a:p>
            </p:txBody>
          </p:sp>
          <p:sp>
            <p:nvSpPr>
              <p:cNvPr id="51" name="TextBox 51"/>
              <p:cNvSpPr txBox="1"/>
              <p:nvPr/>
            </p:nvSpPr>
            <p:spPr>
              <a:xfrm>
                <a:off x="9207818" y="3847624"/>
                <a:ext cx="2176534" cy="198120"/>
              </a:xfrm>
              <a:prstGeom prst="rect">
                <a:avLst/>
              </a:prstGeom>
              <a:noFill/>
              <a:ln>
                <a:noFill/>
              </a:ln>
            </p:spPr>
            <p:txBody>
              <a:bodyPr wrap="none" lIns="0" tIns="0" rIns="0" bIns="0" anchor="t" anchorCtr="0">
                <a:spAutoFit/>
              </a:bodyPr>
              <a:lstStyle/>
              <a:p>
                <a:pPr algn="l"/>
                <a:r>
                  <a:rPr lang="zh-CN" sz="975" dirty="0">
                    <a:solidFill>
                      <a:srgbClr val="525864"/>
                    </a:solidFill>
                    <a:latin typeface="Manrope"/>
                    <a:ea typeface="Microsoft JhengHei"/>
                    <a:cs typeface="Manrope"/>
                  </a:rPr>
                  <a:t>制定成功定義，橋接上述 User Story</a:t>
                </a:r>
              </a:p>
            </p:txBody>
          </p:sp>
          <p:sp>
            <p:nvSpPr>
              <p:cNvPr id="52" name="Line 52"/>
              <p:cNvSpPr/>
              <p:nvPr/>
            </p:nvSpPr>
            <p:spPr>
              <a:xfrm>
                <a:off x="4457700" y="4191000"/>
                <a:ext cx="7124700" cy="9525"/>
              </a:xfrm>
              <a:custGeom>
                <a:avLst/>
                <a:gdLst/>
                <a:ahLst/>
                <a:cxnLst/>
                <a:rect l="l" t="t" r="r" b="b"/>
                <a:pathLst>
                  <a:path w="7124700" h="9525">
                    <a:moveTo>
                      <a:pt x="0" y="0"/>
                    </a:moveTo>
                    <a:lnTo>
                      <a:pt x="7124700" y="0"/>
                    </a:lnTo>
                  </a:path>
                </a:pathLst>
              </a:custGeom>
              <a:noFill/>
              <a:ln w="9525">
                <a:solidFill>
                  <a:srgbClr val="E5E3DE"/>
                </a:solidFill>
              </a:ln>
            </p:spPr>
          </p:sp>
        </p:grpSp>
        <p:grpSp>
          <p:nvGrpSpPr>
            <p:cNvPr id="59" name="Group 59"/>
            <p:cNvGrpSpPr/>
            <p:nvPr/>
          </p:nvGrpSpPr>
          <p:grpSpPr>
            <a:xfrm>
              <a:off x="4457700" y="4191000"/>
              <a:ext cx="7124700" cy="581025"/>
              <a:chOff x="4457700" y="4191000"/>
              <a:chExt cx="7124700" cy="581025"/>
            </a:xfrm>
          </p:grpSpPr>
          <p:sp>
            <p:nvSpPr>
              <p:cNvPr id="54" name="Rectangle 54"/>
              <p:cNvSpPr/>
              <p:nvPr/>
            </p:nvSpPr>
            <p:spPr>
              <a:xfrm>
                <a:off x="4457700" y="4191000"/>
                <a:ext cx="7124700" cy="571500"/>
              </a:xfrm>
              <a:prstGeom prst="rect">
                <a:avLst/>
              </a:prstGeom>
              <a:solidFill>
                <a:srgbClr val="FFFFFF"/>
              </a:solidFill>
              <a:ln>
                <a:noFill/>
              </a:ln>
            </p:spPr>
          </p:sp>
          <p:sp>
            <p:nvSpPr>
              <p:cNvPr id="55" name="TextBox 55"/>
              <p:cNvSpPr txBox="1"/>
              <p:nvPr/>
            </p:nvSpPr>
            <p:spPr>
              <a:xfrm>
                <a:off x="4673918" y="4419124"/>
                <a:ext cx="447968" cy="198120"/>
              </a:xfrm>
              <a:prstGeom prst="rect">
                <a:avLst/>
              </a:prstGeom>
              <a:noFill/>
              <a:ln>
                <a:noFill/>
              </a:ln>
            </p:spPr>
            <p:txBody>
              <a:bodyPr wrap="none" lIns="0" tIns="0" rIns="0" bIns="0" anchor="t" anchorCtr="0">
                <a:spAutoFit/>
              </a:bodyPr>
              <a:lstStyle/>
              <a:p>
                <a:pPr algn="l"/>
                <a:r>
                  <a:rPr lang="zh-CN" sz="975" b="1" dirty="0">
                    <a:solidFill>
                      <a:srgbClr val="007583"/>
                    </a:solidFill>
                    <a:latin typeface="Manrope"/>
                    <a:ea typeface="Microsoft JhengHei"/>
                    <a:cs typeface="Manrope"/>
                  </a:rPr>
                  <a:t>Slide 5</a:t>
                </a:r>
              </a:p>
            </p:txBody>
          </p:sp>
          <p:sp>
            <p:nvSpPr>
              <p:cNvPr id="56" name="TextBox 56"/>
              <p:cNvSpPr txBox="1"/>
              <p:nvPr/>
            </p:nvSpPr>
            <p:spPr>
              <a:xfrm>
                <a:off x="5207318" y="4419124"/>
                <a:ext cx="3355781" cy="198120"/>
              </a:xfrm>
              <a:prstGeom prst="rect">
                <a:avLst/>
              </a:prstGeom>
              <a:noFill/>
              <a:ln>
                <a:noFill/>
              </a:ln>
            </p:spPr>
            <p:txBody>
              <a:bodyPr wrap="none" lIns="0" tIns="0" rIns="0" bIns="0" anchor="t" anchorCtr="0">
                <a:spAutoFit/>
              </a:bodyPr>
              <a:lstStyle/>
              <a:p>
                <a:pPr algn="l"/>
                <a:r>
                  <a:rPr lang="zh-CN" sz="975" b="1" dirty="0">
                    <a:solidFill>
                      <a:srgbClr val="171C24"/>
                    </a:solidFill>
                    <a:latin typeface="Manrope"/>
                    <a:ea typeface="Microsoft JhengHei"/>
                    <a:cs typeface="Manrope"/>
                  </a:rPr>
                  <a:t>開發 AI PRD 協作助理，將碎片想法一鍵轉換為規格文檔</a:t>
                </a:r>
              </a:p>
            </p:txBody>
          </p:sp>
          <p:sp>
            <p:nvSpPr>
              <p:cNvPr id="57" name="TextBox 57"/>
              <p:cNvSpPr txBox="1"/>
              <p:nvPr/>
            </p:nvSpPr>
            <p:spPr>
              <a:xfrm>
                <a:off x="9207818" y="4419124"/>
                <a:ext cx="1454944" cy="198120"/>
              </a:xfrm>
              <a:prstGeom prst="rect">
                <a:avLst/>
              </a:prstGeom>
              <a:noFill/>
              <a:ln>
                <a:noFill/>
              </a:ln>
            </p:spPr>
            <p:txBody>
              <a:bodyPr wrap="none" lIns="0" tIns="0" rIns="0" bIns="0" anchor="t" anchorCtr="0">
                <a:spAutoFit/>
              </a:bodyPr>
              <a:lstStyle/>
              <a:p>
                <a:pPr algn="l"/>
                <a:r>
                  <a:rPr lang="zh-CN" sz="975" dirty="0">
                    <a:solidFill>
                      <a:srgbClr val="525864"/>
                    </a:solidFill>
                    <a:latin typeface="Manrope"/>
                    <a:ea typeface="Microsoft JhengHei"/>
                    <a:cs typeface="Manrope"/>
                  </a:rPr>
                  <a:t>展示解方功能與流程原型</a:t>
                </a:r>
              </a:p>
            </p:txBody>
          </p:sp>
          <p:sp>
            <p:nvSpPr>
              <p:cNvPr id="58" name="Line 58"/>
              <p:cNvSpPr/>
              <p:nvPr/>
            </p:nvSpPr>
            <p:spPr>
              <a:xfrm>
                <a:off x="4457700" y="4762500"/>
                <a:ext cx="7124700" cy="9525"/>
              </a:xfrm>
              <a:custGeom>
                <a:avLst/>
                <a:gdLst/>
                <a:ahLst/>
                <a:cxnLst/>
                <a:rect l="l" t="t" r="r" b="b"/>
                <a:pathLst>
                  <a:path w="7124700" h="9525">
                    <a:moveTo>
                      <a:pt x="0" y="0"/>
                    </a:moveTo>
                    <a:lnTo>
                      <a:pt x="7124700" y="0"/>
                    </a:lnTo>
                  </a:path>
                </a:pathLst>
              </a:custGeom>
              <a:noFill/>
              <a:ln w="9525">
                <a:solidFill>
                  <a:srgbClr val="E5E3DE"/>
                </a:solidFill>
              </a:ln>
            </p:spPr>
          </p:sp>
        </p:grpSp>
        <p:grpSp>
          <p:nvGrpSpPr>
            <p:cNvPr id="64" name="Group 64"/>
            <p:cNvGrpSpPr/>
            <p:nvPr/>
          </p:nvGrpSpPr>
          <p:grpSpPr>
            <a:xfrm>
              <a:off x="4457700" y="4762500"/>
              <a:ext cx="7124700" cy="762000"/>
              <a:chOff x="4457700" y="4762500"/>
              <a:chExt cx="7124700" cy="762000"/>
            </a:xfrm>
          </p:grpSpPr>
          <p:sp>
            <p:nvSpPr>
              <p:cNvPr id="60" name="Rectangle 60"/>
              <p:cNvSpPr/>
              <p:nvPr/>
            </p:nvSpPr>
            <p:spPr>
              <a:xfrm>
                <a:off x="4457700" y="4762500"/>
                <a:ext cx="7124700" cy="762000"/>
              </a:xfrm>
              <a:prstGeom prst="rect">
                <a:avLst/>
              </a:prstGeom>
              <a:solidFill>
                <a:srgbClr val="F3F2ED"/>
              </a:solidFill>
              <a:ln>
                <a:noFill/>
              </a:ln>
            </p:spPr>
          </p:sp>
          <p:sp>
            <p:nvSpPr>
              <p:cNvPr id="61" name="TextBox 61"/>
              <p:cNvSpPr txBox="1"/>
              <p:nvPr/>
            </p:nvSpPr>
            <p:spPr>
              <a:xfrm>
                <a:off x="4673918" y="4990624"/>
                <a:ext cx="447968" cy="198120"/>
              </a:xfrm>
              <a:prstGeom prst="rect">
                <a:avLst/>
              </a:prstGeom>
              <a:noFill/>
              <a:ln>
                <a:noFill/>
              </a:ln>
            </p:spPr>
            <p:txBody>
              <a:bodyPr wrap="none" lIns="0" tIns="0" rIns="0" bIns="0" anchor="t" anchorCtr="0">
                <a:spAutoFit/>
              </a:bodyPr>
              <a:lstStyle/>
              <a:p>
                <a:pPr algn="l"/>
                <a:r>
                  <a:rPr lang="zh-CN" sz="975" b="1" dirty="0">
                    <a:solidFill>
                      <a:srgbClr val="007583"/>
                    </a:solidFill>
                    <a:latin typeface="Manrope"/>
                    <a:ea typeface="Microsoft JhengHei"/>
                    <a:cs typeface="Manrope"/>
                  </a:rPr>
                  <a:t>Slide 6</a:t>
                </a:r>
              </a:p>
            </p:txBody>
          </p:sp>
          <p:sp>
            <p:nvSpPr>
              <p:cNvPr id="62" name="TextBox 62"/>
              <p:cNvSpPr txBox="1"/>
              <p:nvPr/>
            </p:nvSpPr>
            <p:spPr>
              <a:xfrm>
                <a:off x="5207318" y="4990624"/>
                <a:ext cx="3710726" cy="198120"/>
              </a:xfrm>
              <a:prstGeom prst="rect">
                <a:avLst/>
              </a:prstGeom>
              <a:noFill/>
              <a:ln>
                <a:noFill/>
              </a:ln>
            </p:spPr>
            <p:txBody>
              <a:bodyPr wrap="none" lIns="0" tIns="0" rIns="0" bIns="0" anchor="t" anchorCtr="0">
                <a:spAutoFit/>
              </a:bodyPr>
              <a:lstStyle/>
              <a:p>
                <a:pPr algn="l"/>
                <a:r>
                  <a:rPr lang="zh-CN" sz="975" b="1" dirty="0">
                    <a:solidFill>
                      <a:srgbClr val="171C24"/>
                    </a:solidFill>
                    <a:latin typeface="Manrope"/>
                    <a:ea typeface="Microsoft JhengHei"/>
                    <a:cs typeface="Manrope"/>
                  </a:rPr>
                  <a:t>驗證計畫：以北極星指標、量能指標、護欄指標衡量上線表現</a:t>
                </a:r>
              </a:p>
            </p:txBody>
          </p:sp>
          <p:sp>
            <p:nvSpPr>
              <p:cNvPr id="63" name="TextBox 63"/>
              <p:cNvSpPr txBox="1"/>
              <p:nvPr/>
            </p:nvSpPr>
            <p:spPr>
              <a:xfrm>
                <a:off x="9207818" y="4990624"/>
                <a:ext cx="2105025" cy="198120"/>
              </a:xfrm>
              <a:prstGeom prst="rect">
                <a:avLst/>
              </a:prstGeom>
              <a:noFill/>
              <a:ln>
                <a:noFill/>
              </a:ln>
            </p:spPr>
            <p:txBody>
              <a:bodyPr wrap="none" lIns="0" tIns="0" rIns="0" bIns="0" anchor="t" anchorCtr="0">
                <a:spAutoFit/>
              </a:bodyPr>
              <a:lstStyle/>
              <a:p>
                <a:pPr algn="l"/>
                <a:r>
                  <a:rPr lang="zh-CN" sz="975" dirty="0">
                    <a:solidFill>
                      <a:srgbClr val="525864"/>
                    </a:solidFill>
                    <a:latin typeface="Manrope"/>
                    <a:ea typeface="Microsoft JhengHei"/>
                    <a:cs typeface="Manrope"/>
                  </a:rPr>
                  <a:t>以指標樹狀圖規劃發布後的驗證指標</a:t>
                </a:r>
              </a:p>
            </p:txBody>
          </p:sp>
        </p:grpSp>
      </p:grpSp>
      <p:sp>
        <p:nvSpPr>
          <p:cNvPr id="66" name="TextBox 66"/>
          <p:cNvSpPr txBox="1"/>
          <p:nvPr/>
        </p:nvSpPr>
        <p:spPr>
          <a:xfrm>
            <a:off x="598170" y="6475095"/>
            <a:ext cx="2579179" cy="182880"/>
          </a:xfrm>
          <a:prstGeom prst="rect">
            <a:avLst/>
          </a:prstGeom>
          <a:noFill/>
          <a:ln>
            <a:noFill/>
          </a:ln>
        </p:spPr>
        <p:txBody>
          <a:bodyPr wrap="none" lIns="0" tIns="0" rIns="0" bIns="0" anchor="t" anchorCtr="0">
            <a:spAutoFit/>
          </a:bodyPr>
          <a:lstStyle/>
          <a:p>
            <a:pPr algn="l"/>
            <a:r>
              <a:rPr lang="zh-CN" sz="900" dirty="0">
                <a:solidFill>
                  <a:srgbClr val="525864"/>
                </a:solidFill>
                <a:latin typeface="Manrope"/>
                <a:ea typeface="Microsoft JhengHei"/>
                <a:cs typeface="Manrope"/>
              </a:rPr>
              <a:t>PM PROPOSAL &amp; METRICS EDUCATION · PAGE 05</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image">
                                      <p:cBhvr>
                                        <p:cTn id="7" dur="400"/>
                                        <p:tgtEl>
                                          <p:spTgt spid="2"/>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400"/>
                                        <p:tgtEl>
                                          <p:spTgt spid="3"/>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400"/>
                                        <p:tgtEl>
                                          <p:spTgt spid="4"/>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slide(fromBottom)">
                                      <p:cBhvr>
                                        <p:cTn id="19" dur="400"/>
                                        <p:tgtEl>
                                          <p:spTgt spid="23"/>
                                        </p:tgtEl>
                                      </p:cBhvr>
                                    </p:animEffect>
                                  </p:childTnLst>
                                </p:cTn>
                              </p:par>
                            </p:childTnLst>
                          </p:cTn>
                        </p:par>
                        <p:par>
                          <p:cTn id="20" fill="hold">
                            <p:stCondLst>
                              <p:cond delay="3600"/>
                            </p:stCondLst>
                            <p:childTnLst>
                              <p:par>
                                <p:cTn id="21" presetID="23" presetClass="entr" presetSubtype="0" fill="hold" nodeType="afterEffect">
                                  <p:stCondLst>
                                    <p:cond delay="0"/>
                                  </p:stCondLst>
                                  <p:childTnLst>
                                    <p:set>
                                      <p:cBhvr>
                                        <p:cTn id="22" dur="1" fill="hold">
                                          <p:stCondLst>
                                            <p:cond delay="0"/>
                                          </p:stCondLst>
                                        </p:cTn>
                                        <p:tgtEl>
                                          <p:spTgt spid="65"/>
                                        </p:tgtEl>
                                        <p:attrNameLst>
                                          <p:attrName>style.visibility</p:attrName>
                                        </p:attrNameLst>
                                      </p:cBhvr>
                                      <p:to>
                                        <p:strVal val="visible"/>
                                      </p:to>
                                    </p:set>
                                    <p:animEffect transition="in" filter="image">
                                      <p:cBhvr>
                                        <p:cTn id="23" dur="400"/>
                                        <p:tgtEl>
                                          <p:spTgt spid="65"/>
                                        </p:tgtEl>
                                      </p:cBhvr>
                                    </p:animEffect>
                                  </p:childTnLst>
                                </p:cTn>
                              </p:par>
                            </p:childTnLst>
                          </p:cTn>
                        </p:par>
                        <p:par>
                          <p:cTn id="24" fill="hold">
                            <p:stCondLst>
                              <p:cond delay="4500"/>
                            </p:stCondLst>
                            <p:childTnLst>
                              <p:par>
                                <p:cTn id="25" presetID="10" presetClass="entr" presetSubtype="0" fill="hold" nodeType="afterEffect">
                                  <p:stCondLst>
                                    <p:cond delay="0"/>
                                  </p:stCondLst>
                                  <p:childTnLst>
                                    <p:set>
                                      <p:cBhvr>
                                        <p:cTn id="26" dur="1" fill="hold">
                                          <p:stCondLst>
                                            <p:cond delay="0"/>
                                          </p:stCondLst>
                                        </p:cTn>
                                        <p:tgtEl>
                                          <p:spTgt spid="66"/>
                                        </p:tgtEl>
                                        <p:attrNameLst>
                                          <p:attrName>style.visibility</p:attrName>
                                        </p:attrNameLst>
                                      </p:cBhvr>
                                      <p:to>
                                        <p:strVal val="visible"/>
                                      </p:to>
                                    </p:set>
                                    <p:animEffect transition="in" filter="fade">
                                      <p:cBhvr>
                                        <p:cTn id="27" dur="4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23" grpId="0"/>
      <p:bldP spid="65" grpId="0"/>
      <p:bldP spid="6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DFCF9"/>
          </a:solidFill>
          <a:ln>
            <a:noFill/>
          </a:ln>
        </p:spPr>
      </p:sp>
      <p:sp>
        <p:nvSpPr>
          <p:cNvPr id="3" name="TextBox 3"/>
          <p:cNvSpPr txBox="1"/>
          <p:nvPr/>
        </p:nvSpPr>
        <p:spPr>
          <a:xfrm>
            <a:off x="596265" y="648652"/>
            <a:ext cx="1224870" cy="213360"/>
          </a:xfrm>
          <a:prstGeom prst="rect">
            <a:avLst/>
          </a:prstGeom>
          <a:noFill/>
          <a:ln>
            <a:noFill/>
          </a:ln>
        </p:spPr>
        <p:txBody>
          <a:bodyPr wrap="none" lIns="0" tIns="0" rIns="0" bIns="0" anchor="t" anchorCtr="0">
            <a:spAutoFit/>
          </a:bodyPr>
          <a:lstStyle/>
          <a:p>
            <a:pPr algn="l"/>
            <a:r>
              <a:rPr lang="zh-CN" sz="1050" b="1" dirty="0">
                <a:solidFill>
                  <a:srgbClr val="007583"/>
                </a:solidFill>
                <a:latin typeface="Plus Jakarta Sans"/>
                <a:ea typeface="Microsoft JhengHei"/>
                <a:cs typeface="Plus Jakarta Sans"/>
              </a:rPr>
              <a:t>METRICS ANALOGY</a:t>
            </a:r>
          </a:p>
        </p:txBody>
      </p:sp>
      <p:sp>
        <p:nvSpPr>
          <p:cNvPr id="4" name="TextBox 4"/>
          <p:cNvSpPr txBox="1"/>
          <p:nvPr/>
        </p:nvSpPr>
        <p:spPr>
          <a:xfrm>
            <a:off x="582930" y="916305"/>
            <a:ext cx="6463341" cy="426720"/>
          </a:xfrm>
          <a:prstGeom prst="rect">
            <a:avLst/>
          </a:prstGeom>
          <a:noFill/>
          <a:ln>
            <a:noFill/>
          </a:ln>
        </p:spPr>
        <p:txBody>
          <a:bodyPr wrap="none" lIns="0" tIns="0" rIns="0" bIns="0" anchor="t" anchorCtr="0">
            <a:spAutoFit/>
          </a:bodyPr>
          <a:lstStyle/>
          <a:p>
            <a:pPr algn="l"/>
            <a:r>
              <a:rPr lang="zh-CN" sz="2100" b="1" dirty="0">
                <a:solidFill>
                  <a:srgbClr val="171C24"/>
                </a:solidFill>
                <a:latin typeface="Plus Jakarta Sans"/>
                <a:ea typeface="Microsoft JhengHei"/>
                <a:cs typeface="Plus Jakarta Sans"/>
              </a:rPr>
              <a:t>指標分層（Metrics Hierarchy）的直覺理解模型</a:t>
            </a:r>
          </a:p>
        </p:txBody>
      </p:sp>
      <p:grpSp>
        <p:nvGrpSpPr>
          <p:cNvPr id="7" name="Group 7"/>
          <p:cNvGrpSpPr/>
          <p:nvPr/>
        </p:nvGrpSpPr>
        <p:grpSpPr>
          <a:xfrm>
            <a:off x="609600" y="1524000"/>
            <a:ext cx="4762500" cy="4286250"/>
            <a:chOff x="609600" y="1524000"/>
            <a:chExt cx="4762500" cy="4286250"/>
          </a:xfrm>
        </p:grpSpPr>
        <p:sp>
          <p:nvSpPr>
            <p:cNvPr id="5" name="Rectangle 5"/>
            <p:cNvSpPr/>
            <p:nvPr/>
          </p:nvSpPr>
          <p:spPr>
            <a:xfrm>
              <a:off x="609600" y="1524000"/>
              <a:ext cx="4762500" cy="4286250"/>
            </a:xfrm>
            <a:prstGeom prst="roundRect">
              <a:avLst>
                <a:gd name="adj" fmla="val 3556"/>
              </a:avLst>
            </a:prstGeom>
            <a:solidFill>
              <a:srgbClr val="F3F2ED"/>
            </a:solidFill>
            <a:ln w="14288">
              <a:solidFill>
                <a:srgbClr val="E5E3DE"/>
              </a:solidFill>
            </a:ln>
          </p:spPr>
        </p:sp>
        <p:pic>
          <p:nvPicPr>
            <p:cNvPr id="6" name="Image 6"/>
            <p:cNvPicPr>
              <a:picLocks noChangeAspect="1"/>
            </p:cNvPicPr>
            <p:nvPr/>
          </p:nvPicPr>
          <p:blipFill>
            <a:blip r:embed="rId2"/>
            <a:srcRect l="18750" t="0" r="18750" b="0"/>
            <a:stretch>
              <a:fillRect/>
            </a:stretch>
          </p:blipFill>
          <p:spPr>
            <a:xfrm>
              <a:off x="609600" y="1524000"/>
              <a:ext cx="4762500" cy="4286250"/>
            </a:xfrm>
            <a:prstGeom prst="rect">
              <a:avLst/>
            </a:prstGeom>
          </p:spPr>
        </p:pic>
      </p:grpSp>
      <p:grpSp>
        <p:nvGrpSpPr>
          <p:cNvPr id="32" name="Group 32"/>
          <p:cNvGrpSpPr/>
          <p:nvPr/>
        </p:nvGrpSpPr>
        <p:grpSpPr>
          <a:xfrm>
            <a:off x="5810250" y="1762125"/>
            <a:ext cx="5517833" cy="3979069"/>
            <a:chOff x="5810250" y="1762125"/>
            <a:chExt cx="5517833" cy="3979069"/>
          </a:xfrm>
        </p:grpSpPr>
        <p:grpSp>
          <p:nvGrpSpPr>
            <p:cNvPr id="13" name="Group 13"/>
            <p:cNvGrpSpPr/>
            <p:nvPr/>
          </p:nvGrpSpPr>
          <p:grpSpPr>
            <a:xfrm>
              <a:off x="5810250" y="1762125"/>
              <a:ext cx="4384834" cy="740569"/>
              <a:chOff x="5810250" y="1762125"/>
              <a:chExt cx="4384834" cy="740569"/>
            </a:xfrm>
          </p:grpSpPr>
          <p:grpSp>
            <p:nvGrpSpPr>
              <p:cNvPr id="10" name="Group 10"/>
              <p:cNvGrpSpPr/>
              <p:nvPr/>
            </p:nvGrpSpPr>
            <p:grpSpPr>
              <a:xfrm>
                <a:off x="5810250" y="1762125"/>
                <a:ext cx="209550" cy="209550"/>
                <a:chOff x="5810250" y="1762125"/>
                <a:chExt cx="209550" cy="209550"/>
              </a:xfrm>
            </p:grpSpPr>
            <p:sp>
              <p:nvSpPr>
                <p:cNvPr id="8" name="Freeform 8"/>
                <p:cNvSpPr/>
                <p:nvPr/>
              </p:nvSpPr>
              <p:spPr>
                <a:xfrm>
                  <a:off x="5862638" y="1814512"/>
                  <a:ext cx="104775" cy="104775"/>
                </a:xfrm>
                <a:custGeom>
                  <a:avLst/>
                  <a:gdLst/>
                  <a:ahLst/>
                  <a:cxnLst/>
                  <a:rect l="l" t="t" r="r" b="b"/>
                  <a:pathLst>
                    <a:path w="104775" h="104775">
                      <a:moveTo>
                        <a:pt x="52388" y="0"/>
                      </a:moveTo>
                      <a:cubicBezTo>
                        <a:pt x="23455" y="0"/>
                        <a:pt x="0" y="23455"/>
                        <a:pt x="0" y="52388"/>
                      </a:cubicBezTo>
                      <a:cubicBezTo>
                        <a:pt x="0" y="81320"/>
                        <a:pt x="23455" y="104775"/>
                        <a:pt x="52388" y="104775"/>
                      </a:cubicBezTo>
                      <a:cubicBezTo>
                        <a:pt x="81320" y="104775"/>
                        <a:pt x="104775" y="81320"/>
                        <a:pt x="104775" y="52388"/>
                      </a:cubicBezTo>
                      <a:cubicBezTo>
                        <a:pt x="104775" y="23455"/>
                        <a:pt x="81320" y="0"/>
                        <a:pt x="52388" y="0"/>
                      </a:cubicBezTo>
                      <a:close/>
                      <a:moveTo>
                        <a:pt x="26194" y="52388"/>
                      </a:moveTo>
                      <a:cubicBezTo>
                        <a:pt x="26194" y="37921"/>
                        <a:pt x="37921" y="26194"/>
                        <a:pt x="52388" y="26194"/>
                      </a:cubicBezTo>
                      <a:cubicBezTo>
                        <a:pt x="66854" y="26194"/>
                        <a:pt x="78581" y="37921"/>
                        <a:pt x="78581" y="52388"/>
                      </a:cubicBezTo>
                      <a:cubicBezTo>
                        <a:pt x="78581" y="66854"/>
                        <a:pt x="66854" y="78581"/>
                        <a:pt x="52388" y="78581"/>
                      </a:cubicBezTo>
                      <a:cubicBezTo>
                        <a:pt x="37921" y="78581"/>
                        <a:pt x="26194" y="66854"/>
                        <a:pt x="26194" y="52388"/>
                      </a:cubicBezTo>
                      <a:close/>
                    </a:path>
                  </a:pathLst>
                </a:custGeom>
                <a:solidFill>
                  <a:srgbClr val="153166"/>
                </a:solidFill>
                <a:ln>
                  <a:noFill/>
                </a:ln>
              </p:spPr>
            </p:sp>
            <p:sp>
              <p:nvSpPr>
                <p:cNvPr id="9" name="Freeform 9"/>
                <p:cNvSpPr/>
                <p:nvPr/>
              </p:nvSpPr>
              <p:spPr>
                <a:xfrm>
                  <a:off x="5810250" y="1762125"/>
                  <a:ext cx="209550" cy="209550"/>
                </a:xfrm>
                <a:custGeom>
                  <a:avLst/>
                  <a:gdLst/>
                  <a:ahLst/>
                  <a:cxnLst/>
                  <a:rect l="l" t="t" r="r" b="b"/>
                  <a:pathLst>
                    <a:path w="209550" h="209550">
                      <a:moveTo>
                        <a:pt x="104775" y="0"/>
                      </a:moveTo>
                      <a:cubicBezTo>
                        <a:pt x="46909" y="0"/>
                        <a:pt x="0" y="46909"/>
                        <a:pt x="0" y="104775"/>
                      </a:cubicBezTo>
                      <a:cubicBezTo>
                        <a:pt x="0" y="162641"/>
                        <a:pt x="46909" y="209550"/>
                        <a:pt x="104775" y="209550"/>
                      </a:cubicBezTo>
                      <a:cubicBezTo>
                        <a:pt x="162641" y="209550"/>
                        <a:pt x="209550" y="162641"/>
                        <a:pt x="209550" y="104775"/>
                      </a:cubicBezTo>
                      <a:cubicBezTo>
                        <a:pt x="209550" y="46909"/>
                        <a:pt x="162641" y="0"/>
                        <a:pt x="104775" y="0"/>
                      </a:cubicBezTo>
                      <a:close/>
                      <a:moveTo>
                        <a:pt x="26194" y="104775"/>
                      </a:moveTo>
                      <a:cubicBezTo>
                        <a:pt x="26194" y="61376"/>
                        <a:pt x="61376" y="26194"/>
                        <a:pt x="104775" y="26194"/>
                      </a:cubicBezTo>
                      <a:cubicBezTo>
                        <a:pt x="148174" y="26194"/>
                        <a:pt x="183356" y="61376"/>
                        <a:pt x="183356" y="104775"/>
                      </a:cubicBezTo>
                      <a:cubicBezTo>
                        <a:pt x="183356" y="148174"/>
                        <a:pt x="148174" y="183356"/>
                        <a:pt x="104775" y="183356"/>
                      </a:cubicBezTo>
                      <a:cubicBezTo>
                        <a:pt x="61376" y="183356"/>
                        <a:pt x="26194" y="148174"/>
                        <a:pt x="26194" y="104775"/>
                      </a:cubicBezTo>
                      <a:close/>
                    </a:path>
                  </a:pathLst>
                </a:custGeom>
                <a:solidFill>
                  <a:srgbClr val="153166"/>
                </a:solidFill>
                <a:ln>
                  <a:noFill/>
                </a:ln>
              </p:spPr>
            </p:sp>
          </p:grpSp>
          <p:sp>
            <p:nvSpPr>
              <p:cNvPr id="11" name="TextBox 11"/>
              <p:cNvSpPr txBox="1"/>
              <p:nvPr/>
            </p:nvSpPr>
            <p:spPr>
              <a:xfrm>
                <a:off x="6099810" y="1804035"/>
                <a:ext cx="3575723" cy="243840"/>
              </a:xfrm>
              <a:prstGeom prst="rect">
                <a:avLst/>
              </a:prstGeom>
              <a:noFill/>
              <a:ln>
                <a:noFill/>
              </a:ln>
            </p:spPr>
            <p:txBody>
              <a:bodyPr wrap="none" lIns="0" tIns="0" rIns="0" bIns="0" anchor="t" anchorCtr="0">
                <a:spAutoFit/>
              </a:bodyPr>
              <a:lstStyle/>
              <a:p>
                <a:pPr algn="l"/>
                <a:r>
                  <a:rPr lang="zh-CN" sz="1200" b="1" dirty="0">
                    <a:solidFill>
                      <a:srgbClr val="153166"/>
                    </a:solidFill>
                    <a:latin typeface="Plus Jakarta Sans"/>
                    <a:ea typeface="Microsoft JhengHei"/>
                    <a:cs typeface="Plus Jakarta Sans"/>
                  </a:rPr>
                  <a:t>北極星指標 (NSM) —「每週吃光光盤的總數量」</a:t>
                </a:r>
              </a:p>
            </p:txBody>
          </p:sp>
          <p:sp>
            <p:nvSpPr>
              <p:cNvPr id="12" name="TextBox 12"/>
              <p:cNvSpPr txBox="1"/>
              <p:nvPr/>
            </p:nvSpPr>
            <p:spPr>
              <a:xfrm>
                <a:off x="6102668" y="2075974"/>
                <a:ext cx="4092416" cy="426720"/>
              </a:xfrm>
              <a:prstGeom prst="rect">
                <a:avLst/>
              </a:prstGeom>
              <a:noFill/>
              <a:ln>
                <a:noFill/>
              </a:ln>
            </p:spPr>
            <p:txBody>
              <a:bodyPr wrap="square" lIns="0" tIns="0" rIns="0" bIns="0" anchor="t" anchorCtr="0"/>
              <a:lstStyle/>
              <a:p>
                <a:pPr algn="l">
                  <a:lnSpc>
                    <a:spcPts val="1800"/>
                  </a:lnSpc>
                </a:pPr>
                <a:r>
                  <a:rPr lang="zh-CN" sz="975" dirty="0">
                    <a:solidFill>
                      <a:srgbClr val="525864"/>
                    </a:solidFill>
                    <a:latin typeface="Manrope"/>
                    <a:ea typeface="Microsoft JhengHei"/>
                    <a:cs typeface="Manrope"/>
                  </a:rPr>
                  <a:t>· 價值對齊：吃光（光盤）是顧客體驗食物價值的最直接、最誠實行為。</a:t>
                </a:r>
                <a:r>
                  <a:rPr lang="zh-CN" sz="975" dirty="0">
                    <a:solidFill>
                      <a:srgbClr val="525864"/>
                    </a:solidFill>
                    <a:latin typeface="Manrope"/>
                    <a:ea typeface="Microsoft JhengHei"/>
                    <a:cs typeface="Manrope"/>
                  </a:rPr>
                  <a:t>· 統計可行性：洗碗區可直接點數，不需追蹤個體，統計難度極低且精準。</a:t>
                </a:r>
              </a:p>
            </p:txBody>
          </p:sp>
        </p:grpSp>
        <p:grpSp>
          <p:nvGrpSpPr>
            <p:cNvPr id="18" name="Group 18"/>
            <p:cNvGrpSpPr/>
            <p:nvPr/>
          </p:nvGrpSpPr>
          <p:grpSpPr>
            <a:xfrm>
              <a:off x="5817921" y="2932443"/>
              <a:ext cx="5510162" cy="713251"/>
              <a:chOff x="5817921" y="2932443"/>
              <a:chExt cx="5510162" cy="713251"/>
            </a:xfrm>
          </p:grpSpPr>
          <p:sp>
            <p:nvSpPr>
              <p:cNvPr id="14" name="Freeform 14"/>
              <p:cNvSpPr/>
              <p:nvPr/>
            </p:nvSpPr>
            <p:spPr>
              <a:xfrm>
                <a:off x="5817921" y="2932443"/>
                <a:ext cx="194206" cy="160341"/>
              </a:xfrm>
              <a:custGeom>
                <a:avLst/>
                <a:gdLst/>
                <a:ahLst/>
                <a:cxnLst/>
                <a:rect l="l" t="t" r="r" b="b"/>
                <a:pathLst>
                  <a:path w="194206" h="160341">
                    <a:moveTo>
                      <a:pt x="194206" y="37043"/>
                    </a:moveTo>
                    <a:lnTo>
                      <a:pt x="70909" y="160341"/>
                    </a:lnTo>
                    <a:lnTo>
                      <a:pt x="0" y="89431"/>
                    </a:lnTo>
                    <a:lnTo>
                      <a:pt x="37044" y="52388"/>
                    </a:lnTo>
                    <a:lnTo>
                      <a:pt x="70909" y="86253"/>
                    </a:lnTo>
                    <a:lnTo>
                      <a:pt x="157163" y="0"/>
                    </a:lnTo>
                    <a:lnTo>
                      <a:pt x="194206" y="37043"/>
                    </a:lnTo>
                    <a:close/>
                  </a:path>
                </a:pathLst>
              </a:custGeom>
              <a:solidFill>
                <a:srgbClr val="153166"/>
              </a:solidFill>
              <a:ln>
                <a:noFill/>
              </a:ln>
            </p:spPr>
          </p:sp>
          <p:sp>
            <p:nvSpPr>
              <p:cNvPr id="15" name="TextBox 15"/>
              <p:cNvSpPr txBox="1"/>
              <p:nvPr/>
            </p:nvSpPr>
            <p:spPr>
              <a:xfrm>
                <a:off x="6099810" y="2947035"/>
                <a:ext cx="5113115" cy="243840"/>
              </a:xfrm>
              <a:prstGeom prst="rect">
                <a:avLst/>
              </a:prstGeom>
              <a:noFill/>
              <a:ln>
                <a:noFill/>
              </a:ln>
            </p:spPr>
            <p:txBody>
              <a:bodyPr wrap="none" lIns="0" tIns="0" rIns="0" bIns="0" anchor="t" anchorCtr="0">
                <a:spAutoFit/>
              </a:bodyPr>
              <a:lstStyle/>
              <a:p>
                <a:pPr algn="l"/>
                <a:r>
                  <a:rPr lang="zh-CN" sz="1200" b="1" dirty="0">
                    <a:solidFill>
                      <a:srgbClr val="153166"/>
                    </a:solidFill>
                    <a:latin typeface="Plus Jakarta Sans"/>
                    <a:ea typeface="Microsoft JhengHei"/>
                    <a:cs typeface="Plus Jakarta Sans"/>
                  </a:rPr>
                  <a:t>功能層成功指標 (FSM) —「點了『AI 主廚推薦菜』且吃光的顧客數」</a:t>
                </a:r>
              </a:p>
            </p:txBody>
          </p:sp>
          <p:sp>
            <p:nvSpPr>
              <p:cNvPr id="16" name="TextBox 16"/>
              <p:cNvSpPr txBox="1"/>
              <p:nvPr/>
            </p:nvSpPr>
            <p:spPr>
              <a:xfrm>
                <a:off x="6102668" y="3218974"/>
                <a:ext cx="5225415" cy="198120"/>
              </a:xfrm>
              <a:prstGeom prst="rect">
                <a:avLst/>
              </a:prstGeom>
              <a:noFill/>
              <a:ln>
                <a:noFill/>
              </a:ln>
            </p:spPr>
            <p:txBody>
              <a:bodyPr wrap="none" lIns="0" tIns="0" rIns="0" bIns="0" anchor="t" anchorCtr="0">
                <a:spAutoFit/>
              </a:bodyPr>
              <a:lstStyle/>
              <a:p>
                <a:pPr algn="l"/>
                <a:r>
                  <a:rPr lang="zh-CN" sz="975" dirty="0">
                    <a:solidFill>
                      <a:srgbClr val="525864"/>
                    </a:solidFill>
                    <a:latin typeface="Manrope"/>
                    <a:ea typeface="Microsoft JhengHei"/>
                    <a:cs typeface="Manrope"/>
                  </a:rPr>
                  <a:t>· 價值對齊：新功能（AI 推薦）旨在幫助顧客體驗美味，須同時滿足「採用且同時吃光」。</a:t>
                </a:r>
              </a:p>
            </p:txBody>
          </p:sp>
          <p:sp>
            <p:nvSpPr>
              <p:cNvPr id="17" name="TextBox 17"/>
              <p:cNvSpPr txBox="1"/>
              <p:nvPr/>
            </p:nvSpPr>
            <p:spPr>
              <a:xfrm>
                <a:off x="6255068" y="3447574"/>
                <a:ext cx="4509351" cy="198120"/>
              </a:xfrm>
              <a:prstGeom prst="rect">
                <a:avLst/>
              </a:prstGeom>
              <a:noFill/>
              <a:ln>
                <a:noFill/>
              </a:ln>
            </p:spPr>
            <p:txBody>
              <a:bodyPr wrap="none" lIns="0" tIns="0" rIns="0" bIns="0" anchor="t" anchorCtr="0">
                <a:spAutoFit/>
              </a:bodyPr>
              <a:lstStyle/>
              <a:p>
                <a:pPr algn="l"/>
                <a:r>
                  <a:rPr lang="zh-CN" sz="975" b="1" dirty="0">
                    <a:solidFill>
                      <a:srgbClr val="B91C1C"/>
                    </a:solidFill>
                    <a:latin typeface="Manrope"/>
                    <a:ea typeface="Microsoft JhengHei"/>
                    <a:cs typeface="Manrope"/>
                  </a:rPr>
                  <a:t>- 「吃光光」是我們的北極星指標，功能層成功指標必須為北極星指標服務</a:t>
                </a:r>
              </a:p>
            </p:txBody>
          </p:sp>
        </p:grpSp>
        <p:grpSp>
          <p:nvGrpSpPr>
            <p:cNvPr id="26" name="Group 26"/>
            <p:cNvGrpSpPr/>
            <p:nvPr/>
          </p:nvGrpSpPr>
          <p:grpSpPr>
            <a:xfrm>
              <a:off x="5810250" y="3965972"/>
              <a:ext cx="5276660" cy="498872"/>
              <a:chOff x="5810250" y="3965972"/>
              <a:chExt cx="5276660" cy="498872"/>
            </a:xfrm>
          </p:grpSpPr>
          <p:grpSp>
            <p:nvGrpSpPr>
              <p:cNvPr id="23" name="Group 23"/>
              <p:cNvGrpSpPr/>
              <p:nvPr/>
            </p:nvGrpSpPr>
            <p:grpSpPr>
              <a:xfrm>
                <a:off x="5810250" y="3965972"/>
                <a:ext cx="209550" cy="183356"/>
                <a:chOff x="5810250" y="3965972"/>
                <a:chExt cx="209550" cy="183356"/>
              </a:xfrm>
            </p:grpSpPr>
            <p:sp>
              <p:nvSpPr>
                <p:cNvPr id="19" name="Freeform 19"/>
                <p:cNvSpPr/>
                <p:nvPr/>
              </p:nvSpPr>
              <p:spPr>
                <a:xfrm>
                  <a:off x="5849541" y="3965972"/>
                  <a:ext cx="65484" cy="65484"/>
                </a:xfrm>
                <a:custGeom>
                  <a:avLst/>
                  <a:gdLst/>
                  <a:ahLst/>
                  <a:cxnLst/>
                  <a:rect l="l" t="t" r="r" b="b"/>
                  <a:pathLst>
                    <a:path w="65484" h="65484">
                      <a:moveTo>
                        <a:pt x="65484" y="32742"/>
                      </a:moveTo>
                      <a:cubicBezTo>
                        <a:pt x="65484" y="50825"/>
                        <a:pt x="50825" y="65484"/>
                        <a:pt x="32742" y="65484"/>
                      </a:cubicBezTo>
                      <a:cubicBezTo>
                        <a:pt x="14659" y="65484"/>
                        <a:pt x="0" y="50825"/>
                        <a:pt x="0" y="32742"/>
                      </a:cubicBezTo>
                      <a:cubicBezTo>
                        <a:pt x="0" y="14659"/>
                        <a:pt x="14659" y="0"/>
                        <a:pt x="32742" y="0"/>
                      </a:cubicBezTo>
                      <a:cubicBezTo>
                        <a:pt x="50825" y="0"/>
                        <a:pt x="65484" y="14659"/>
                        <a:pt x="65484" y="32742"/>
                      </a:cubicBezTo>
                      <a:close/>
                    </a:path>
                  </a:pathLst>
                </a:custGeom>
                <a:solidFill>
                  <a:srgbClr val="153166"/>
                </a:solidFill>
                <a:ln>
                  <a:noFill/>
                </a:ln>
              </p:spPr>
            </p:sp>
            <p:sp>
              <p:nvSpPr>
                <p:cNvPr id="20" name="Freeform 20"/>
                <p:cNvSpPr/>
                <p:nvPr/>
              </p:nvSpPr>
              <p:spPr>
                <a:xfrm>
                  <a:off x="5810250" y="4057650"/>
                  <a:ext cx="104775" cy="91678"/>
                </a:xfrm>
                <a:custGeom>
                  <a:avLst/>
                  <a:gdLst/>
                  <a:ahLst/>
                  <a:cxnLst/>
                  <a:rect l="l" t="t" r="r" b="b"/>
                  <a:pathLst>
                    <a:path w="104775" h="91678">
                      <a:moveTo>
                        <a:pt x="39291" y="0"/>
                      </a:moveTo>
                      <a:cubicBezTo>
                        <a:pt x="17591" y="0"/>
                        <a:pt x="0" y="17591"/>
                        <a:pt x="0" y="39291"/>
                      </a:cubicBezTo>
                      <a:lnTo>
                        <a:pt x="0" y="91678"/>
                      </a:lnTo>
                      <a:lnTo>
                        <a:pt x="104775" y="91678"/>
                      </a:lnTo>
                      <a:lnTo>
                        <a:pt x="104775" y="0"/>
                      </a:lnTo>
                      <a:lnTo>
                        <a:pt x="39291" y="0"/>
                      </a:lnTo>
                      <a:close/>
                    </a:path>
                  </a:pathLst>
                </a:custGeom>
                <a:solidFill>
                  <a:srgbClr val="153166"/>
                </a:solidFill>
                <a:ln>
                  <a:noFill/>
                </a:ln>
              </p:spPr>
            </p:sp>
            <p:sp>
              <p:nvSpPr>
                <p:cNvPr id="21" name="Freeform 21"/>
                <p:cNvSpPr/>
                <p:nvPr/>
              </p:nvSpPr>
              <p:spPr>
                <a:xfrm>
                  <a:off x="5941219" y="4057650"/>
                  <a:ext cx="78581" cy="91678"/>
                </a:xfrm>
                <a:custGeom>
                  <a:avLst/>
                  <a:gdLst/>
                  <a:ahLst/>
                  <a:cxnLst/>
                  <a:rect l="l" t="t" r="r" b="b"/>
                  <a:pathLst>
                    <a:path w="78581" h="91678">
                      <a:moveTo>
                        <a:pt x="39291" y="0"/>
                      </a:moveTo>
                      <a:lnTo>
                        <a:pt x="0" y="0"/>
                      </a:lnTo>
                      <a:lnTo>
                        <a:pt x="0" y="91678"/>
                      </a:lnTo>
                      <a:lnTo>
                        <a:pt x="78581" y="91678"/>
                      </a:lnTo>
                      <a:lnTo>
                        <a:pt x="78581" y="39291"/>
                      </a:lnTo>
                      <a:cubicBezTo>
                        <a:pt x="78581" y="17591"/>
                        <a:pt x="60991" y="0"/>
                        <a:pt x="39291" y="0"/>
                      </a:cubicBezTo>
                      <a:close/>
                    </a:path>
                  </a:pathLst>
                </a:custGeom>
                <a:solidFill>
                  <a:srgbClr val="153166"/>
                </a:solidFill>
                <a:ln>
                  <a:noFill/>
                </a:ln>
              </p:spPr>
            </p:sp>
            <p:sp>
              <p:nvSpPr>
                <p:cNvPr id="22" name="Freeform 22"/>
                <p:cNvSpPr/>
                <p:nvPr/>
              </p:nvSpPr>
              <p:spPr>
                <a:xfrm>
                  <a:off x="5941219" y="3979069"/>
                  <a:ext cx="52388" cy="52388"/>
                </a:xfrm>
                <a:custGeom>
                  <a:avLst/>
                  <a:gdLst/>
                  <a:ahLst/>
                  <a:cxnLst/>
                  <a:rect l="l" t="t" r="r" b="b"/>
                  <a:pathLst>
                    <a:path w="52388" h="52388">
                      <a:moveTo>
                        <a:pt x="26194" y="52388"/>
                      </a:moveTo>
                      <a:cubicBezTo>
                        <a:pt x="40661" y="52388"/>
                        <a:pt x="52388" y="40660"/>
                        <a:pt x="52388" y="26194"/>
                      </a:cubicBezTo>
                      <a:cubicBezTo>
                        <a:pt x="52388" y="11727"/>
                        <a:pt x="40661" y="0"/>
                        <a:pt x="26194" y="0"/>
                      </a:cubicBezTo>
                      <a:cubicBezTo>
                        <a:pt x="11727" y="0"/>
                        <a:pt x="0" y="11727"/>
                        <a:pt x="0" y="26194"/>
                      </a:cubicBezTo>
                      <a:cubicBezTo>
                        <a:pt x="0" y="40660"/>
                        <a:pt x="11727" y="52388"/>
                        <a:pt x="26194" y="52388"/>
                      </a:cubicBezTo>
                      <a:close/>
                    </a:path>
                  </a:pathLst>
                </a:custGeom>
                <a:solidFill>
                  <a:srgbClr val="153166"/>
                </a:solidFill>
                <a:ln>
                  <a:noFill/>
                </a:ln>
              </p:spPr>
            </p:sp>
          </p:grpSp>
          <p:sp>
            <p:nvSpPr>
              <p:cNvPr id="24" name="TextBox 24"/>
              <p:cNvSpPr txBox="1"/>
              <p:nvPr/>
            </p:nvSpPr>
            <p:spPr>
              <a:xfrm>
                <a:off x="6099810" y="3994785"/>
                <a:ext cx="4987100" cy="243840"/>
              </a:xfrm>
              <a:prstGeom prst="rect">
                <a:avLst/>
              </a:prstGeom>
              <a:noFill/>
              <a:ln>
                <a:noFill/>
              </a:ln>
            </p:spPr>
            <p:txBody>
              <a:bodyPr wrap="none" lIns="0" tIns="0" rIns="0" bIns="0" anchor="t" anchorCtr="0">
                <a:spAutoFit/>
              </a:bodyPr>
              <a:lstStyle/>
              <a:p>
                <a:pPr algn="l"/>
                <a:r>
                  <a:rPr lang="zh-CN" sz="1200" b="1" dirty="0">
                    <a:solidFill>
                      <a:srgbClr val="153166"/>
                    </a:solidFill>
                    <a:latin typeface="Plus Jakarta Sans"/>
                    <a:ea typeface="Microsoft JhengHei"/>
                    <a:cs typeface="Plus Jakarta Sans"/>
                  </a:rPr>
                  <a:t>量能指標 (Volume Metric) —「點擊且採用 AI 主廚推薦的總人數」</a:t>
                </a:r>
              </a:p>
            </p:txBody>
          </p:sp>
          <p:sp>
            <p:nvSpPr>
              <p:cNvPr id="25" name="TextBox 25"/>
              <p:cNvSpPr txBox="1"/>
              <p:nvPr/>
            </p:nvSpPr>
            <p:spPr>
              <a:xfrm>
                <a:off x="6102668" y="4266724"/>
                <a:ext cx="4685848" cy="198120"/>
              </a:xfrm>
              <a:prstGeom prst="rect">
                <a:avLst/>
              </a:prstGeom>
              <a:noFill/>
              <a:ln>
                <a:noFill/>
              </a:ln>
            </p:spPr>
            <p:txBody>
              <a:bodyPr wrap="none" lIns="0" tIns="0" rIns="0" bIns="0" anchor="t" anchorCtr="0">
                <a:spAutoFit/>
              </a:bodyPr>
              <a:lstStyle/>
              <a:p>
                <a:pPr algn="l"/>
                <a:r>
                  <a:rPr lang="zh-CN" sz="975" dirty="0">
                    <a:solidFill>
                      <a:srgbClr val="525864"/>
                    </a:solidFill>
                    <a:latin typeface="Manrope"/>
                    <a:ea typeface="Microsoft JhengHei"/>
                    <a:cs typeface="Manrope"/>
                  </a:rPr>
                  <a:t>· 規模驗證：衡量功能採用規模，若量能不足，則說明無法對大盤產生實質影響。</a:t>
                </a:r>
              </a:p>
            </p:txBody>
          </p:sp>
        </p:grpSp>
        <p:grpSp>
          <p:nvGrpSpPr>
            <p:cNvPr id="31" name="Group 31"/>
            <p:cNvGrpSpPr/>
            <p:nvPr/>
          </p:nvGrpSpPr>
          <p:grpSpPr>
            <a:xfrm>
              <a:off x="5823347" y="5000625"/>
              <a:ext cx="5456787" cy="740569"/>
              <a:chOff x="5823347" y="5000625"/>
              <a:chExt cx="5456787" cy="740569"/>
            </a:xfrm>
          </p:grpSpPr>
          <p:sp>
            <p:nvSpPr>
              <p:cNvPr id="27" name="Freeform 27"/>
              <p:cNvSpPr/>
              <p:nvPr/>
            </p:nvSpPr>
            <p:spPr>
              <a:xfrm>
                <a:off x="5823347" y="5000625"/>
                <a:ext cx="183356" cy="209550"/>
              </a:xfrm>
              <a:custGeom>
                <a:avLst/>
                <a:gdLst/>
                <a:ahLst/>
                <a:cxnLst/>
                <a:rect l="l" t="t" r="r" b="b"/>
                <a:pathLst>
                  <a:path w="183356" h="209550">
                    <a:moveTo>
                      <a:pt x="43876" y="175405"/>
                    </a:moveTo>
                    <a:lnTo>
                      <a:pt x="91678" y="209550"/>
                    </a:lnTo>
                    <a:lnTo>
                      <a:pt x="139480" y="175405"/>
                    </a:lnTo>
                    <a:cubicBezTo>
                      <a:pt x="167015" y="155738"/>
                      <a:pt x="183356" y="123984"/>
                      <a:pt x="183356" y="90147"/>
                    </a:cubicBezTo>
                    <a:lnTo>
                      <a:pt x="183356" y="39291"/>
                    </a:lnTo>
                    <a:lnTo>
                      <a:pt x="91678" y="0"/>
                    </a:lnTo>
                    <a:lnTo>
                      <a:pt x="0" y="39291"/>
                    </a:lnTo>
                    <a:lnTo>
                      <a:pt x="0" y="90147"/>
                    </a:lnTo>
                    <a:cubicBezTo>
                      <a:pt x="0" y="123984"/>
                      <a:pt x="16341" y="155738"/>
                      <a:pt x="43876" y="175405"/>
                    </a:cubicBezTo>
                    <a:close/>
                  </a:path>
                </a:pathLst>
              </a:custGeom>
              <a:solidFill>
                <a:srgbClr val="153166"/>
              </a:solidFill>
              <a:ln>
                <a:noFill/>
              </a:ln>
            </p:spPr>
          </p:sp>
          <p:sp>
            <p:nvSpPr>
              <p:cNvPr id="28" name="TextBox 28"/>
              <p:cNvSpPr txBox="1"/>
              <p:nvPr/>
            </p:nvSpPr>
            <p:spPr>
              <a:xfrm>
                <a:off x="6099810" y="5042535"/>
                <a:ext cx="5180324" cy="243840"/>
              </a:xfrm>
              <a:prstGeom prst="rect">
                <a:avLst/>
              </a:prstGeom>
              <a:noFill/>
              <a:ln>
                <a:noFill/>
              </a:ln>
            </p:spPr>
            <p:txBody>
              <a:bodyPr wrap="none" lIns="0" tIns="0" rIns="0" bIns="0" anchor="t" anchorCtr="0">
                <a:spAutoFit/>
              </a:bodyPr>
              <a:lstStyle/>
              <a:p>
                <a:pPr algn="l"/>
                <a:r>
                  <a:rPr lang="zh-CN" sz="1200" b="1" dirty="0">
                    <a:solidFill>
                      <a:srgbClr val="153166"/>
                    </a:solidFill>
                    <a:latin typeface="Plus Jakarta Sans"/>
                    <a:ea typeface="Microsoft JhengHei"/>
                    <a:cs typeface="Plus Jakarta Sans"/>
                  </a:rPr>
                  <a:t>護欄指標 (Guardrail Metric) —「AI 主廚推薦菜的顧客 NPS 滿意度」</a:t>
                </a:r>
              </a:p>
            </p:txBody>
          </p:sp>
          <p:sp>
            <p:nvSpPr>
              <p:cNvPr id="29" name="TextBox 29"/>
              <p:cNvSpPr txBox="1"/>
              <p:nvPr/>
            </p:nvSpPr>
            <p:spPr>
              <a:xfrm>
                <a:off x="6102668" y="5314474"/>
                <a:ext cx="5075896" cy="198120"/>
              </a:xfrm>
              <a:prstGeom prst="rect">
                <a:avLst/>
              </a:prstGeom>
              <a:noFill/>
              <a:ln>
                <a:noFill/>
              </a:ln>
            </p:spPr>
            <p:txBody>
              <a:bodyPr wrap="none" lIns="0" tIns="0" rIns="0" bIns="0" anchor="t" anchorCtr="0">
                <a:spAutoFit/>
              </a:bodyPr>
              <a:lstStyle/>
              <a:p>
                <a:pPr algn="l"/>
                <a:r>
                  <a:rPr lang="zh-CN" sz="975" dirty="0">
                    <a:solidFill>
                      <a:srgbClr val="525864"/>
                    </a:solidFill>
                    <a:latin typeface="Manrope"/>
                    <a:ea typeface="Microsoft JhengHei"/>
                    <a:cs typeface="Manrope"/>
                  </a:rPr>
                  <a:t>· 防範偽裝：排除因「怕浪費」或「送飲料」而吃完的假象，確保吃光代表「真好吃」。</a:t>
                </a:r>
              </a:p>
            </p:txBody>
          </p:sp>
          <p:sp>
            <p:nvSpPr>
              <p:cNvPr id="30" name="TextBox 30"/>
              <p:cNvSpPr txBox="1"/>
              <p:nvPr/>
            </p:nvSpPr>
            <p:spPr>
              <a:xfrm>
                <a:off x="6255068" y="5543074"/>
                <a:ext cx="1096424" cy="198120"/>
              </a:xfrm>
              <a:prstGeom prst="rect">
                <a:avLst/>
              </a:prstGeom>
              <a:noFill/>
              <a:ln>
                <a:noFill/>
              </a:ln>
            </p:spPr>
            <p:txBody>
              <a:bodyPr wrap="none" lIns="0" tIns="0" rIns="0" bIns="0" anchor="t" anchorCtr="0">
                <a:spAutoFit/>
              </a:bodyPr>
              <a:lstStyle/>
              <a:p>
                <a:pPr algn="l"/>
                <a:r>
                  <a:rPr lang="zh-CN" sz="975" b="1" dirty="0">
                    <a:solidFill>
                      <a:srgbClr val="B91C1C"/>
                    </a:solidFill>
                    <a:latin typeface="Manrope"/>
                    <a:ea typeface="Microsoft JhengHei"/>
                    <a:cs typeface="Manrope"/>
                  </a:rPr>
                  <a:t>- 確保有品質的量</a:t>
                </a:r>
              </a:p>
            </p:txBody>
          </p:sp>
        </p:grpSp>
      </p:grpSp>
      <p:sp>
        <p:nvSpPr>
          <p:cNvPr id="33" name="TextBox 33"/>
          <p:cNvSpPr txBox="1"/>
          <p:nvPr/>
        </p:nvSpPr>
        <p:spPr>
          <a:xfrm>
            <a:off x="598170" y="6475095"/>
            <a:ext cx="2579179" cy="182880"/>
          </a:xfrm>
          <a:prstGeom prst="rect">
            <a:avLst/>
          </a:prstGeom>
          <a:noFill/>
          <a:ln>
            <a:noFill/>
          </a:ln>
        </p:spPr>
        <p:txBody>
          <a:bodyPr wrap="none" lIns="0" tIns="0" rIns="0" bIns="0" anchor="t" anchorCtr="0">
            <a:spAutoFit/>
          </a:bodyPr>
          <a:lstStyle/>
          <a:p>
            <a:pPr algn="l"/>
            <a:r>
              <a:rPr lang="zh-CN" sz="900" dirty="0">
                <a:solidFill>
                  <a:srgbClr val="525864"/>
                </a:solidFill>
                <a:latin typeface="Manrope"/>
                <a:ea typeface="Microsoft JhengHei"/>
                <a:cs typeface="Manrope"/>
              </a:rPr>
              <a:t>PM PROPOSAL &amp; METRICS EDUCATION · PAGE 06</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400"/>
                                        <p:tgtEl>
                                          <p:spTgt spid="2"/>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slide(fromBottom)">
                                      <p:cBhvr>
                                        <p:cTn id="11" dur="400"/>
                                        <p:tgtEl>
                                          <p:spTgt spid="3"/>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image">
                                      <p:cBhvr>
                                        <p:cTn id="15" dur="400"/>
                                        <p:tgtEl>
                                          <p:spTgt spid="4"/>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00"/>
                                        <p:tgtEl>
                                          <p:spTgt spid="7"/>
                                        </p:tgtEl>
                                      </p:cBhvr>
                                    </p:animEffect>
                                  </p:childTnLst>
                                </p:cTn>
                              </p:par>
                            </p:childTnLst>
                          </p:cTn>
                        </p:par>
                        <p:par>
                          <p:cTn id="20" fill="hold">
                            <p:stCondLst>
                              <p:cond delay="3600"/>
                            </p:stCondLst>
                            <p:childTnLst>
                              <p:par>
                                <p:cTn id="21" presetID="22" presetClass="entr" presetSubtype="1" fill="hold" nodeType="after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wipe(left)">
                                      <p:cBhvr>
                                        <p:cTn id="23" dur="400"/>
                                        <p:tgtEl>
                                          <p:spTgt spid="32"/>
                                        </p:tgtEl>
                                      </p:cBhvr>
                                    </p:animEffect>
                                  </p:childTnLst>
                                </p:cTn>
                              </p:par>
                            </p:childTnLst>
                          </p:cTn>
                        </p:par>
                        <p:par>
                          <p:cTn id="24" fill="hold">
                            <p:stCondLst>
                              <p:cond delay="4500"/>
                            </p:stCondLst>
                            <p:childTnLst>
                              <p:par>
                                <p:cTn id="25" presetID="2" presetClass="entr" presetSubtype="4" fill="hold" nodeType="after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slide(fromBottom)">
                                      <p:cBhvr>
                                        <p:cTn id="2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7" grpId="0"/>
      <p:bldP spid="32" grpId="0"/>
      <p:bldP spid="3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DFCF9"/>
          </a:solidFill>
          <a:ln>
            <a:noFill/>
          </a:ln>
        </p:spPr>
      </p:sp>
      <p:sp>
        <p:nvSpPr>
          <p:cNvPr id="3" name="TextBox 3"/>
          <p:cNvSpPr txBox="1"/>
          <p:nvPr/>
        </p:nvSpPr>
        <p:spPr>
          <a:xfrm>
            <a:off x="596265" y="648652"/>
            <a:ext cx="1489503" cy="213360"/>
          </a:xfrm>
          <a:prstGeom prst="rect">
            <a:avLst/>
          </a:prstGeom>
          <a:noFill/>
          <a:ln>
            <a:noFill/>
          </a:ln>
        </p:spPr>
        <p:txBody>
          <a:bodyPr wrap="none" lIns="0" tIns="0" rIns="0" bIns="0" anchor="t" anchorCtr="0">
            <a:spAutoFit/>
          </a:bodyPr>
          <a:lstStyle/>
          <a:p>
            <a:pPr algn="l"/>
            <a:r>
              <a:rPr lang="zh-CN" sz="1050" b="1" dirty="0">
                <a:solidFill>
                  <a:srgbClr val="007583"/>
                </a:solidFill>
                <a:latin typeface="Plus Jakarta Sans"/>
                <a:ea typeface="Microsoft JhengHei"/>
                <a:cs typeface="Plus Jakarta Sans"/>
              </a:rPr>
              <a:t>METRICS DRIVE ENGINE</a:t>
            </a:r>
          </a:p>
        </p:txBody>
      </p:sp>
      <p:sp>
        <p:nvSpPr>
          <p:cNvPr id="4" name="TextBox 4"/>
          <p:cNvSpPr txBox="1"/>
          <p:nvPr/>
        </p:nvSpPr>
        <p:spPr>
          <a:xfrm>
            <a:off x="582930" y="916305"/>
            <a:ext cx="5228387" cy="426720"/>
          </a:xfrm>
          <a:prstGeom prst="rect">
            <a:avLst/>
          </a:prstGeom>
          <a:noFill/>
          <a:ln>
            <a:noFill/>
          </a:ln>
        </p:spPr>
        <p:txBody>
          <a:bodyPr wrap="none" lIns="0" tIns="0" rIns="0" bIns="0" anchor="t" anchorCtr="0">
            <a:spAutoFit/>
          </a:bodyPr>
          <a:lstStyle/>
          <a:p>
            <a:pPr algn="l"/>
            <a:r>
              <a:rPr lang="zh-CN" sz="2100" b="1" dirty="0">
                <a:solidFill>
                  <a:srgbClr val="171C24"/>
                </a:solidFill>
                <a:latin typeface="Plus Jakarta Sans"/>
                <a:ea typeface="Microsoft JhengHei"/>
                <a:cs typeface="Plus Jakarta Sans"/>
              </a:rPr>
              <a:t>指標連動：PM 在日常迭代中的優化槓桿</a:t>
            </a:r>
          </a:p>
        </p:txBody>
      </p:sp>
      <p:grpSp>
        <p:nvGrpSpPr>
          <p:cNvPr id="43" name="Group 43"/>
          <p:cNvGrpSpPr/>
          <p:nvPr/>
        </p:nvGrpSpPr>
        <p:grpSpPr>
          <a:xfrm>
            <a:off x="609600" y="1714500"/>
            <a:ext cx="10972800" cy="3810000"/>
            <a:chOff x="609600" y="1714500"/>
            <a:chExt cx="10972800" cy="3810000"/>
          </a:xfrm>
        </p:grpSpPr>
        <p:grpSp>
          <p:nvGrpSpPr>
            <p:cNvPr id="24" name="Group 24"/>
            <p:cNvGrpSpPr/>
            <p:nvPr/>
          </p:nvGrpSpPr>
          <p:grpSpPr>
            <a:xfrm>
              <a:off x="609600" y="1714500"/>
              <a:ext cx="4953000" cy="3810000"/>
              <a:chOff x="609600" y="1714500"/>
              <a:chExt cx="4953000" cy="3810000"/>
            </a:xfrm>
          </p:grpSpPr>
          <p:sp>
            <p:nvSpPr>
              <p:cNvPr id="5" name="Rectangle 5"/>
              <p:cNvSpPr/>
              <p:nvPr/>
            </p:nvSpPr>
            <p:spPr>
              <a:xfrm>
                <a:off x="609600" y="1714500"/>
                <a:ext cx="4953000" cy="3810000"/>
              </a:xfrm>
              <a:prstGeom prst="roundRect">
                <a:avLst>
                  <a:gd name="adj" fmla="val 4000"/>
                </a:avLst>
              </a:prstGeom>
              <a:solidFill>
                <a:srgbClr val="FFFFFF"/>
              </a:solidFill>
              <a:ln w="14288">
                <a:solidFill>
                  <a:srgbClr val="E5E3DE"/>
                </a:solidFill>
              </a:ln>
            </p:spPr>
          </p:sp>
          <p:sp>
            <p:nvSpPr>
              <p:cNvPr id="6" name="TextBox 6"/>
              <p:cNvSpPr txBox="1"/>
              <p:nvPr/>
            </p:nvSpPr>
            <p:spPr>
              <a:xfrm>
                <a:off x="821055" y="1911668"/>
                <a:ext cx="2113550" cy="274320"/>
              </a:xfrm>
              <a:prstGeom prst="rect">
                <a:avLst/>
              </a:prstGeom>
              <a:noFill/>
              <a:ln>
                <a:noFill/>
              </a:ln>
            </p:spPr>
            <p:txBody>
              <a:bodyPr wrap="none" lIns="0" tIns="0" rIns="0" bIns="0" anchor="t" anchorCtr="0">
                <a:spAutoFit/>
              </a:bodyPr>
              <a:lstStyle/>
              <a:p>
                <a:pPr algn="l"/>
                <a:r>
                  <a:rPr lang="zh-CN" sz="1350" b="1" dirty="0">
                    <a:solidFill>
                      <a:srgbClr val="171C24"/>
                    </a:solidFill>
                    <a:latin typeface="Plus Jakarta Sans"/>
                    <a:ea typeface="Microsoft JhengHei"/>
                    <a:cs typeface="Plus Jakarta Sans"/>
                  </a:rPr>
                  <a:t>餐廳廚房指標的連動邏輯</a:t>
                </a:r>
              </a:p>
            </p:txBody>
          </p:sp>
          <p:sp>
            <p:nvSpPr>
              <p:cNvPr id="7" name="Ellipse 7"/>
              <p:cNvSpPr/>
              <p:nvPr/>
            </p:nvSpPr>
            <p:spPr>
              <a:xfrm>
                <a:off x="2038350" y="2952750"/>
                <a:ext cx="2095500" cy="2095500"/>
              </a:xfrm>
              <a:prstGeom prst="ellipse">
                <a:avLst/>
              </a:prstGeom>
              <a:noFill/>
              <a:ln w="19050">
                <a:solidFill>
                  <a:srgbClr val="E5E3DE"/>
                </a:solidFill>
                <a:custDash>
                  <a:ds d="300000" sp="200000"/>
                </a:custDash>
              </a:ln>
            </p:spPr>
          </p:sp>
          <p:grpSp>
            <p:nvGrpSpPr>
              <p:cNvPr id="11" name="Group 11"/>
              <p:cNvGrpSpPr/>
              <p:nvPr/>
            </p:nvGrpSpPr>
            <p:grpSpPr>
              <a:xfrm>
                <a:off x="2419350" y="2619375"/>
                <a:ext cx="1333500" cy="514350"/>
                <a:chOff x="2419350" y="2619375"/>
                <a:chExt cx="1333500" cy="514350"/>
              </a:xfrm>
            </p:grpSpPr>
            <p:sp>
              <p:nvSpPr>
                <p:cNvPr id="8" name="Rectangle 8"/>
                <p:cNvSpPr/>
                <p:nvPr/>
              </p:nvSpPr>
              <p:spPr>
                <a:xfrm>
                  <a:off x="2419350" y="2619375"/>
                  <a:ext cx="1333500" cy="514350"/>
                </a:xfrm>
                <a:prstGeom prst="roundRect">
                  <a:avLst>
                    <a:gd name="adj" fmla="val 14815"/>
                  </a:avLst>
                </a:prstGeom>
                <a:solidFill>
                  <a:srgbClr val="FFFFFF"/>
                </a:solidFill>
                <a:ln w="14288">
                  <a:solidFill>
                    <a:srgbClr val="153166"/>
                  </a:solidFill>
                </a:ln>
              </p:spPr>
            </p:sp>
            <p:sp>
              <p:nvSpPr>
                <p:cNvPr id="9" name="TextBox 9"/>
                <p:cNvSpPr txBox="1"/>
                <p:nvPr/>
              </p:nvSpPr>
              <p:spPr>
                <a:xfrm>
                  <a:off x="2419388" y="2750820"/>
                  <a:ext cx="1333424" cy="182880"/>
                </a:xfrm>
                <a:prstGeom prst="rect">
                  <a:avLst/>
                </a:prstGeom>
                <a:noFill/>
                <a:ln>
                  <a:noFill/>
                </a:ln>
              </p:spPr>
              <p:txBody>
                <a:bodyPr wrap="none" lIns="0" tIns="0" rIns="0" bIns="0" anchor="t" anchorCtr="0">
                  <a:spAutoFit/>
                </a:bodyPr>
                <a:lstStyle/>
                <a:p>
                  <a:pPr algn="ctr"/>
                  <a:r>
                    <a:rPr lang="zh-CN" sz="900" b="1" dirty="0">
                      <a:solidFill>
                        <a:srgbClr val="153166"/>
                      </a:solidFill>
                      <a:latin typeface="Plus Jakarta Sans"/>
                      <a:ea typeface="Microsoft JhengHei"/>
                      <a:cs typeface="Plus Jakarta Sans"/>
                    </a:rPr>
                    <a:t>北極星指標 (大盤結果)</a:t>
                  </a:r>
                </a:p>
              </p:txBody>
            </p:sp>
            <p:sp>
              <p:nvSpPr>
                <p:cNvPr id="10" name="TextBox 10"/>
                <p:cNvSpPr txBox="1"/>
                <p:nvPr/>
              </p:nvSpPr>
              <p:spPr>
                <a:xfrm>
                  <a:off x="2613565" y="2930366"/>
                  <a:ext cx="945071" cy="167640"/>
                </a:xfrm>
                <a:prstGeom prst="rect">
                  <a:avLst/>
                </a:prstGeom>
                <a:noFill/>
                <a:ln>
                  <a:noFill/>
                </a:ln>
              </p:spPr>
              <p:txBody>
                <a:bodyPr wrap="none" lIns="0" tIns="0" rIns="0" bIns="0" anchor="t" anchorCtr="0">
                  <a:spAutoFit/>
                </a:bodyPr>
                <a:lstStyle/>
                <a:p>
                  <a:pPr algn="ctr"/>
                  <a:r>
                    <a:rPr lang="zh-CN" sz="825" b="1" dirty="0">
                      <a:solidFill>
                        <a:srgbClr val="171C24"/>
                      </a:solidFill>
                      <a:latin typeface="Manrope"/>
                      <a:ea typeface="Microsoft JhengHei"/>
                      <a:cs typeface="Manrope"/>
                    </a:rPr>
                    <a:t>每週吃光光盤總數</a:t>
                  </a:r>
                </a:p>
              </p:txBody>
            </p:sp>
          </p:grpSp>
          <p:grpSp>
            <p:nvGrpSpPr>
              <p:cNvPr id="15" name="Group 15"/>
              <p:cNvGrpSpPr/>
              <p:nvPr/>
            </p:nvGrpSpPr>
            <p:grpSpPr>
              <a:xfrm>
                <a:off x="3705225" y="3743325"/>
                <a:ext cx="1333500" cy="514350"/>
                <a:chOff x="3705225" y="3743325"/>
                <a:chExt cx="1333500" cy="514350"/>
              </a:xfrm>
            </p:grpSpPr>
            <p:sp>
              <p:nvSpPr>
                <p:cNvPr id="12" name="Rectangle 12"/>
                <p:cNvSpPr/>
                <p:nvPr/>
              </p:nvSpPr>
              <p:spPr>
                <a:xfrm>
                  <a:off x="3705225" y="3743325"/>
                  <a:ext cx="1333500" cy="514350"/>
                </a:xfrm>
                <a:prstGeom prst="roundRect">
                  <a:avLst>
                    <a:gd name="adj" fmla="val 14815"/>
                  </a:avLst>
                </a:prstGeom>
                <a:solidFill>
                  <a:srgbClr val="FFFFFF"/>
                </a:solidFill>
                <a:ln w="14288">
                  <a:solidFill>
                    <a:srgbClr val="00969D"/>
                  </a:solidFill>
                </a:ln>
              </p:spPr>
            </p:sp>
            <p:sp>
              <p:nvSpPr>
                <p:cNvPr id="13" name="TextBox 13"/>
                <p:cNvSpPr txBox="1"/>
                <p:nvPr/>
              </p:nvSpPr>
              <p:spPr>
                <a:xfrm>
                  <a:off x="3705263" y="3874770"/>
                  <a:ext cx="1333424" cy="182880"/>
                </a:xfrm>
                <a:prstGeom prst="rect">
                  <a:avLst/>
                </a:prstGeom>
                <a:noFill/>
                <a:ln>
                  <a:noFill/>
                </a:ln>
              </p:spPr>
              <p:txBody>
                <a:bodyPr wrap="none" lIns="0" tIns="0" rIns="0" bIns="0" anchor="t" anchorCtr="0">
                  <a:spAutoFit/>
                </a:bodyPr>
                <a:lstStyle/>
                <a:p>
                  <a:pPr algn="ctr"/>
                  <a:r>
                    <a:rPr lang="zh-CN" sz="900" b="1" dirty="0">
                      <a:solidFill>
                        <a:srgbClr val="00969D"/>
                      </a:solidFill>
                      <a:latin typeface="Plus Jakarta Sans"/>
                      <a:ea typeface="Microsoft JhengHei"/>
                      <a:cs typeface="Plus Jakarta Sans"/>
                    </a:rPr>
                    <a:t>功能層成功 (功能價值)</a:t>
                  </a:r>
                </a:p>
              </p:txBody>
            </p:sp>
            <p:sp>
              <p:nvSpPr>
                <p:cNvPr id="14" name="TextBox 14"/>
                <p:cNvSpPr txBox="1"/>
                <p:nvPr/>
              </p:nvSpPr>
              <p:spPr>
                <a:xfrm>
                  <a:off x="3841683" y="4054316"/>
                  <a:ext cx="1060585" cy="167640"/>
                </a:xfrm>
                <a:prstGeom prst="rect">
                  <a:avLst/>
                </a:prstGeom>
                <a:noFill/>
                <a:ln>
                  <a:noFill/>
                </a:ln>
              </p:spPr>
              <p:txBody>
                <a:bodyPr wrap="none" lIns="0" tIns="0" rIns="0" bIns="0" anchor="t" anchorCtr="0">
                  <a:spAutoFit/>
                </a:bodyPr>
                <a:lstStyle/>
                <a:p>
                  <a:pPr algn="ctr"/>
                  <a:r>
                    <a:rPr lang="zh-CN" sz="825" b="1" dirty="0">
                      <a:solidFill>
                        <a:srgbClr val="171C24"/>
                      </a:solidFill>
                      <a:latin typeface="Manrope"/>
                      <a:ea typeface="Microsoft JhengHei"/>
                      <a:cs typeface="Manrope"/>
                    </a:rPr>
                    <a:t>點推薦菜且吃完人數</a:t>
                  </a:r>
                </a:p>
              </p:txBody>
            </p:sp>
          </p:grpSp>
          <p:grpSp>
            <p:nvGrpSpPr>
              <p:cNvPr id="19" name="Group 19"/>
              <p:cNvGrpSpPr/>
              <p:nvPr/>
            </p:nvGrpSpPr>
            <p:grpSpPr>
              <a:xfrm>
                <a:off x="2419350" y="4667250"/>
                <a:ext cx="1333500" cy="514350"/>
                <a:chOff x="2419350" y="4667250"/>
                <a:chExt cx="1333500" cy="514350"/>
              </a:xfrm>
            </p:grpSpPr>
            <p:sp>
              <p:nvSpPr>
                <p:cNvPr id="16" name="Rectangle 16"/>
                <p:cNvSpPr/>
                <p:nvPr/>
              </p:nvSpPr>
              <p:spPr>
                <a:xfrm>
                  <a:off x="2419350" y="4667250"/>
                  <a:ext cx="1333500" cy="514350"/>
                </a:xfrm>
                <a:prstGeom prst="roundRect">
                  <a:avLst>
                    <a:gd name="adj" fmla="val 14815"/>
                  </a:avLst>
                </a:prstGeom>
                <a:solidFill>
                  <a:srgbClr val="FFFFFF"/>
                </a:solidFill>
                <a:ln w="14288">
                  <a:solidFill>
                    <a:srgbClr val="E5E3DE"/>
                  </a:solidFill>
                </a:ln>
              </p:spPr>
            </p:sp>
            <p:sp>
              <p:nvSpPr>
                <p:cNvPr id="17" name="TextBox 17"/>
                <p:cNvSpPr txBox="1"/>
                <p:nvPr/>
              </p:nvSpPr>
              <p:spPr>
                <a:xfrm>
                  <a:off x="2482396" y="4798695"/>
                  <a:ext cx="1207408" cy="182880"/>
                </a:xfrm>
                <a:prstGeom prst="rect">
                  <a:avLst/>
                </a:prstGeom>
                <a:noFill/>
                <a:ln>
                  <a:noFill/>
                </a:ln>
              </p:spPr>
              <p:txBody>
                <a:bodyPr wrap="none" lIns="0" tIns="0" rIns="0" bIns="0" anchor="t" anchorCtr="0">
                  <a:spAutoFit/>
                </a:bodyPr>
                <a:lstStyle/>
                <a:p>
                  <a:pPr algn="ctr"/>
                  <a:r>
                    <a:rPr lang="zh-CN" sz="900" b="1" dirty="0">
                      <a:solidFill>
                        <a:srgbClr val="153166"/>
                      </a:solidFill>
                      <a:latin typeface="Plus Jakarta Sans"/>
                      <a:ea typeface="Microsoft JhengHei"/>
                      <a:cs typeface="Plus Jakarta Sans"/>
                    </a:rPr>
                    <a:t>量能指標 (入口數量)</a:t>
                  </a:r>
                </a:p>
              </p:txBody>
            </p:sp>
            <p:sp>
              <p:nvSpPr>
                <p:cNvPr id="18" name="TextBox 18"/>
                <p:cNvSpPr txBox="1"/>
                <p:nvPr/>
              </p:nvSpPr>
              <p:spPr>
                <a:xfrm>
                  <a:off x="2555808" y="4978241"/>
                  <a:ext cx="1060585" cy="167640"/>
                </a:xfrm>
                <a:prstGeom prst="rect">
                  <a:avLst/>
                </a:prstGeom>
                <a:noFill/>
                <a:ln>
                  <a:noFill/>
                </a:ln>
              </p:spPr>
              <p:txBody>
                <a:bodyPr wrap="none" lIns="0" tIns="0" rIns="0" bIns="0" anchor="t" anchorCtr="0">
                  <a:spAutoFit/>
                </a:bodyPr>
                <a:lstStyle/>
                <a:p>
                  <a:pPr algn="ctr"/>
                  <a:r>
                    <a:rPr lang="zh-CN" sz="825" b="1" dirty="0">
                      <a:solidFill>
                        <a:srgbClr val="525864"/>
                      </a:solidFill>
                      <a:latin typeface="Manrope"/>
                      <a:ea typeface="Microsoft JhengHei"/>
                      <a:cs typeface="Manrope"/>
                    </a:rPr>
                    <a:t>點擊並採用推薦人數</a:t>
                  </a:r>
                </a:p>
              </p:txBody>
            </p:sp>
          </p:grpSp>
          <p:grpSp>
            <p:nvGrpSpPr>
              <p:cNvPr id="23" name="Group 23"/>
              <p:cNvGrpSpPr/>
              <p:nvPr/>
            </p:nvGrpSpPr>
            <p:grpSpPr>
              <a:xfrm>
                <a:off x="1133475" y="3743325"/>
                <a:ext cx="1333500" cy="514350"/>
                <a:chOff x="1133475" y="3743325"/>
                <a:chExt cx="1333500" cy="514350"/>
              </a:xfrm>
            </p:grpSpPr>
            <p:sp>
              <p:nvSpPr>
                <p:cNvPr id="20" name="Rectangle 20"/>
                <p:cNvSpPr/>
                <p:nvPr/>
              </p:nvSpPr>
              <p:spPr>
                <a:xfrm>
                  <a:off x="1133475" y="3743325"/>
                  <a:ext cx="1333500" cy="514350"/>
                </a:xfrm>
                <a:prstGeom prst="roundRect">
                  <a:avLst>
                    <a:gd name="adj" fmla="val 14815"/>
                  </a:avLst>
                </a:prstGeom>
                <a:solidFill>
                  <a:srgbClr val="FFFFFF"/>
                </a:solidFill>
                <a:ln w="14288">
                  <a:solidFill>
                    <a:srgbClr val="B91C1C"/>
                  </a:solidFill>
                </a:ln>
              </p:spPr>
            </p:sp>
            <p:sp>
              <p:nvSpPr>
                <p:cNvPr id="21" name="TextBox 21"/>
                <p:cNvSpPr txBox="1"/>
                <p:nvPr/>
              </p:nvSpPr>
              <p:spPr>
                <a:xfrm>
                  <a:off x="1196521" y="3874770"/>
                  <a:ext cx="1207408" cy="182880"/>
                </a:xfrm>
                <a:prstGeom prst="rect">
                  <a:avLst/>
                </a:prstGeom>
                <a:noFill/>
                <a:ln>
                  <a:noFill/>
                </a:ln>
              </p:spPr>
              <p:txBody>
                <a:bodyPr wrap="none" lIns="0" tIns="0" rIns="0" bIns="0" anchor="t" anchorCtr="0">
                  <a:spAutoFit/>
                </a:bodyPr>
                <a:lstStyle/>
                <a:p>
                  <a:pPr algn="ctr"/>
                  <a:r>
                    <a:rPr lang="zh-CN" sz="900" b="1" dirty="0">
                      <a:solidFill>
                        <a:srgbClr val="B91C1C"/>
                      </a:solidFill>
                      <a:latin typeface="Plus Jakarta Sans"/>
                      <a:ea typeface="Microsoft JhengHei"/>
                      <a:cs typeface="Plus Jakarta Sans"/>
                    </a:rPr>
                    <a:t>護欄指標 (品質把關)</a:t>
                  </a:r>
                </a:p>
              </p:txBody>
            </p:sp>
            <p:sp>
              <p:nvSpPr>
                <p:cNvPr id="22" name="TextBox 22"/>
                <p:cNvSpPr txBox="1"/>
                <p:nvPr/>
              </p:nvSpPr>
              <p:spPr>
                <a:xfrm>
                  <a:off x="1313250" y="4054316"/>
                  <a:ext cx="973949" cy="167640"/>
                </a:xfrm>
                <a:prstGeom prst="rect">
                  <a:avLst/>
                </a:prstGeom>
                <a:noFill/>
                <a:ln>
                  <a:noFill/>
                </a:ln>
              </p:spPr>
              <p:txBody>
                <a:bodyPr wrap="none" lIns="0" tIns="0" rIns="0" bIns="0" anchor="t" anchorCtr="0">
                  <a:spAutoFit/>
                </a:bodyPr>
                <a:lstStyle/>
                <a:p>
                  <a:pPr algn="ctr"/>
                  <a:r>
                    <a:rPr lang="zh-CN" sz="825" b="1" dirty="0">
                      <a:solidFill>
                        <a:srgbClr val="171C24"/>
                      </a:solidFill>
                      <a:latin typeface="Manrope"/>
                      <a:ea typeface="Microsoft JhengHei"/>
                      <a:cs typeface="Manrope"/>
                    </a:rPr>
                    <a:t>推薦菜 NPS 滿意度</a:t>
                  </a:r>
                </a:p>
              </p:txBody>
            </p:sp>
          </p:grpSp>
        </p:grpSp>
        <p:grpSp>
          <p:nvGrpSpPr>
            <p:cNvPr id="42" name="Group 42"/>
            <p:cNvGrpSpPr/>
            <p:nvPr/>
          </p:nvGrpSpPr>
          <p:grpSpPr>
            <a:xfrm>
              <a:off x="5848350" y="1714500"/>
              <a:ext cx="5734050" cy="3810000"/>
              <a:chOff x="5848350" y="1714500"/>
              <a:chExt cx="5734050" cy="3810000"/>
            </a:xfrm>
          </p:grpSpPr>
          <p:sp>
            <p:nvSpPr>
              <p:cNvPr id="25" name="Rectangle 25"/>
              <p:cNvSpPr/>
              <p:nvPr/>
            </p:nvSpPr>
            <p:spPr>
              <a:xfrm>
                <a:off x="5848350" y="1714500"/>
                <a:ext cx="5734050" cy="3810000"/>
              </a:xfrm>
              <a:prstGeom prst="roundRect">
                <a:avLst>
                  <a:gd name="adj" fmla="val 4000"/>
                </a:avLst>
              </a:prstGeom>
              <a:solidFill>
                <a:srgbClr val="F3F2ED"/>
              </a:solidFill>
              <a:ln w="14288">
                <a:solidFill>
                  <a:srgbClr val="E5E3DE"/>
                </a:solidFill>
              </a:ln>
            </p:spPr>
          </p:sp>
          <p:sp>
            <p:nvSpPr>
              <p:cNvPr id="26" name="TextBox 26"/>
              <p:cNvSpPr txBox="1"/>
              <p:nvPr/>
            </p:nvSpPr>
            <p:spPr>
              <a:xfrm>
                <a:off x="6059805" y="1911668"/>
                <a:ext cx="1659893" cy="274320"/>
              </a:xfrm>
              <a:prstGeom prst="rect">
                <a:avLst/>
              </a:prstGeom>
              <a:noFill/>
              <a:ln>
                <a:noFill/>
              </a:ln>
            </p:spPr>
            <p:txBody>
              <a:bodyPr wrap="none" lIns="0" tIns="0" rIns="0" bIns="0" anchor="t" anchorCtr="0">
                <a:spAutoFit/>
              </a:bodyPr>
              <a:lstStyle/>
              <a:p>
                <a:pPr algn="l"/>
                <a:r>
                  <a:rPr lang="zh-CN" sz="1350" b="1" dirty="0">
                    <a:solidFill>
                      <a:srgbClr val="153166"/>
                    </a:solidFill>
                    <a:latin typeface="Plus Jakarta Sans"/>
                    <a:ea typeface="Microsoft JhengHei"/>
                    <a:cs typeface="Plus Jakarta Sans"/>
                  </a:rPr>
                  <a:t>PM 的指標拉動路徑</a:t>
                </a:r>
              </a:p>
            </p:txBody>
          </p:sp>
          <p:grpSp>
            <p:nvGrpSpPr>
              <p:cNvPr id="31" name="Group 31"/>
              <p:cNvGrpSpPr/>
              <p:nvPr/>
            </p:nvGrpSpPr>
            <p:grpSpPr>
              <a:xfrm>
                <a:off x="6076950" y="2381250"/>
                <a:ext cx="4032885" cy="728662"/>
                <a:chOff x="6076950" y="2381250"/>
                <a:chExt cx="4032885" cy="728662"/>
              </a:xfrm>
            </p:grpSpPr>
            <p:sp>
              <p:nvSpPr>
                <p:cNvPr id="27" name="Ellipse 27"/>
                <p:cNvSpPr/>
                <p:nvPr/>
              </p:nvSpPr>
              <p:spPr>
                <a:xfrm>
                  <a:off x="6076950" y="2381250"/>
                  <a:ext cx="304800" cy="304800"/>
                </a:xfrm>
                <a:prstGeom prst="ellipse">
                  <a:avLst/>
                </a:prstGeom>
                <a:solidFill>
                  <a:srgbClr val="FFFFFF"/>
                </a:solidFill>
                <a:ln>
                  <a:noFill/>
                </a:ln>
              </p:spPr>
            </p:sp>
            <p:sp>
              <p:nvSpPr>
                <p:cNvPr id="28" name="TextBox 28"/>
                <p:cNvSpPr txBox="1"/>
                <p:nvPr/>
              </p:nvSpPr>
              <p:spPr>
                <a:xfrm>
                  <a:off x="6175585" y="2477452"/>
                  <a:ext cx="107530" cy="213360"/>
                </a:xfrm>
                <a:prstGeom prst="rect">
                  <a:avLst/>
                </a:prstGeom>
                <a:noFill/>
                <a:ln>
                  <a:noFill/>
                </a:ln>
              </p:spPr>
              <p:txBody>
                <a:bodyPr wrap="none" lIns="0" tIns="0" rIns="0" bIns="0" anchor="t" anchorCtr="0">
                  <a:spAutoFit/>
                </a:bodyPr>
                <a:lstStyle/>
                <a:p>
                  <a:pPr algn="ctr"/>
                  <a:r>
                    <a:rPr lang="zh-CN" sz="1050" b="1" dirty="0">
                      <a:solidFill>
                        <a:srgbClr val="153166"/>
                      </a:solidFill>
                      <a:latin typeface="Plus Jakarta Sans"/>
                      <a:ea typeface="Microsoft YaHei"/>
                      <a:cs typeface="Plus Jakarta Sans"/>
                    </a:rPr>
                    <a:t>1</a:t>
                  </a:r>
                </a:p>
              </p:txBody>
            </p:sp>
            <p:sp>
              <p:nvSpPr>
                <p:cNvPr id="29" name="TextBox 29"/>
                <p:cNvSpPr txBox="1"/>
                <p:nvPr/>
              </p:nvSpPr>
              <p:spPr>
                <a:xfrm>
                  <a:off x="6480810" y="2451735"/>
                  <a:ext cx="1038606" cy="243840"/>
                </a:xfrm>
                <a:prstGeom prst="rect">
                  <a:avLst/>
                </a:prstGeom>
                <a:noFill/>
                <a:ln>
                  <a:noFill/>
                </a:ln>
              </p:spPr>
              <p:txBody>
                <a:bodyPr wrap="none" lIns="0" tIns="0" rIns="0" bIns="0" anchor="t" anchorCtr="0">
                  <a:spAutoFit/>
                </a:bodyPr>
                <a:lstStyle/>
                <a:p>
                  <a:pPr algn="l"/>
                  <a:r>
                    <a:rPr lang="zh-CN" sz="1200" b="1" dirty="0">
                      <a:solidFill>
                        <a:srgbClr val="171C24"/>
                      </a:solidFill>
                      <a:latin typeface="Plus Jakarta Sans"/>
                      <a:ea typeface="Microsoft JhengHei"/>
                      <a:cs typeface="Plus Jakarta Sans"/>
                    </a:rPr>
                    <a:t>拉動量能指標</a:t>
                  </a:r>
                </a:p>
              </p:txBody>
            </p:sp>
            <p:sp>
              <p:nvSpPr>
                <p:cNvPr id="30" name="TextBox 30"/>
                <p:cNvSpPr txBox="1"/>
                <p:nvPr/>
              </p:nvSpPr>
              <p:spPr>
                <a:xfrm>
                  <a:off x="6482715" y="2687002"/>
                  <a:ext cx="3627120" cy="422910"/>
                </a:xfrm>
                <a:prstGeom prst="rect">
                  <a:avLst/>
                </a:prstGeom>
                <a:noFill/>
                <a:ln>
                  <a:noFill/>
                </a:ln>
              </p:spPr>
              <p:txBody>
                <a:bodyPr wrap="square" lIns="0" tIns="0" rIns="0" bIns="0" anchor="t" anchorCtr="0"/>
                <a:lstStyle/>
                <a:p>
                  <a:pPr algn="l">
                    <a:lnSpc>
                      <a:spcPts val="1650"/>
                    </a:lnSpc>
                  </a:pPr>
                  <a:r>
                    <a:rPr lang="zh-CN" sz="1050" dirty="0">
                      <a:solidFill>
                        <a:srgbClr val="525864"/>
                      </a:solidFill>
                      <a:latin typeface="Manrope"/>
                      <a:ea typeface="Microsoft JhengHei"/>
                      <a:cs typeface="Manrope"/>
                    </a:rPr>
                    <a:t>透過顯眼的菜單設計吸引更多人點餐。如果品質不變，</a:t>
                  </a:r>
                  <a:r>
                    <a:rPr lang="zh-CN" sz="1050" dirty="0">
                      <a:solidFill>
                        <a:srgbClr val="525864"/>
                      </a:solidFill>
                      <a:latin typeface="Manrope"/>
                      <a:ea typeface="Microsoft JhengHei"/>
                      <a:cs typeface="Manrope"/>
                    </a:rPr>
                    <a:t>點餐基數變大，功能層成功指標上升，進而拉動大盤北極星。</a:t>
                  </a:r>
                </a:p>
              </p:txBody>
            </p:sp>
          </p:grpSp>
          <p:grpSp>
            <p:nvGrpSpPr>
              <p:cNvPr id="36" name="Group 36"/>
              <p:cNvGrpSpPr/>
              <p:nvPr/>
            </p:nvGrpSpPr>
            <p:grpSpPr>
              <a:xfrm>
                <a:off x="6076950" y="3381375"/>
                <a:ext cx="3666173" cy="728663"/>
                <a:chOff x="6076950" y="3381375"/>
                <a:chExt cx="3666173" cy="728663"/>
              </a:xfrm>
            </p:grpSpPr>
            <p:sp>
              <p:nvSpPr>
                <p:cNvPr id="32" name="Ellipse 32"/>
                <p:cNvSpPr/>
                <p:nvPr/>
              </p:nvSpPr>
              <p:spPr>
                <a:xfrm>
                  <a:off x="6076950" y="3381375"/>
                  <a:ext cx="304800" cy="304800"/>
                </a:xfrm>
                <a:prstGeom prst="ellipse">
                  <a:avLst/>
                </a:prstGeom>
                <a:solidFill>
                  <a:srgbClr val="FFFFFF"/>
                </a:solidFill>
                <a:ln>
                  <a:noFill/>
                </a:ln>
              </p:spPr>
            </p:sp>
            <p:sp>
              <p:nvSpPr>
                <p:cNvPr id="33" name="TextBox 33"/>
                <p:cNvSpPr txBox="1"/>
                <p:nvPr/>
              </p:nvSpPr>
              <p:spPr>
                <a:xfrm>
                  <a:off x="6175585" y="3477578"/>
                  <a:ext cx="107530" cy="213360"/>
                </a:xfrm>
                <a:prstGeom prst="rect">
                  <a:avLst/>
                </a:prstGeom>
                <a:noFill/>
                <a:ln>
                  <a:noFill/>
                </a:ln>
              </p:spPr>
              <p:txBody>
                <a:bodyPr wrap="none" lIns="0" tIns="0" rIns="0" bIns="0" anchor="t" anchorCtr="0">
                  <a:spAutoFit/>
                </a:bodyPr>
                <a:lstStyle/>
                <a:p>
                  <a:pPr algn="ctr"/>
                  <a:r>
                    <a:rPr lang="zh-CN" sz="1050" b="1" dirty="0">
                      <a:solidFill>
                        <a:srgbClr val="153166"/>
                      </a:solidFill>
                      <a:latin typeface="Plus Jakarta Sans"/>
                      <a:ea typeface="Microsoft YaHei"/>
                      <a:cs typeface="Plus Jakarta Sans"/>
                    </a:rPr>
                    <a:t>2</a:t>
                  </a:r>
                </a:p>
              </p:txBody>
            </p:sp>
            <p:sp>
              <p:nvSpPr>
                <p:cNvPr id="34" name="TextBox 34"/>
                <p:cNvSpPr txBox="1"/>
                <p:nvPr/>
              </p:nvSpPr>
              <p:spPr>
                <a:xfrm>
                  <a:off x="6480810" y="3451860"/>
                  <a:ext cx="1038606" cy="243840"/>
                </a:xfrm>
                <a:prstGeom prst="rect">
                  <a:avLst/>
                </a:prstGeom>
                <a:noFill/>
                <a:ln>
                  <a:noFill/>
                </a:ln>
              </p:spPr>
              <p:txBody>
                <a:bodyPr wrap="none" lIns="0" tIns="0" rIns="0" bIns="0" anchor="t" anchorCtr="0">
                  <a:spAutoFit/>
                </a:bodyPr>
                <a:lstStyle/>
                <a:p>
                  <a:pPr algn="l"/>
                  <a:r>
                    <a:rPr lang="zh-CN" sz="1200" b="1" dirty="0">
                      <a:solidFill>
                        <a:srgbClr val="171C24"/>
                      </a:solidFill>
                      <a:latin typeface="Plus Jakarta Sans"/>
                      <a:ea typeface="Microsoft JhengHei"/>
                      <a:cs typeface="Plus Jakarta Sans"/>
                    </a:rPr>
                    <a:t>盯緊護欄指標</a:t>
                  </a:r>
                </a:p>
              </p:txBody>
            </p:sp>
            <p:sp>
              <p:nvSpPr>
                <p:cNvPr id="35" name="TextBox 35"/>
                <p:cNvSpPr txBox="1"/>
                <p:nvPr/>
              </p:nvSpPr>
              <p:spPr>
                <a:xfrm>
                  <a:off x="6482715" y="3687128"/>
                  <a:ext cx="3260408" cy="422910"/>
                </a:xfrm>
                <a:prstGeom prst="rect">
                  <a:avLst/>
                </a:prstGeom>
                <a:noFill/>
                <a:ln>
                  <a:noFill/>
                </a:ln>
              </p:spPr>
              <p:txBody>
                <a:bodyPr wrap="square" lIns="0" tIns="0" rIns="0" bIns="0" anchor="t" anchorCtr="0"/>
                <a:lstStyle/>
                <a:p>
                  <a:pPr algn="l">
                    <a:lnSpc>
                      <a:spcPts val="1650"/>
                    </a:lnSpc>
                  </a:pPr>
                  <a:r>
                    <a:rPr lang="zh-CN" sz="1050" dirty="0">
                      <a:solidFill>
                        <a:srgbClr val="525864"/>
                      </a:solidFill>
                      <a:latin typeface="Manrope"/>
                      <a:ea typeface="Microsoft JhengHei"/>
                      <a:cs typeface="Manrope"/>
                    </a:rPr>
                    <a:t>如果大量點餐但 NPS 下滑，說明品質出問題，這會阻礙</a:t>
                  </a:r>
                  <a:r>
                    <a:rPr lang="zh-CN" sz="1050" dirty="0">
                      <a:solidFill>
                        <a:srgbClr val="525864"/>
                      </a:solidFill>
                      <a:latin typeface="Manrope"/>
                      <a:ea typeface="Microsoft JhengHei"/>
                      <a:cs typeface="Manrope"/>
                    </a:rPr>
                    <a:t>功能層成功指標的長期成長，導致飛輪失速。</a:t>
                  </a:r>
                </a:p>
              </p:txBody>
            </p:sp>
          </p:grpSp>
          <p:grpSp>
            <p:nvGrpSpPr>
              <p:cNvPr id="41" name="Group 41"/>
              <p:cNvGrpSpPr/>
              <p:nvPr/>
            </p:nvGrpSpPr>
            <p:grpSpPr>
              <a:xfrm>
                <a:off x="6076950" y="4381500"/>
                <a:ext cx="4632960" cy="728662"/>
                <a:chOff x="6076950" y="4381500"/>
                <a:chExt cx="4632960" cy="728662"/>
              </a:xfrm>
            </p:grpSpPr>
            <p:sp>
              <p:nvSpPr>
                <p:cNvPr id="37" name="Ellipse 37"/>
                <p:cNvSpPr/>
                <p:nvPr/>
              </p:nvSpPr>
              <p:spPr>
                <a:xfrm>
                  <a:off x="6076950" y="4381500"/>
                  <a:ext cx="304800" cy="304800"/>
                </a:xfrm>
                <a:prstGeom prst="ellipse">
                  <a:avLst/>
                </a:prstGeom>
                <a:solidFill>
                  <a:srgbClr val="FFFFFF"/>
                </a:solidFill>
                <a:ln>
                  <a:noFill/>
                </a:ln>
              </p:spPr>
            </p:sp>
            <p:sp>
              <p:nvSpPr>
                <p:cNvPr id="38" name="TextBox 38"/>
                <p:cNvSpPr txBox="1"/>
                <p:nvPr/>
              </p:nvSpPr>
              <p:spPr>
                <a:xfrm>
                  <a:off x="6175585" y="4477702"/>
                  <a:ext cx="107530" cy="213360"/>
                </a:xfrm>
                <a:prstGeom prst="rect">
                  <a:avLst/>
                </a:prstGeom>
                <a:noFill/>
                <a:ln>
                  <a:noFill/>
                </a:ln>
              </p:spPr>
              <p:txBody>
                <a:bodyPr wrap="none" lIns="0" tIns="0" rIns="0" bIns="0" anchor="t" anchorCtr="0">
                  <a:spAutoFit/>
                </a:bodyPr>
                <a:lstStyle/>
                <a:p>
                  <a:pPr algn="ctr"/>
                  <a:r>
                    <a:rPr lang="zh-CN" sz="1050" b="1" dirty="0">
                      <a:solidFill>
                        <a:srgbClr val="153166"/>
                      </a:solidFill>
                      <a:latin typeface="Plus Jakarta Sans"/>
                      <a:ea typeface="Microsoft YaHei"/>
                      <a:cs typeface="Plus Jakarta Sans"/>
                    </a:rPr>
                    <a:t>3</a:t>
                  </a:r>
                </a:p>
              </p:txBody>
            </p:sp>
            <p:sp>
              <p:nvSpPr>
                <p:cNvPr id="39" name="TextBox 39"/>
                <p:cNvSpPr txBox="1"/>
                <p:nvPr/>
              </p:nvSpPr>
              <p:spPr>
                <a:xfrm>
                  <a:off x="6480810" y="4451985"/>
                  <a:ext cx="702564" cy="243840"/>
                </a:xfrm>
                <a:prstGeom prst="rect">
                  <a:avLst/>
                </a:prstGeom>
                <a:noFill/>
                <a:ln>
                  <a:noFill/>
                </a:ln>
              </p:spPr>
              <p:txBody>
                <a:bodyPr wrap="none" lIns="0" tIns="0" rIns="0" bIns="0" anchor="t" anchorCtr="0">
                  <a:spAutoFit/>
                </a:bodyPr>
                <a:lstStyle/>
                <a:p>
                  <a:pPr algn="l"/>
                  <a:r>
                    <a:rPr lang="zh-CN" sz="1200" b="1" dirty="0">
                      <a:solidFill>
                        <a:srgbClr val="171C24"/>
                      </a:solidFill>
                      <a:latin typeface="Plus Jakarta Sans"/>
                      <a:ea typeface="Microsoft JhengHei"/>
                      <a:cs typeface="Plus Jakarta Sans"/>
                    </a:rPr>
                    <a:t>結論主張</a:t>
                  </a:r>
                </a:p>
              </p:txBody>
            </p:sp>
            <p:sp>
              <p:nvSpPr>
                <p:cNvPr id="40" name="TextBox 40"/>
                <p:cNvSpPr txBox="1"/>
                <p:nvPr/>
              </p:nvSpPr>
              <p:spPr>
                <a:xfrm>
                  <a:off x="6482715" y="4687252"/>
                  <a:ext cx="4227195" cy="422910"/>
                </a:xfrm>
                <a:prstGeom prst="rect">
                  <a:avLst/>
                </a:prstGeom>
                <a:noFill/>
                <a:ln>
                  <a:noFill/>
                </a:ln>
              </p:spPr>
              <p:txBody>
                <a:bodyPr wrap="square" lIns="0" tIns="0" rIns="0" bIns="0" anchor="t" anchorCtr="0"/>
                <a:lstStyle/>
                <a:p>
                  <a:pPr algn="l">
                    <a:lnSpc>
                      <a:spcPts val="1650"/>
                    </a:lnSpc>
                  </a:pPr>
                  <a:r>
                    <a:rPr lang="zh-CN" sz="1050" b="1" dirty="0">
                      <a:solidFill>
                        <a:srgbClr val="007583"/>
                      </a:solidFill>
                      <a:latin typeface="Manrope"/>
                      <a:ea typeface="Microsoft JhengHei"/>
                      <a:cs typeface="Manrope"/>
                    </a:rPr>
                    <a:t>PM 必須透過優化「量能指標」與監守「護欄指標」，</a:t>
                  </a:r>
                  <a:r>
                    <a:rPr lang="zh-CN" sz="1050" b="1" dirty="0">
                      <a:solidFill>
                        <a:srgbClr val="007583"/>
                      </a:solidFill>
                      <a:latin typeface="Manrope"/>
                      <a:ea typeface="Microsoft JhengHei"/>
                      <a:cs typeface="Manrope"/>
                    </a:rPr>
                    <a:t>共同做大「功能層成功指標」，最終才能推動「產品北極星指標」。</a:t>
                  </a:r>
                </a:p>
              </p:txBody>
            </p:sp>
          </p:grpSp>
        </p:grpSp>
      </p:grpSp>
      <p:sp>
        <p:nvSpPr>
          <p:cNvPr id="44" name="TextBox 44"/>
          <p:cNvSpPr txBox="1"/>
          <p:nvPr/>
        </p:nvSpPr>
        <p:spPr>
          <a:xfrm>
            <a:off x="598170" y="6475095"/>
            <a:ext cx="2579179" cy="182880"/>
          </a:xfrm>
          <a:prstGeom prst="rect">
            <a:avLst/>
          </a:prstGeom>
          <a:noFill/>
          <a:ln>
            <a:noFill/>
          </a:ln>
        </p:spPr>
        <p:txBody>
          <a:bodyPr wrap="none" lIns="0" tIns="0" rIns="0" bIns="0" anchor="t" anchorCtr="0">
            <a:spAutoFit/>
          </a:bodyPr>
          <a:lstStyle/>
          <a:p>
            <a:pPr algn="l"/>
            <a:r>
              <a:rPr lang="zh-CN" sz="900" dirty="0">
                <a:solidFill>
                  <a:srgbClr val="525864"/>
                </a:solidFill>
                <a:latin typeface="Manrope"/>
                <a:ea typeface="Microsoft JhengHei"/>
                <a:cs typeface="Manrope"/>
              </a:rPr>
              <a:t>PM PROPOSAL &amp; METRICS EDUCATION · PAGE 07</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image">
                                      <p:cBhvr>
                                        <p:cTn id="7" dur="400"/>
                                        <p:tgtEl>
                                          <p:spTgt spid="2"/>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400"/>
                                        <p:tgtEl>
                                          <p:spTgt spid="3"/>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400"/>
                                        <p:tgtEl>
                                          <p:spTgt spid="4"/>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43"/>
                                        </p:tgtEl>
                                        <p:attrNameLst>
                                          <p:attrName>style.visibility</p:attrName>
                                        </p:attrNameLst>
                                      </p:cBhvr>
                                      <p:to>
                                        <p:strVal val="visible"/>
                                      </p:to>
                                    </p:set>
                                    <p:animEffect transition="in" filter="slide(fromBottom)">
                                      <p:cBhvr>
                                        <p:cTn id="19" dur="400"/>
                                        <p:tgtEl>
                                          <p:spTgt spid="43"/>
                                        </p:tgtEl>
                                      </p:cBhvr>
                                    </p:animEffect>
                                  </p:childTnLst>
                                </p:cTn>
                              </p:par>
                            </p:childTnLst>
                          </p:cTn>
                        </p:par>
                        <p:par>
                          <p:cTn id="20" fill="hold">
                            <p:stCondLst>
                              <p:cond delay="3600"/>
                            </p:stCondLst>
                            <p:childTnLst>
                              <p:par>
                                <p:cTn id="21" presetID="23" presetClass="entr" presetSubtype="0" fill="hold" nodeType="afterEffect">
                                  <p:stCondLst>
                                    <p:cond delay="0"/>
                                  </p:stCondLst>
                                  <p:childTnLst>
                                    <p:set>
                                      <p:cBhvr>
                                        <p:cTn id="22" dur="1" fill="hold">
                                          <p:stCondLst>
                                            <p:cond delay="0"/>
                                          </p:stCondLst>
                                        </p:cTn>
                                        <p:tgtEl>
                                          <p:spTgt spid="44"/>
                                        </p:tgtEl>
                                        <p:attrNameLst>
                                          <p:attrName>style.visibility</p:attrName>
                                        </p:attrNameLst>
                                      </p:cBhvr>
                                      <p:to>
                                        <p:strVal val="visible"/>
                                      </p:to>
                                    </p:set>
                                    <p:animEffect transition="in" filter="image">
                                      <p:cBhvr>
                                        <p:cTn id="23" dur="4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43" grpId="0"/>
      <p:bldP spid="4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DFCF9"/>
          </a:solidFill>
          <a:ln>
            <a:noFill/>
          </a:ln>
        </p:spPr>
      </p:sp>
      <p:sp>
        <p:nvSpPr>
          <p:cNvPr id="3" name="TextBox 3"/>
          <p:cNvSpPr txBox="1"/>
          <p:nvPr/>
        </p:nvSpPr>
        <p:spPr>
          <a:xfrm>
            <a:off x="596265" y="648652"/>
            <a:ext cx="1033746" cy="213360"/>
          </a:xfrm>
          <a:prstGeom prst="rect">
            <a:avLst/>
          </a:prstGeom>
          <a:noFill/>
          <a:ln>
            <a:noFill/>
          </a:ln>
        </p:spPr>
        <p:txBody>
          <a:bodyPr wrap="none" lIns="0" tIns="0" rIns="0" bIns="0" anchor="t" anchorCtr="0">
            <a:spAutoFit/>
          </a:bodyPr>
          <a:lstStyle/>
          <a:p>
            <a:pPr algn="l"/>
            <a:r>
              <a:rPr lang="zh-CN" sz="1050" b="1" dirty="0">
                <a:solidFill>
                  <a:srgbClr val="007583"/>
                </a:solidFill>
                <a:latin typeface="Plus Jakarta Sans"/>
                <a:ea typeface="Microsoft JhengHei"/>
                <a:cs typeface="Plus Jakarta Sans"/>
              </a:rPr>
              <a:t>METRICS TRAPS</a:t>
            </a:r>
          </a:p>
        </p:txBody>
      </p:sp>
      <p:sp>
        <p:nvSpPr>
          <p:cNvPr id="4" name="TextBox 4"/>
          <p:cNvSpPr txBox="1"/>
          <p:nvPr/>
        </p:nvSpPr>
        <p:spPr>
          <a:xfrm>
            <a:off x="582930" y="916305"/>
            <a:ext cx="5051965" cy="426720"/>
          </a:xfrm>
          <a:prstGeom prst="rect">
            <a:avLst/>
          </a:prstGeom>
          <a:noFill/>
          <a:ln>
            <a:noFill/>
          </a:ln>
        </p:spPr>
        <p:txBody>
          <a:bodyPr wrap="none" lIns="0" tIns="0" rIns="0" bIns="0" anchor="t" anchorCtr="0">
            <a:spAutoFit/>
          </a:bodyPr>
          <a:lstStyle/>
          <a:p>
            <a:pPr algn="l"/>
            <a:r>
              <a:rPr lang="zh-CN" sz="2100" b="1" dirty="0">
                <a:solidFill>
                  <a:srgbClr val="171C24"/>
                </a:solidFill>
                <a:latin typeface="Plus Jakarta Sans"/>
                <a:ea typeface="Microsoft JhengHei"/>
                <a:cs typeface="Plus Jakarta Sans"/>
              </a:rPr>
              <a:t>避開數據陷阱：虛榮指標與百分比誤區</a:t>
            </a:r>
          </a:p>
        </p:txBody>
      </p:sp>
      <p:grpSp>
        <p:nvGrpSpPr>
          <p:cNvPr id="18" name="Group 18"/>
          <p:cNvGrpSpPr/>
          <p:nvPr/>
        </p:nvGrpSpPr>
        <p:grpSpPr>
          <a:xfrm>
            <a:off x="592455" y="1702118"/>
            <a:ext cx="10654641" cy="919638"/>
            <a:chOff x="592455" y="1702118"/>
            <a:chExt cx="10654641" cy="919638"/>
          </a:xfrm>
        </p:grpSpPr>
        <p:sp>
          <p:nvSpPr>
            <p:cNvPr id="5" name="TextBox 5"/>
            <p:cNvSpPr txBox="1"/>
            <p:nvPr/>
          </p:nvSpPr>
          <p:spPr>
            <a:xfrm>
              <a:off x="592455" y="1702118"/>
              <a:ext cx="3994335" cy="274320"/>
            </a:xfrm>
            <a:prstGeom prst="rect">
              <a:avLst/>
            </a:prstGeom>
            <a:noFill/>
            <a:ln>
              <a:noFill/>
            </a:ln>
          </p:spPr>
          <p:txBody>
            <a:bodyPr wrap="none" lIns="0" tIns="0" rIns="0" bIns="0" anchor="t" anchorCtr="0">
              <a:spAutoFit/>
            </a:bodyPr>
            <a:lstStyle/>
            <a:p>
              <a:pPr algn="l"/>
              <a:r>
                <a:rPr lang="zh-CN" sz="1350" b="1" dirty="0">
                  <a:solidFill>
                    <a:srgbClr val="153166"/>
                  </a:solidFill>
                  <a:latin typeface="Plus Jakarta Sans"/>
                  <a:ea typeface="Microsoft JhengHei"/>
                  <a:cs typeface="Plus Jakarta Sans"/>
                </a:rPr>
                <a:t>指標設計的靈魂拷問：連續的 So What? 追問法</a:t>
              </a:r>
            </a:p>
          </p:txBody>
        </p:sp>
        <p:grpSp>
          <p:nvGrpSpPr>
            <p:cNvPr id="17" name="Group 17"/>
            <p:cNvGrpSpPr/>
            <p:nvPr/>
          </p:nvGrpSpPr>
          <p:grpSpPr>
            <a:xfrm>
              <a:off x="595312" y="2180749"/>
              <a:ext cx="10651784" cy="441007"/>
              <a:chOff x="595312" y="2180749"/>
              <a:chExt cx="10651784" cy="441007"/>
            </a:xfrm>
          </p:grpSpPr>
          <p:sp>
            <p:nvSpPr>
              <p:cNvPr id="6" name="TextBox 6"/>
              <p:cNvSpPr txBox="1"/>
              <p:nvPr/>
            </p:nvSpPr>
            <p:spPr>
              <a:xfrm>
                <a:off x="597218" y="2180749"/>
                <a:ext cx="1034991" cy="198120"/>
              </a:xfrm>
              <a:prstGeom prst="rect">
                <a:avLst/>
              </a:prstGeom>
              <a:noFill/>
              <a:ln>
                <a:noFill/>
              </a:ln>
            </p:spPr>
            <p:txBody>
              <a:bodyPr wrap="none" lIns="0" tIns="0" rIns="0" bIns="0" anchor="t" anchorCtr="0">
                <a:spAutoFit/>
              </a:bodyPr>
              <a:lstStyle/>
              <a:p>
                <a:pPr algn="l"/>
                <a:r>
                  <a:rPr lang="zh-CN" sz="975" b="1" dirty="0">
                    <a:solidFill>
                      <a:srgbClr val="525864"/>
                    </a:solidFill>
                    <a:latin typeface="Manrope"/>
                    <a:ea typeface="Microsoft JhengHei"/>
                    <a:cs typeface="Manrope"/>
                  </a:rPr>
                  <a:t>發布功能 (量能)</a:t>
                </a:r>
              </a:p>
            </p:txBody>
          </p:sp>
          <p:sp>
            <p:nvSpPr>
              <p:cNvPr id="7" name="TextBox 7"/>
              <p:cNvSpPr txBox="1"/>
              <p:nvPr/>
            </p:nvSpPr>
            <p:spPr>
              <a:xfrm>
                <a:off x="595312" y="2393156"/>
                <a:ext cx="1383244" cy="228600"/>
              </a:xfrm>
              <a:prstGeom prst="rect">
                <a:avLst/>
              </a:prstGeom>
              <a:noFill/>
              <a:ln>
                <a:noFill/>
              </a:ln>
            </p:spPr>
            <p:txBody>
              <a:bodyPr wrap="none" lIns="0" tIns="0" rIns="0" bIns="0" anchor="t" anchorCtr="0">
                <a:spAutoFit/>
              </a:bodyPr>
              <a:lstStyle/>
              <a:p>
                <a:pPr algn="l"/>
                <a:r>
                  <a:rPr lang="zh-CN" sz="1125" b="1" dirty="0">
                    <a:solidFill>
                      <a:srgbClr val="171C24"/>
                    </a:solidFill>
                    <a:latin typeface="Manrope"/>
                    <a:ea typeface="Microsoft JhengHei"/>
                    <a:cs typeface="Manrope"/>
                  </a:rPr>
                  <a:t>10,000 人點擊功能</a:t>
                </a:r>
              </a:p>
            </p:txBody>
          </p:sp>
          <p:sp>
            <p:nvSpPr>
              <p:cNvPr id="8" name="TextBox 8"/>
              <p:cNvSpPr txBox="1"/>
              <p:nvPr/>
            </p:nvSpPr>
            <p:spPr>
              <a:xfrm>
                <a:off x="2596515" y="2344102"/>
                <a:ext cx="791166" cy="213360"/>
              </a:xfrm>
              <a:prstGeom prst="rect">
                <a:avLst/>
              </a:prstGeom>
              <a:noFill/>
              <a:ln>
                <a:noFill/>
              </a:ln>
            </p:spPr>
            <p:txBody>
              <a:bodyPr wrap="none" lIns="0" tIns="0" rIns="0" bIns="0" anchor="t" anchorCtr="0">
                <a:spAutoFit/>
              </a:bodyPr>
              <a:lstStyle/>
              <a:p>
                <a:pPr algn="l"/>
                <a:r>
                  <a:rPr lang="zh-CN" sz="1050" b="1" dirty="0">
                    <a:solidFill>
                      <a:srgbClr val="B91C1C"/>
                    </a:solidFill>
                    <a:latin typeface="Plus Jakarta Sans"/>
                    <a:ea typeface="Microsoft YaHei"/>
                    <a:cs typeface="Plus Jakarta Sans"/>
                  </a:rPr>
                  <a:t>So What? →</a:t>
                </a:r>
              </a:p>
            </p:txBody>
          </p:sp>
          <p:sp>
            <p:nvSpPr>
              <p:cNvPr id="9" name="TextBox 9"/>
              <p:cNvSpPr txBox="1"/>
              <p:nvPr/>
            </p:nvSpPr>
            <p:spPr>
              <a:xfrm>
                <a:off x="3549968" y="2180749"/>
                <a:ext cx="1034991" cy="198120"/>
              </a:xfrm>
              <a:prstGeom prst="rect">
                <a:avLst/>
              </a:prstGeom>
              <a:noFill/>
              <a:ln>
                <a:noFill/>
              </a:ln>
            </p:spPr>
            <p:txBody>
              <a:bodyPr wrap="none" lIns="0" tIns="0" rIns="0" bIns="0" anchor="t" anchorCtr="0">
                <a:spAutoFit/>
              </a:bodyPr>
              <a:lstStyle/>
              <a:p>
                <a:pPr algn="l"/>
                <a:r>
                  <a:rPr lang="zh-CN" sz="975" b="1" dirty="0">
                    <a:solidFill>
                      <a:srgbClr val="525864"/>
                    </a:solidFill>
                    <a:latin typeface="Manrope"/>
                    <a:ea typeface="Microsoft JhengHei"/>
                    <a:cs typeface="Manrope"/>
                  </a:rPr>
                  <a:t>用戶互動 (轉化)</a:t>
                </a:r>
              </a:p>
            </p:txBody>
          </p:sp>
          <p:sp>
            <p:nvSpPr>
              <p:cNvPr id="10" name="TextBox 10"/>
              <p:cNvSpPr txBox="1"/>
              <p:nvPr/>
            </p:nvSpPr>
            <p:spPr>
              <a:xfrm>
                <a:off x="3548062" y="2393156"/>
                <a:ext cx="1296608" cy="228600"/>
              </a:xfrm>
              <a:prstGeom prst="rect">
                <a:avLst/>
              </a:prstGeom>
              <a:noFill/>
              <a:ln>
                <a:noFill/>
              </a:ln>
            </p:spPr>
            <p:txBody>
              <a:bodyPr wrap="none" lIns="0" tIns="0" rIns="0" bIns="0" anchor="t" anchorCtr="0">
                <a:spAutoFit/>
              </a:bodyPr>
              <a:lstStyle/>
              <a:p>
                <a:pPr algn="l"/>
                <a:r>
                  <a:rPr lang="zh-CN" sz="1125" b="1" dirty="0">
                    <a:solidFill>
                      <a:srgbClr val="171C24"/>
                    </a:solidFill>
                    <a:latin typeface="Manrope"/>
                    <a:ea typeface="Microsoft JhengHei"/>
                    <a:cs typeface="Manrope"/>
                  </a:rPr>
                  <a:t>4,000 人產出摘要</a:t>
                </a:r>
              </a:p>
            </p:txBody>
          </p:sp>
          <p:sp>
            <p:nvSpPr>
              <p:cNvPr id="11" name="TextBox 11"/>
              <p:cNvSpPr txBox="1"/>
              <p:nvPr/>
            </p:nvSpPr>
            <p:spPr>
              <a:xfrm>
                <a:off x="5549265" y="2344102"/>
                <a:ext cx="791166" cy="213360"/>
              </a:xfrm>
              <a:prstGeom prst="rect">
                <a:avLst/>
              </a:prstGeom>
              <a:noFill/>
              <a:ln>
                <a:noFill/>
              </a:ln>
            </p:spPr>
            <p:txBody>
              <a:bodyPr wrap="none" lIns="0" tIns="0" rIns="0" bIns="0" anchor="t" anchorCtr="0">
                <a:spAutoFit/>
              </a:bodyPr>
              <a:lstStyle/>
              <a:p>
                <a:pPr algn="l"/>
                <a:r>
                  <a:rPr lang="zh-CN" sz="1050" b="1" dirty="0">
                    <a:solidFill>
                      <a:srgbClr val="B91C1C"/>
                    </a:solidFill>
                    <a:latin typeface="Plus Jakarta Sans"/>
                    <a:ea typeface="Microsoft YaHei"/>
                    <a:cs typeface="Plus Jakarta Sans"/>
                  </a:rPr>
                  <a:t>So What? →</a:t>
                </a:r>
              </a:p>
            </p:txBody>
          </p:sp>
          <p:sp>
            <p:nvSpPr>
              <p:cNvPr id="12" name="TextBox 12"/>
              <p:cNvSpPr txBox="1"/>
              <p:nvPr/>
            </p:nvSpPr>
            <p:spPr>
              <a:xfrm>
                <a:off x="6502718" y="2180749"/>
                <a:ext cx="1034991" cy="198120"/>
              </a:xfrm>
              <a:prstGeom prst="rect">
                <a:avLst/>
              </a:prstGeom>
              <a:noFill/>
              <a:ln>
                <a:noFill/>
              </a:ln>
            </p:spPr>
            <p:txBody>
              <a:bodyPr wrap="none" lIns="0" tIns="0" rIns="0" bIns="0" anchor="t" anchorCtr="0">
                <a:spAutoFit/>
              </a:bodyPr>
              <a:lstStyle/>
              <a:p>
                <a:pPr algn="l"/>
                <a:r>
                  <a:rPr lang="zh-CN" sz="975" b="1" dirty="0">
                    <a:solidFill>
                      <a:srgbClr val="525864"/>
                    </a:solidFill>
                    <a:latin typeface="Manrope"/>
                    <a:ea typeface="Microsoft JhengHei"/>
                    <a:cs typeface="Manrope"/>
                  </a:rPr>
                  <a:t>協作發生 (留存)</a:t>
                </a:r>
              </a:p>
            </p:txBody>
          </p:sp>
          <p:sp>
            <p:nvSpPr>
              <p:cNvPr id="13" name="TextBox 13"/>
              <p:cNvSpPr txBox="1"/>
              <p:nvPr/>
            </p:nvSpPr>
            <p:spPr>
              <a:xfrm>
                <a:off x="6500812" y="2393156"/>
                <a:ext cx="1698284" cy="228600"/>
              </a:xfrm>
              <a:prstGeom prst="rect">
                <a:avLst/>
              </a:prstGeom>
              <a:noFill/>
              <a:ln>
                <a:noFill/>
              </a:ln>
            </p:spPr>
            <p:txBody>
              <a:bodyPr wrap="none" lIns="0" tIns="0" rIns="0" bIns="0" anchor="t" anchorCtr="0">
                <a:spAutoFit/>
              </a:bodyPr>
              <a:lstStyle/>
              <a:p>
                <a:pPr algn="l"/>
                <a:r>
                  <a:rPr lang="zh-CN" sz="1125" b="1" dirty="0">
                    <a:solidFill>
                      <a:srgbClr val="171C24"/>
                    </a:solidFill>
                    <a:latin typeface="Manrope"/>
                    <a:ea typeface="Microsoft JhengHei"/>
                    <a:cs typeface="Manrope"/>
                  </a:rPr>
                  <a:t>1,800 次瀏覽/任務指派</a:t>
                </a:r>
              </a:p>
            </p:txBody>
          </p:sp>
          <p:sp>
            <p:nvSpPr>
              <p:cNvPr id="14" name="TextBox 14"/>
              <p:cNvSpPr txBox="1"/>
              <p:nvPr/>
            </p:nvSpPr>
            <p:spPr>
              <a:xfrm>
                <a:off x="8597265" y="2344102"/>
                <a:ext cx="791166" cy="213360"/>
              </a:xfrm>
              <a:prstGeom prst="rect">
                <a:avLst/>
              </a:prstGeom>
              <a:noFill/>
              <a:ln>
                <a:noFill/>
              </a:ln>
            </p:spPr>
            <p:txBody>
              <a:bodyPr wrap="none" lIns="0" tIns="0" rIns="0" bIns="0" anchor="t" anchorCtr="0">
                <a:spAutoFit/>
              </a:bodyPr>
              <a:lstStyle/>
              <a:p>
                <a:pPr algn="l"/>
                <a:r>
                  <a:rPr lang="zh-CN" sz="1050" b="1" dirty="0">
                    <a:solidFill>
                      <a:srgbClr val="B91C1C"/>
                    </a:solidFill>
                    <a:latin typeface="Plus Jakarta Sans"/>
                    <a:ea typeface="Microsoft YaHei"/>
                    <a:cs typeface="Plus Jakarta Sans"/>
                  </a:rPr>
                  <a:t>So What? →</a:t>
                </a:r>
              </a:p>
            </p:txBody>
          </p:sp>
          <p:sp>
            <p:nvSpPr>
              <p:cNvPr id="15" name="TextBox 15"/>
              <p:cNvSpPr txBox="1"/>
              <p:nvPr/>
            </p:nvSpPr>
            <p:spPr>
              <a:xfrm>
                <a:off x="9550718" y="2180749"/>
                <a:ext cx="1171508" cy="198120"/>
              </a:xfrm>
              <a:prstGeom prst="rect">
                <a:avLst/>
              </a:prstGeom>
              <a:noFill/>
              <a:ln>
                <a:noFill/>
              </a:ln>
            </p:spPr>
            <p:txBody>
              <a:bodyPr wrap="none" lIns="0" tIns="0" rIns="0" bIns="0" anchor="t" anchorCtr="0">
                <a:spAutoFit/>
              </a:bodyPr>
              <a:lstStyle/>
              <a:p>
                <a:pPr algn="l"/>
                <a:r>
                  <a:rPr lang="zh-CN" sz="975" b="1" dirty="0">
                    <a:solidFill>
                      <a:srgbClr val="00969D"/>
                    </a:solidFill>
                    <a:latin typeface="Manrope"/>
                    <a:ea typeface="Microsoft JhengHei"/>
                    <a:cs typeface="Manrope"/>
                  </a:rPr>
                  <a:t>業務價值 (北極星)</a:t>
                </a:r>
              </a:p>
            </p:txBody>
          </p:sp>
          <p:sp>
            <p:nvSpPr>
              <p:cNvPr id="16" name="TextBox 16"/>
              <p:cNvSpPr txBox="1"/>
              <p:nvPr/>
            </p:nvSpPr>
            <p:spPr>
              <a:xfrm>
                <a:off x="9548812" y="2393156"/>
                <a:ext cx="1698284" cy="228600"/>
              </a:xfrm>
              <a:prstGeom prst="rect">
                <a:avLst/>
              </a:prstGeom>
              <a:noFill/>
              <a:ln>
                <a:noFill/>
              </a:ln>
            </p:spPr>
            <p:txBody>
              <a:bodyPr wrap="none" lIns="0" tIns="0" rIns="0" bIns="0" anchor="t" anchorCtr="0">
                <a:spAutoFit/>
              </a:bodyPr>
              <a:lstStyle/>
              <a:p>
                <a:pPr algn="l"/>
                <a:r>
                  <a:rPr lang="zh-CN" sz="1125" b="1" dirty="0">
                    <a:solidFill>
                      <a:srgbClr val="00969D"/>
                    </a:solidFill>
                    <a:latin typeface="Manrope"/>
                    <a:ea typeface="Microsoft JhengHei"/>
                    <a:cs typeface="Manrope"/>
                  </a:rPr>
                  <a:t>大盤活躍文件數提升 3%</a:t>
                </a:r>
              </a:p>
            </p:txBody>
          </p:sp>
        </p:grpSp>
      </p:grpSp>
      <p:sp>
        <p:nvSpPr>
          <p:cNvPr id="19" name="Line 19"/>
          <p:cNvSpPr/>
          <p:nvPr/>
        </p:nvSpPr>
        <p:spPr>
          <a:xfrm>
            <a:off x="609600" y="2952750"/>
            <a:ext cx="10972800" cy="9525"/>
          </a:xfrm>
          <a:custGeom>
            <a:avLst/>
            <a:gdLst/>
            <a:ahLst/>
            <a:cxnLst/>
            <a:rect l="l" t="t" r="r" b="b"/>
            <a:pathLst>
              <a:path w="10972800" h="9525">
                <a:moveTo>
                  <a:pt x="0" y="0"/>
                </a:moveTo>
                <a:lnTo>
                  <a:pt x="10972800" y="0"/>
                </a:lnTo>
              </a:path>
            </a:pathLst>
          </a:custGeom>
          <a:noFill/>
          <a:ln w="14288">
            <a:solidFill>
              <a:srgbClr val="E5E3DE"/>
            </a:solidFill>
          </a:ln>
        </p:spPr>
      </p:sp>
      <p:grpSp>
        <p:nvGrpSpPr>
          <p:cNvPr id="40" name="Group 40"/>
          <p:cNvGrpSpPr/>
          <p:nvPr/>
        </p:nvGrpSpPr>
        <p:grpSpPr>
          <a:xfrm>
            <a:off x="595312" y="3429000"/>
            <a:ext cx="10882312" cy="2476500"/>
            <a:chOff x="595312" y="3429000"/>
            <a:chExt cx="10882312" cy="2476500"/>
          </a:xfrm>
        </p:grpSpPr>
        <p:grpSp>
          <p:nvGrpSpPr>
            <p:cNvPr id="30" name="Group 30"/>
            <p:cNvGrpSpPr/>
            <p:nvPr/>
          </p:nvGrpSpPr>
          <p:grpSpPr>
            <a:xfrm>
              <a:off x="595312" y="3429000"/>
              <a:ext cx="5081826" cy="1421606"/>
              <a:chOff x="595312" y="3429000"/>
              <a:chExt cx="5081826" cy="1421606"/>
            </a:xfrm>
          </p:grpSpPr>
          <p:grpSp>
            <p:nvGrpSpPr>
              <p:cNvPr id="22" name="Group 22"/>
              <p:cNvGrpSpPr/>
              <p:nvPr/>
            </p:nvGrpSpPr>
            <p:grpSpPr>
              <a:xfrm>
                <a:off x="623888" y="3429000"/>
                <a:ext cx="200025" cy="228600"/>
                <a:chOff x="623888" y="3429000"/>
                <a:chExt cx="200025" cy="228600"/>
              </a:xfrm>
            </p:grpSpPr>
            <p:sp>
              <p:nvSpPr>
                <p:cNvPr id="20" name="Freeform 20"/>
                <p:cNvSpPr/>
                <p:nvPr/>
              </p:nvSpPr>
              <p:spPr>
                <a:xfrm>
                  <a:off x="623888" y="3429000"/>
                  <a:ext cx="200025" cy="57150"/>
                </a:xfrm>
                <a:custGeom>
                  <a:avLst/>
                  <a:gdLst/>
                  <a:ahLst/>
                  <a:cxnLst/>
                  <a:rect l="l" t="t" r="r" b="b"/>
                  <a:pathLst>
                    <a:path w="200025" h="57150">
                      <a:moveTo>
                        <a:pt x="42862" y="28575"/>
                      </a:moveTo>
                      <a:lnTo>
                        <a:pt x="0" y="28575"/>
                      </a:lnTo>
                      <a:lnTo>
                        <a:pt x="0" y="57150"/>
                      </a:lnTo>
                      <a:lnTo>
                        <a:pt x="200025" y="57150"/>
                      </a:lnTo>
                      <a:lnTo>
                        <a:pt x="200025" y="28575"/>
                      </a:lnTo>
                      <a:lnTo>
                        <a:pt x="157162" y="28575"/>
                      </a:lnTo>
                      <a:lnTo>
                        <a:pt x="157162" y="0"/>
                      </a:lnTo>
                      <a:lnTo>
                        <a:pt x="42862" y="0"/>
                      </a:lnTo>
                      <a:lnTo>
                        <a:pt x="42862" y="28575"/>
                      </a:lnTo>
                      <a:close/>
                    </a:path>
                  </a:pathLst>
                </a:custGeom>
                <a:solidFill>
                  <a:srgbClr val="B91C1C"/>
                </a:solidFill>
                <a:ln>
                  <a:noFill/>
                </a:ln>
              </p:spPr>
            </p:sp>
            <p:sp>
              <p:nvSpPr>
                <p:cNvPr id="21" name="Freeform 21"/>
                <p:cNvSpPr/>
                <p:nvPr/>
              </p:nvSpPr>
              <p:spPr>
                <a:xfrm>
                  <a:off x="652462" y="3514725"/>
                  <a:ext cx="142875" cy="142875"/>
                </a:xfrm>
                <a:custGeom>
                  <a:avLst/>
                  <a:gdLst/>
                  <a:ahLst/>
                  <a:cxnLst/>
                  <a:rect l="l" t="t" r="r" b="b"/>
                  <a:pathLst>
                    <a:path w="142875" h="142875">
                      <a:moveTo>
                        <a:pt x="0" y="0"/>
                      </a:moveTo>
                      <a:lnTo>
                        <a:pt x="142875" y="0"/>
                      </a:lnTo>
                      <a:lnTo>
                        <a:pt x="142875" y="142875"/>
                      </a:lnTo>
                      <a:lnTo>
                        <a:pt x="0" y="142875"/>
                      </a:lnTo>
                      <a:lnTo>
                        <a:pt x="0" y="0"/>
                      </a:lnTo>
                      <a:close/>
                      <a:moveTo>
                        <a:pt x="57150" y="42862"/>
                      </a:moveTo>
                      <a:lnTo>
                        <a:pt x="85725" y="42862"/>
                      </a:lnTo>
                      <a:lnTo>
                        <a:pt x="85725" y="100012"/>
                      </a:lnTo>
                      <a:lnTo>
                        <a:pt x="57150" y="100012"/>
                      </a:lnTo>
                      <a:lnTo>
                        <a:pt x="57150" y="42862"/>
                      </a:lnTo>
                      <a:close/>
                    </a:path>
                  </a:pathLst>
                </a:custGeom>
                <a:solidFill>
                  <a:srgbClr val="B91C1C"/>
                </a:solidFill>
                <a:ln>
                  <a:noFill/>
                </a:ln>
              </p:spPr>
            </p:sp>
          </p:grpSp>
          <p:sp>
            <p:nvSpPr>
              <p:cNvPr id="23" name="TextBox 23"/>
              <p:cNvSpPr txBox="1"/>
              <p:nvPr/>
            </p:nvSpPr>
            <p:spPr>
              <a:xfrm>
                <a:off x="935355" y="3473768"/>
                <a:ext cx="2113550" cy="274320"/>
              </a:xfrm>
              <a:prstGeom prst="rect">
                <a:avLst/>
              </a:prstGeom>
              <a:noFill/>
              <a:ln>
                <a:noFill/>
              </a:ln>
            </p:spPr>
            <p:txBody>
              <a:bodyPr wrap="none" lIns="0" tIns="0" rIns="0" bIns="0" anchor="t" anchorCtr="0">
                <a:spAutoFit/>
              </a:bodyPr>
              <a:lstStyle/>
              <a:p>
                <a:pPr algn="l"/>
                <a:r>
                  <a:rPr lang="zh-CN" sz="1350" b="1" dirty="0">
                    <a:solidFill>
                      <a:srgbClr val="B91C1C"/>
                    </a:solidFill>
                    <a:latin typeface="Plus Jakarta Sans"/>
                    <a:ea typeface="Microsoft JhengHei"/>
                    <a:cs typeface="Plus Jakarta Sans"/>
                  </a:rPr>
                  <a:t>百分比指標的盲點與陷阱</a:t>
                </a:r>
              </a:p>
            </p:txBody>
          </p:sp>
          <p:sp>
            <p:nvSpPr>
              <p:cNvPr id="24" name="TextBox 24"/>
              <p:cNvSpPr txBox="1"/>
              <p:nvPr/>
            </p:nvSpPr>
            <p:spPr>
              <a:xfrm>
                <a:off x="595312" y="3879056"/>
                <a:ext cx="950065" cy="228600"/>
              </a:xfrm>
              <a:prstGeom prst="rect">
                <a:avLst/>
              </a:prstGeom>
              <a:noFill/>
              <a:ln>
                <a:noFill/>
              </a:ln>
            </p:spPr>
            <p:txBody>
              <a:bodyPr wrap="none" lIns="0" tIns="0" rIns="0" bIns="0" anchor="t" anchorCtr="0">
                <a:spAutoFit/>
              </a:bodyPr>
              <a:lstStyle/>
              <a:p>
                <a:pPr algn="l"/>
                <a:r>
                  <a:rPr lang="zh-CN" sz="1125" b="1" dirty="0">
                    <a:solidFill>
                      <a:srgbClr val="171C24"/>
                    </a:solidFill>
                    <a:latin typeface="Manrope"/>
                    <a:ea typeface="Microsoft JhengHei"/>
                    <a:cs typeface="Manrope"/>
                  </a:rPr>
                  <a:t>· 錯誤定義：</a:t>
                </a:r>
              </a:p>
            </p:txBody>
          </p:sp>
          <p:sp>
            <p:nvSpPr>
              <p:cNvPr id="25" name="TextBox 25"/>
              <p:cNvSpPr txBox="1"/>
              <p:nvPr/>
            </p:nvSpPr>
            <p:spPr>
              <a:xfrm>
                <a:off x="1643062" y="3879056"/>
                <a:ext cx="3884057" cy="228600"/>
              </a:xfrm>
              <a:prstGeom prst="rect">
                <a:avLst/>
              </a:prstGeom>
              <a:noFill/>
              <a:ln>
                <a:noFill/>
              </a:ln>
            </p:spPr>
            <p:txBody>
              <a:bodyPr wrap="none" lIns="0" tIns="0" rIns="0" bIns="0" anchor="t" anchorCtr="0">
                <a:spAutoFit/>
              </a:bodyPr>
              <a:lstStyle/>
              <a:p>
                <a:pPr algn="l"/>
                <a:r>
                  <a:rPr lang="zh-CN" sz="1125" dirty="0">
                    <a:solidFill>
                      <a:srgbClr val="171C24"/>
                    </a:solidFill>
                    <a:latin typeface="Manrope"/>
                    <a:ea typeface="Microsoft JhengHei"/>
                    <a:cs typeface="Manrope"/>
                  </a:rPr>
                  <a:t>初學者喜歡用百分比做北極星（例如「留存率 100%」），</a:t>
                </a:r>
              </a:p>
            </p:txBody>
          </p:sp>
          <p:sp>
            <p:nvSpPr>
              <p:cNvPr id="26" name="TextBox 26"/>
              <p:cNvSpPr txBox="1"/>
              <p:nvPr/>
            </p:nvSpPr>
            <p:spPr>
              <a:xfrm>
                <a:off x="1643062" y="4107656"/>
                <a:ext cx="1528762" cy="228600"/>
              </a:xfrm>
              <a:prstGeom prst="rect">
                <a:avLst/>
              </a:prstGeom>
              <a:noFill/>
              <a:ln>
                <a:noFill/>
              </a:ln>
            </p:spPr>
            <p:txBody>
              <a:bodyPr wrap="none" lIns="0" tIns="0" rIns="0" bIns="0" anchor="t" anchorCtr="0">
                <a:spAutoFit/>
              </a:bodyPr>
              <a:lstStyle/>
              <a:p>
                <a:pPr algn="l"/>
                <a:r>
                  <a:rPr lang="zh-CN" sz="1125" dirty="0">
                    <a:solidFill>
                      <a:srgbClr val="171C24"/>
                    </a:solidFill>
                    <a:latin typeface="Manrope"/>
                    <a:ea typeface="Microsoft JhengHei"/>
                    <a:cs typeface="Manrope"/>
                  </a:rPr>
                  <a:t>這會帶來嚴重的誤導。</a:t>
                </a:r>
              </a:p>
            </p:txBody>
          </p:sp>
          <p:sp>
            <p:nvSpPr>
              <p:cNvPr id="27" name="TextBox 27"/>
              <p:cNvSpPr txBox="1"/>
              <p:nvPr/>
            </p:nvSpPr>
            <p:spPr>
              <a:xfrm>
                <a:off x="595312" y="4393406"/>
                <a:ext cx="950065" cy="228600"/>
              </a:xfrm>
              <a:prstGeom prst="rect">
                <a:avLst/>
              </a:prstGeom>
              <a:noFill/>
              <a:ln>
                <a:noFill/>
              </a:ln>
            </p:spPr>
            <p:txBody>
              <a:bodyPr wrap="none" lIns="0" tIns="0" rIns="0" bIns="0" anchor="t" anchorCtr="0">
                <a:spAutoFit/>
              </a:bodyPr>
              <a:lstStyle/>
              <a:p>
                <a:pPr algn="l"/>
                <a:r>
                  <a:rPr lang="zh-CN" sz="1125" b="1" dirty="0">
                    <a:solidFill>
                      <a:srgbClr val="171C24"/>
                    </a:solidFill>
                    <a:latin typeface="Manrope"/>
                    <a:ea typeface="Microsoft JhengHei"/>
                    <a:cs typeface="Manrope"/>
                  </a:rPr>
                  <a:t>· 極端例子：</a:t>
                </a:r>
              </a:p>
            </p:txBody>
          </p:sp>
          <p:sp>
            <p:nvSpPr>
              <p:cNvPr id="28" name="TextBox 28"/>
              <p:cNvSpPr txBox="1"/>
              <p:nvPr/>
            </p:nvSpPr>
            <p:spPr>
              <a:xfrm>
                <a:off x="1643062" y="4393406"/>
                <a:ext cx="4034076" cy="228600"/>
              </a:xfrm>
              <a:prstGeom prst="rect">
                <a:avLst/>
              </a:prstGeom>
              <a:noFill/>
              <a:ln>
                <a:noFill/>
              </a:ln>
            </p:spPr>
            <p:txBody>
              <a:bodyPr wrap="none" lIns="0" tIns="0" rIns="0" bIns="0" anchor="t" anchorCtr="0">
                <a:spAutoFit/>
              </a:bodyPr>
              <a:lstStyle/>
              <a:p>
                <a:pPr algn="l"/>
                <a:r>
                  <a:rPr lang="zh-CN" sz="1125" dirty="0">
                    <a:solidFill>
                      <a:srgbClr val="171C24"/>
                    </a:solidFill>
                    <a:latin typeface="Manrope"/>
                    <a:ea typeface="Microsoft JhengHei"/>
                    <a:cs typeface="Manrope"/>
                  </a:rPr>
                  <a:t>本週只有 2 個用戶進站，2 個都留下來了，留存率是 100%。</a:t>
                </a:r>
              </a:p>
            </p:txBody>
          </p:sp>
          <p:sp>
            <p:nvSpPr>
              <p:cNvPr id="29" name="TextBox 29"/>
              <p:cNvSpPr txBox="1"/>
              <p:nvPr/>
            </p:nvSpPr>
            <p:spPr>
              <a:xfrm>
                <a:off x="1643062" y="4622006"/>
                <a:ext cx="3178969" cy="228600"/>
              </a:xfrm>
              <a:prstGeom prst="rect">
                <a:avLst/>
              </a:prstGeom>
              <a:noFill/>
              <a:ln>
                <a:noFill/>
              </a:ln>
            </p:spPr>
            <p:txBody>
              <a:bodyPr wrap="none" lIns="0" tIns="0" rIns="0" bIns="0" anchor="t" anchorCtr="0">
                <a:spAutoFit/>
              </a:bodyPr>
              <a:lstStyle/>
              <a:p>
                <a:pPr algn="l"/>
                <a:r>
                  <a:rPr lang="zh-CN" sz="1125" dirty="0">
                    <a:solidFill>
                      <a:srgbClr val="171C24"/>
                    </a:solidFill>
                    <a:latin typeface="Manrope"/>
                    <a:ea typeface="Microsoft JhengHei"/>
                    <a:cs typeface="Manrope"/>
                  </a:rPr>
                  <a:t>數字非常漂亮，但你的產品其實正在慢性死亡。</a:t>
                </a:r>
              </a:p>
            </p:txBody>
          </p:sp>
        </p:grpSp>
        <p:sp>
          <p:nvSpPr>
            <p:cNvPr id="31" name="Line 31"/>
            <p:cNvSpPr/>
            <p:nvPr/>
          </p:nvSpPr>
          <p:spPr>
            <a:xfrm>
              <a:off x="6229350" y="3429000"/>
              <a:ext cx="9525" cy="2476500"/>
            </a:xfrm>
            <a:custGeom>
              <a:avLst/>
              <a:gdLst/>
              <a:ahLst/>
              <a:cxnLst/>
              <a:rect l="l" t="t" r="r" b="b"/>
              <a:pathLst>
                <a:path w="9525" h="2476500">
                  <a:moveTo>
                    <a:pt x="0" y="0"/>
                  </a:moveTo>
                  <a:lnTo>
                    <a:pt x="0" y="2476500"/>
                  </a:lnTo>
                </a:path>
              </a:pathLst>
            </a:custGeom>
            <a:noFill/>
            <a:ln w="14288">
              <a:solidFill>
                <a:srgbClr val="E5E3DE"/>
              </a:solidFill>
            </a:ln>
          </p:spPr>
        </p:sp>
        <p:grpSp>
          <p:nvGrpSpPr>
            <p:cNvPr id="39" name="Group 39"/>
            <p:cNvGrpSpPr/>
            <p:nvPr/>
          </p:nvGrpSpPr>
          <p:grpSpPr>
            <a:xfrm>
              <a:off x="6500812" y="3458801"/>
              <a:ext cx="4976812" cy="1163205"/>
              <a:chOff x="6500812" y="3458801"/>
              <a:chExt cx="4976812" cy="1163205"/>
            </a:xfrm>
          </p:grpSpPr>
          <p:sp>
            <p:nvSpPr>
              <p:cNvPr id="32" name="Freeform 32"/>
              <p:cNvSpPr/>
              <p:nvPr/>
            </p:nvSpPr>
            <p:spPr>
              <a:xfrm>
                <a:off x="6523468" y="3458801"/>
                <a:ext cx="211861" cy="174917"/>
              </a:xfrm>
              <a:custGeom>
                <a:avLst/>
                <a:gdLst/>
                <a:ahLst/>
                <a:cxnLst/>
                <a:rect l="l" t="t" r="r" b="b"/>
                <a:pathLst>
                  <a:path w="211861" h="174917">
                    <a:moveTo>
                      <a:pt x="211861" y="40411"/>
                    </a:moveTo>
                    <a:lnTo>
                      <a:pt x="77356" y="174917"/>
                    </a:lnTo>
                    <a:lnTo>
                      <a:pt x="0" y="97561"/>
                    </a:lnTo>
                    <a:lnTo>
                      <a:pt x="40411" y="57150"/>
                    </a:lnTo>
                    <a:lnTo>
                      <a:pt x="77356" y="94094"/>
                    </a:lnTo>
                    <a:lnTo>
                      <a:pt x="171450" y="0"/>
                    </a:lnTo>
                    <a:lnTo>
                      <a:pt x="211861" y="40411"/>
                    </a:lnTo>
                    <a:close/>
                  </a:path>
                </a:pathLst>
              </a:custGeom>
              <a:solidFill>
                <a:srgbClr val="00969D"/>
              </a:solidFill>
              <a:ln>
                <a:noFill/>
              </a:ln>
            </p:spPr>
          </p:sp>
          <p:sp>
            <p:nvSpPr>
              <p:cNvPr id="33" name="TextBox 33"/>
              <p:cNvSpPr txBox="1"/>
              <p:nvPr/>
            </p:nvSpPr>
            <p:spPr>
              <a:xfrm>
                <a:off x="6840855" y="3473768"/>
                <a:ext cx="1735503" cy="274320"/>
              </a:xfrm>
              <a:prstGeom prst="rect">
                <a:avLst/>
              </a:prstGeom>
              <a:noFill/>
              <a:ln>
                <a:noFill/>
              </a:ln>
            </p:spPr>
            <p:txBody>
              <a:bodyPr wrap="none" lIns="0" tIns="0" rIns="0" bIns="0" anchor="t" anchorCtr="0">
                <a:spAutoFit/>
              </a:bodyPr>
              <a:lstStyle/>
              <a:p>
                <a:pPr algn="l"/>
                <a:r>
                  <a:rPr lang="zh-CN" sz="1350" b="1" dirty="0">
                    <a:solidFill>
                      <a:srgbClr val="00969D"/>
                    </a:solidFill>
                    <a:latin typeface="Plus Jakarta Sans"/>
                    <a:ea typeface="Microsoft JhengHei"/>
                    <a:cs typeface="Plus Jakarta Sans"/>
                  </a:rPr>
                  <a:t>正確的指標規劃邏輯</a:t>
                </a:r>
              </a:p>
            </p:txBody>
          </p:sp>
          <p:sp>
            <p:nvSpPr>
              <p:cNvPr id="34" name="TextBox 34"/>
              <p:cNvSpPr txBox="1"/>
              <p:nvPr/>
            </p:nvSpPr>
            <p:spPr>
              <a:xfrm>
                <a:off x="6500812" y="3879056"/>
                <a:ext cx="950065" cy="228600"/>
              </a:xfrm>
              <a:prstGeom prst="rect">
                <a:avLst/>
              </a:prstGeom>
              <a:noFill/>
              <a:ln>
                <a:noFill/>
              </a:ln>
            </p:spPr>
            <p:txBody>
              <a:bodyPr wrap="none" lIns="0" tIns="0" rIns="0" bIns="0" anchor="t" anchorCtr="0">
                <a:spAutoFit/>
              </a:bodyPr>
              <a:lstStyle/>
              <a:p>
                <a:pPr algn="l"/>
                <a:r>
                  <a:rPr lang="zh-CN" sz="1125" b="1" dirty="0">
                    <a:solidFill>
                      <a:srgbClr val="171C24"/>
                    </a:solidFill>
                    <a:latin typeface="Manrope"/>
                    <a:ea typeface="Microsoft JhengHei"/>
                    <a:cs typeface="Manrope"/>
                  </a:rPr>
                  <a:t>· 正確做法：</a:t>
                </a:r>
              </a:p>
            </p:txBody>
          </p:sp>
          <p:sp>
            <p:nvSpPr>
              <p:cNvPr id="35" name="TextBox 35"/>
              <p:cNvSpPr txBox="1"/>
              <p:nvPr/>
            </p:nvSpPr>
            <p:spPr>
              <a:xfrm>
                <a:off x="7548562" y="3879056"/>
                <a:ext cx="3929062" cy="228600"/>
              </a:xfrm>
              <a:prstGeom prst="rect">
                <a:avLst/>
              </a:prstGeom>
              <a:noFill/>
              <a:ln>
                <a:noFill/>
              </a:ln>
            </p:spPr>
            <p:txBody>
              <a:bodyPr wrap="none" lIns="0" tIns="0" rIns="0" bIns="0" anchor="t" anchorCtr="0">
                <a:spAutoFit/>
              </a:bodyPr>
              <a:lstStyle/>
              <a:p>
                <a:pPr algn="l"/>
                <a:r>
                  <a:rPr lang="zh-CN" sz="1125" dirty="0">
                    <a:solidFill>
                      <a:srgbClr val="171C24"/>
                    </a:solidFill>
                    <a:latin typeface="Manrope"/>
                    <a:ea typeface="Microsoft JhengHei"/>
                    <a:cs typeface="Manrope"/>
                  </a:rPr>
                  <a:t>北極星指標一律使用「絕對計數」，用以衡量業務規模與實</a:t>
                </a:r>
              </a:p>
            </p:txBody>
          </p:sp>
          <p:sp>
            <p:nvSpPr>
              <p:cNvPr id="36" name="TextBox 36"/>
              <p:cNvSpPr txBox="1"/>
              <p:nvPr/>
            </p:nvSpPr>
            <p:spPr>
              <a:xfrm>
                <a:off x="7548562" y="4107656"/>
                <a:ext cx="1378744" cy="228600"/>
              </a:xfrm>
              <a:prstGeom prst="rect">
                <a:avLst/>
              </a:prstGeom>
              <a:noFill/>
              <a:ln>
                <a:noFill/>
              </a:ln>
            </p:spPr>
            <p:txBody>
              <a:bodyPr wrap="none" lIns="0" tIns="0" rIns="0" bIns="0" anchor="t" anchorCtr="0">
                <a:spAutoFit/>
              </a:bodyPr>
              <a:lstStyle/>
              <a:p>
                <a:pPr algn="l"/>
                <a:r>
                  <a:rPr lang="zh-CN" sz="1125" dirty="0">
                    <a:solidFill>
                      <a:srgbClr val="171C24"/>
                    </a:solidFill>
                    <a:latin typeface="Manrope"/>
                    <a:ea typeface="Microsoft JhengHei"/>
                    <a:cs typeface="Manrope"/>
                  </a:rPr>
                  <a:t>質用戶價值的總和。</a:t>
                </a:r>
              </a:p>
            </p:txBody>
          </p:sp>
          <p:sp>
            <p:nvSpPr>
              <p:cNvPr id="37" name="TextBox 37"/>
              <p:cNvSpPr txBox="1"/>
              <p:nvPr/>
            </p:nvSpPr>
            <p:spPr>
              <a:xfrm>
                <a:off x="6500812" y="4393406"/>
                <a:ext cx="950065" cy="228600"/>
              </a:xfrm>
              <a:prstGeom prst="rect">
                <a:avLst/>
              </a:prstGeom>
              <a:noFill/>
              <a:ln>
                <a:noFill/>
              </a:ln>
            </p:spPr>
            <p:txBody>
              <a:bodyPr wrap="none" lIns="0" tIns="0" rIns="0" bIns="0" anchor="t" anchorCtr="0">
                <a:spAutoFit/>
              </a:bodyPr>
              <a:lstStyle/>
              <a:p>
                <a:pPr algn="l"/>
                <a:r>
                  <a:rPr lang="zh-CN" sz="1125" b="1" dirty="0">
                    <a:solidFill>
                      <a:srgbClr val="171C24"/>
                    </a:solidFill>
                    <a:latin typeface="Manrope"/>
                    <a:ea typeface="Microsoft JhengHei"/>
                    <a:cs typeface="Manrope"/>
                  </a:rPr>
                  <a:t>· 正確案例：</a:t>
                </a:r>
              </a:p>
            </p:txBody>
          </p:sp>
          <p:sp>
            <p:nvSpPr>
              <p:cNvPr id="38" name="TextBox 38"/>
              <p:cNvSpPr txBox="1"/>
              <p:nvPr/>
            </p:nvSpPr>
            <p:spPr>
              <a:xfrm>
                <a:off x="7548562" y="4393406"/>
                <a:ext cx="3704034" cy="228600"/>
              </a:xfrm>
              <a:prstGeom prst="rect">
                <a:avLst/>
              </a:prstGeom>
              <a:noFill/>
              <a:ln>
                <a:noFill/>
              </a:ln>
            </p:spPr>
            <p:txBody>
              <a:bodyPr wrap="none" lIns="0" tIns="0" rIns="0" bIns="0" anchor="t" anchorCtr="0">
                <a:spAutoFit/>
              </a:bodyPr>
              <a:lstStyle/>
              <a:p>
                <a:pPr algn="l"/>
                <a:r>
                  <a:rPr lang="zh-CN" sz="1125" dirty="0">
                    <a:solidFill>
                      <a:srgbClr val="171C24"/>
                    </a:solidFill>
                    <a:latin typeface="Manrope"/>
                    <a:ea typeface="Microsoft JhengHei"/>
                    <a:cs typeface="Manrope"/>
                  </a:rPr>
                  <a:t>AI PRD 助手 - 每週成功匯出的 PRD 數量（北極星指標）</a:t>
                </a:r>
              </a:p>
            </p:txBody>
          </p:sp>
        </p:grpSp>
      </p:grpSp>
      <p:sp>
        <p:nvSpPr>
          <p:cNvPr id="41" name="TextBox 41"/>
          <p:cNvSpPr txBox="1"/>
          <p:nvPr/>
        </p:nvSpPr>
        <p:spPr>
          <a:xfrm>
            <a:off x="598170" y="6475095"/>
            <a:ext cx="2579179" cy="182880"/>
          </a:xfrm>
          <a:prstGeom prst="rect">
            <a:avLst/>
          </a:prstGeom>
          <a:noFill/>
          <a:ln>
            <a:noFill/>
          </a:ln>
        </p:spPr>
        <p:txBody>
          <a:bodyPr wrap="none" lIns="0" tIns="0" rIns="0" bIns="0" anchor="t" anchorCtr="0">
            <a:spAutoFit/>
          </a:bodyPr>
          <a:lstStyle/>
          <a:p>
            <a:pPr algn="l"/>
            <a:r>
              <a:rPr lang="zh-CN" sz="900" dirty="0">
                <a:solidFill>
                  <a:srgbClr val="525864"/>
                </a:solidFill>
                <a:latin typeface="Manrope"/>
                <a:ea typeface="Microsoft JhengHei"/>
                <a:cs typeface="Manrope"/>
              </a:rPr>
              <a:t>PM PROPOSAL &amp; METRICS EDUCATION · PAGE 08</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400"/>
                                        <p:tgtEl>
                                          <p:spTgt spid="3"/>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slide(fromBottom)">
                                      <p:cBhvr>
                                        <p:cTn id="15" dur="400"/>
                                        <p:tgtEl>
                                          <p:spTgt spid="4"/>
                                        </p:tgtEl>
                                      </p:cBhvr>
                                    </p:animEffect>
                                  </p:childTnLst>
                                </p:cTn>
                              </p:par>
                            </p:childTnLst>
                          </p:cTn>
                        </p:par>
                        <p:par>
                          <p:cTn id="16" fill="hold">
                            <p:stCondLst>
                              <p:cond delay="2700"/>
                            </p:stCondLst>
                            <p:childTnLst>
                              <p:par>
                                <p:cTn id="17" presetID="23" presetClass="entr" presetSubtype="0" fill="hold" nodeType="after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image">
                                      <p:cBhvr>
                                        <p:cTn id="19" dur="400"/>
                                        <p:tgtEl>
                                          <p:spTgt spid="18"/>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400"/>
                                        <p:tgtEl>
                                          <p:spTgt spid="19"/>
                                        </p:tgtEl>
                                      </p:cBhvr>
                                    </p:animEffect>
                                  </p:childTnLst>
                                </p:cTn>
                              </p:par>
                            </p:childTnLst>
                          </p:cTn>
                        </p:par>
                        <p:par>
                          <p:cTn id="24" fill="hold">
                            <p:stCondLst>
                              <p:cond delay="4500"/>
                            </p:stCondLst>
                            <p:childTnLst>
                              <p:par>
                                <p:cTn id="25" presetID="22" presetClass="entr" presetSubtype="1" fill="hold" nodeType="afterEffect">
                                  <p:stCondLst>
                                    <p:cond delay="0"/>
                                  </p:stCondLst>
                                  <p:childTnLst>
                                    <p:set>
                                      <p:cBhvr>
                                        <p:cTn id="26" dur="1" fill="hold">
                                          <p:stCondLst>
                                            <p:cond delay="0"/>
                                          </p:stCondLst>
                                        </p:cTn>
                                        <p:tgtEl>
                                          <p:spTgt spid="40"/>
                                        </p:tgtEl>
                                        <p:attrNameLst>
                                          <p:attrName>style.visibility</p:attrName>
                                        </p:attrNameLst>
                                      </p:cBhvr>
                                      <p:to>
                                        <p:strVal val="visible"/>
                                      </p:to>
                                    </p:set>
                                    <p:animEffect transition="in" filter="wipe(left)">
                                      <p:cBhvr>
                                        <p:cTn id="27" dur="400"/>
                                        <p:tgtEl>
                                          <p:spTgt spid="40"/>
                                        </p:tgtEl>
                                      </p:cBhvr>
                                    </p:animEffect>
                                  </p:childTnLst>
                                </p:cTn>
                              </p:par>
                            </p:childTnLst>
                          </p:cTn>
                        </p:par>
                        <p:par>
                          <p:cTn id="28" fill="hold">
                            <p:stCondLst>
                              <p:cond delay="5400"/>
                            </p:stCondLst>
                            <p:childTnLst>
                              <p:par>
                                <p:cTn id="29" presetID="2" presetClass="entr" presetSubtype="4" fill="hold" nodeType="afterEffect">
                                  <p:stCondLst>
                                    <p:cond delay="0"/>
                                  </p:stCondLst>
                                  <p:childTnLst>
                                    <p:set>
                                      <p:cBhvr>
                                        <p:cTn id="30" dur="1" fill="hold">
                                          <p:stCondLst>
                                            <p:cond delay="0"/>
                                          </p:stCondLst>
                                        </p:cTn>
                                        <p:tgtEl>
                                          <p:spTgt spid="41"/>
                                        </p:tgtEl>
                                        <p:attrNameLst>
                                          <p:attrName>style.visibility</p:attrName>
                                        </p:attrNameLst>
                                      </p:cBhvr>
                                      <p:to>
                                        <p:strVal val="visible"/>
                                      </p:to>
                                    </p:set>
                                    <p:animEffect transition="in" filter="slide(fromBottom)">
                                      <p:cBhvr>
                                        <p:cTn id="31"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18" grpId="0"/>
      <p:bldP spid="19" grpId="0"/>
      <p:bldP spid="40" grpId="0"/>
      <p:bldP spid="4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DFCF9"/>
          </a:solidFill>
          <a:ln>
            <a:noFill/>
          </a:ln>
        </p:spPr>
      </p:sp>
      <p:sp>
        <p:nvSpPr>
          <p:cNvPr id="3" name="TextBox 3"/>
          <p:cNvSpPr txBox="1"/>
          <p:nvPr/>
        </p:nvSpPr>
        <p:spPr>
          <a:xfrm>
            <a:off x="596265" y="648652"/>
            <a:ext cx="3143460" cy="213360"/>
          </a:xfrm>
          <a:prstGeom prst="rect">
            <a:avLst/>
          </a:prstGeom>
          <a:noFill/>
          <a:ln>
            <a:noFill/>
          </a:ln>
        </p:spPr>
        <p:txBody>
          <a:bodyPr wrap="none" lIns="0" tIns="0" rIns="0" bIns="0" anchor="t" anchorCtr="0">
            <a:spAutoFit/>
          </a:bodyPr>
          <a:lstStyle/>
          <a:p>
            <a:pPr algn="l"/>
            <a:r>
              <a:rPr lang="zh-CN" sz="1050" b="1" dirty="0">
                <a:solidFill>
                  <a:srgbClr val="007583"/>
                </a:solidFill>
                <a:latin typeface="Plus Jakarta Sans"/>
                <a:ea typeface="Microsoft JhengHei"/>
                <a:cs typeface="Plus Jakarta Sans"/>
              </a:rPr>
              <a:t>CASE STUDY 01: NOTION AI MEETING ASSISTANT</a:t>
            </a:r>
          </a:p>
        </p:txBody>
      </p:sp>
      <p:sp>
        <p:nvSpPr>
          <p:cNvPr id="4" name="TextBox 4"/>
          <p:cNvSpPr txBox="1"/>
          <p:nvPr/>
        </p:nvSpPr>
        <p:spPr>
          <a:xfrm>
            <a:off x="582930" y="916305"/>
            <a:ext cx="5493020" cy="426720"/>
          </a:xfrm>
          <a:prstGeom prst="rect">
            <a:avLst/>
          </a:prstGeom>
          <a:noFill/>
          <a:ln>
            <a:noFill/>
          </a:ln>
        </p:spPr>
        <p:txBody>
          <a:bodyPr wrap="none" lIns="0" tIns="0" rIns="0" bIns="0" anchor="t" anchorCtr="0">
            <a:spAutoFit/>
          </a:bodyPr>
          <a:lstStyle/>
          <a:p>
            <a:pPr algn="l"/>
            <a:r>
              <a:rPr lang="zh-CN" sz="2100" b="1" dirty="0">
                <a:solidFill>
                  <a:srgbClr val="171C24"/>
                </a:solidFill>
                <a:latin typeface="Plus Jakarta Sans"/>
                <a:ea typeface="Microsoft JhengHei"/>
                <a:cs typeface="Plus Jakarta Sans"/>
              </a:rPr>
              <a:t>Notion AI 會議摘要的指標對齊與設計理由</a:t>
            </a:r>
          </a:p>
        </p:txBody>
      </p:sp>
      <p:grpSp>
        <p:nvGrpSpPr>
          <p:cNvPr id="48" name="Group 48"/>
          <p:cNvGrpSpPr/>
          <p:nvPr/>
        </p:nvGrpSpPr>
        <p:grpSpPr>
          <a:xfrm>
            <a:off x="609600" y="1619250"/>
            <a:ext cx="10972800" cy="3714750"/>
            <a:chOff x="609600" y="1619250"/>
            <a:chExt cx="10972800" cy="3714750"/>
          </a:xfrm>
        </p:grpSpPr>
        <p:grpSp>
          <p:nvGrpSpPr>
            <p:cNvPr id="35" name="Group 35"/>
            <p:cNvGrpSpPr/>
            <p:nvPr/>
          </p:nvGrpSpPr>
          <p:grpSpPr>
            <a:xfrm>
              <a:off x="609600" y="1619250"/>
              <a:ext cx="4231744" cy="3714750"/>
              <a:chOff x="609600" y="1619250"/>
              <a:chExt cx="4231744" cy="3714750"/>
            </a:xfrm>
          </p:grpSpPr>
          <p:sp>
            <p:nvSpPr>
              <p:cNvPr id="5" name="Line 5"/>
              <p:cNvSpPr/>
              <p:nvPr/>
            </p:nvSpPr>
            <p:spPr>
              <a:xfrm>
                <a:off x="2609850" y="1952625"/>
                <a:ext cx="9525" cy="3000375"/>
              </a:xfrm>
              <a:custGeom>
                <a:avLst/>
                <a:gdLst/>
                <a:ahLst/>
                <a:cxnLst/>
                <a:rect l="l" t="t" r="r" b="b"/>
                <a:pathLst>
                  <a:path w="9525" h="3000375">
                    <a:moveTo>
                      <a:pt x="0" y="0"/>
                    </a:moveTo>
                    <a:lnTo>
                      <a:pt x="0" y="3000375"/>
                    </a:lnTo>
                  </a:path>
                </a:pathLst>
              </a:custGeom>
              <a:noFill/>
              <a:ln w="19050">
                <a:solidFill>
                  <a:srgbClr val="E5E3DE"/>
                </a:solidFill>
              </a:ln>
            </p:spPr>
          </p:sp>
          <p:grpSp>
            <p:nvGrpSpPr>
              <p:cNvPr id="13" name="Group 13"/>
              <p:cNvGrpSpPr/>
              <p:nvPr/>
            </p:nvGrpSpPr>
            <p:grpSpPr>
              <a:xfrm>
                <a:off x="609600" y="1619250"/>
                <a:ext cx="4231744" cy="714375"/>
                <a:chOff x="609600" y="1619250"/>
                <a:chExt cx="4231744" cy="714375"/>
              </a:xfrm>
            </p:grpSpPr>
            <p:sp>
              <p:nvSpPr>
                <p:cNvPr id="6" name="Rectangle 6"/>
                <p:cNvSpPr/>
                <p:nvPr/>
              </p:nvSpPr>
              <p:spPr>
                <a:xfrm>
                  <a:off x="609600" y="1619250"/>
                  <a:ext cx="4000500" cy="714375"/>
                </a:xfrm>
                <a:prstGeom prst="roundRect">
                  <a:avLst>
                    <a:gd name="adj" fmla="val 16000"/>
                  </a:avLst>
                </a:prstGeom>
                <a:solidFill>
                  <a:srgbClr val="FFFFFF"/>
                </a:solidFill>
                <a:ln w="19050">
                  <a:solidFill>
                    <a:srgbClr val="153166"/>
                  </a:solidFill>
                </a:ln>
              </p:spPr>
            </p:sp>
            <p:sp>
              <p:nvSpPr>
                <p:cNvPr id="7" name="Rectangle 7"/>
                <p:cNvSpPr/>
                <p:nvPr/>
              </p:nvSpPr>
              <p:spPr>
                <a:xfrm>
                  <a:off x="609600" y="1619250"/>
                  <a:ext cx="57150" cy="714375"/>
                </a:xfrm>
                <a:prstGeom prst="roundRect">
                  <a:avLst>
                    <a:gd name="adj" fmla="val 50000"/>
                  </a:avLst>
                </a:prstGeom>
                <a:solidFill>
                  <a:srgbClr val="153166"/>
                </a:solidFill>
                <a:ln>
                  <a:noFill/>
                </a:ln>
              </p:spPr>
            </p:sp>
            <p:grpSp>
              <p:nvGrpSpPr>
                <p:cNvPr id="10" name="Group 10"/>
                <p:cNvGrpSpPr/>
                <p:nvPr/>
              </p:nvGrpSpPr>
              <p:grpSpPr>
                <a:xfrm>
                  <a:off x="800100" y="1857375"/>
                  <a:ext cx="228600" cy="228600"/>
                  <a:chOff x="800100" y="1857375"/>
                  <a:chExt cx="228600" cy="228600"/>
                </a:xfrm>
              </p:grpSpPr>
              <p:sp>
                <p:nvSpPr>
                  <p:cNvPr id="8" name="Freeform 8"/>
                  <p:cNvSpPr/>
                  <p:nvPr/>
                </p:nvSpPr>
                <p:spPr>
                  <a:xfrm>
                    <a:off x="857250" y="1914525"/>
                    <a:ext cx="114300" cy="114300"/>
                  </a:xfrm>
                  <a:custGeom>
                    <a:avLst/>
                    <a:gdLst/>
                    <a:ahLst/>
                    <a:cxnLst/>
                    <a:rect l="l" t="t" r="r" b="b"/>
                    <a:pathLst>
                      <a:path w="114300" h="114300">
                        <a:moveTo>
                          <a:pt x="57150" y="0"/>
                        </a:moveTo>
                        <a:cubicBezTo>
                          <a:pt x="25587" y="0"/>
                          <a:pt x="0" y="25587"/>
                          <a:pt x="0" y="57150"/>
                        </a:cubicBezTo>
                        <a:cubicBezTo>
                          <a:pt x="0" y="88713"/>
                          <a:pt x="25587" y="114300"/>
                          <a:pt x="57150" y="114300"/>
                        </a:cubicBezTo>
                        <a:cubicBezTo>
                          <a:pt x="88713" y="114300"/>
                          <a:pt x="114300" y="88713"/>
                          <a:pt x="114300" y="57150"/>
                        </a:cubicBezTo>
                        <a:cubicBezTo>
                          <a:pt x="114300" y="25587"/>
                          <a:pt x="88713" y="0"/>
                          <a:pt x="57150" y="0"/>
                        </a:cubicBezTo>
                        <a:close/>
                        <a:moveTo>
                          <a:pt x="28575" y="57150"/>
                        </a:moveTo>
                        <a:cubicBezTo>
                          <a:pt x="28575" y="41368"/>
                          <a:pt x="41368" y="28575"/>
                          <a:pt x="57150" y="28575"/>
                        </a:cubicBezTo>
                        <a:cubicBezTo>
                          <a:pt x="72932" y="28575"/>
                          <a:pt x="85725" y="41368"/>
                          <a:pt x="85725" y="57150"/>
                        </a:cubicBezTo>
                        <a:cubicBezTo>
                          <a:pt x="85725" y="72932"/>
                          <a:pt x="72932" y="85725"/>
                          <a:pt x="57150" y="85725"/>
                        </a:cubicBezTo>
                        <a:cubicBezTo>
                          <a:pt x="41368" y="85725"/>
                          <a:pt x="28575" y="72932"/>
                          <a:pt x="28575" y="57150"/>
                        </a:cubicBezTo>
                        <a:close/>
                      </a:path>
                    </a:pathLst>
                  </a:custGeom>
                  <a:solidFill>
                    <a:srgbClr val="153166"/>
                  </a:solidFill>
                  <a:ln>
                    <a:noFill/>
                  </a:ln>
                </p:spPr>
              </p:sp>
              <p:sp>
                <p:nvSpPr>
                  <p:cNvPr id="9" name="Freeform 9"/>
                  <p:cNvSpPr/>
                  <p:nvPr/>
                </p:nvSpPr>
                <p:spPr>
                  <a:xfrm>
                    <a:off x="800100" y="1857375"/>
                    <a:ext cx="228600" cy="228600"/>
                  </a:xfrm>
                  <a:custGeom>
                    <a:avLst/>
                    <a:gdLst/>
                    <a:ahLst/>
                    <a:cxnLst/>
                    <a:rect l="l" t="t" r="r" b="b"/>
                    <a:pathLst>
                      <a:path w="228600" h="228600">
                        <a:moveTo>
                          <a:pt x="114300" y="0"/>
                        </a:moveTo>
                        <a:cubicBezTo>
                          <a:pt x="51174" y="0"/>
                          <a:pt x="0" y="51174"/>
                          <a:pt x="0" y="114300"/>
                        </a:cubicBezTo>
                        <a:cubicBezTo>
                          <a:pt x="0" y="177426"/>
                          <a:pt x="51174" y="228600"/>
                          <a:pt x="114300" y="228600"/>
                        </a:cubicBezTo>
                        <a:cubicBezTo>
                          <a:pt x="177426" y="228600"/>
                          <a:pt x="228600" y="177426"/>
                          <a:pt x="228600" y="114300"/>
                        </a:cubicBezTo>
                        <a:cubicBezTo>
                          <a:pt x="228600" y="51174"/>
                          <a:pt x="177426" y="0"/>
                          <a:pt x="114300" y="0"/>
                        </a:cubicBezTo>
                        <a:close/>
                        <a:moveTo>
                          <a:pt x="28575" y="114300"/>
                        </a:moveTo>
                        <a:cubicBezTo>
                          <a:pt x="28575" y="66955"/>
                          <a:pt x="66955" y="28575"/>
                          <a:pt x="114300" y="28575"/>
                        </a:cubicBezTo>
                        <a:cubicBezTo>
                          <a:pt x="161644" y="28575"/>
                          <a:pt x="200025" y="66955"/>
                          <a:pt x="200025" y="114300"/>
                        </a:cubicBezTo>
                        <a:cubicBezTo>
                          <a:pt x="200025" y="161644"/>
                          <a:pt x="161644" y="200025"/>
                          <a:pt x="114300" y="200025"/>
                        </a:cubicBezTo>
                        <a:cubicBezTo>
                          <a:pt x="66955" y="200025"/>
                          <a:pt x="28575" y="161644"/>
                          <a:pt x="28575" y="114300"/>
                        </a:cubicBezTo>
                        <a:close/>
                      </a:path>
                    </a:pathLst>
                  </a:custGeom>
                  <a:solidFill>
                    <a:srgbClr val="153166"/>
                  </a:solidFill>
                  <a:ln>
                    <a:noFill/>
                  </a:ln>
                </p:spPr>
              </p:sp>
            </p:grpSp>
            <p:sp>
              <p:nvSpPr>
                <p:cNvPr id="11" name="TextBox 11"/>
                <p:cNvSpPr txBox="1"/>
                <p:nvPr/>
              </p:nvSpPr>
              <p:spPr>
                <a:xfrm>
                  <a:off x="1131570" y="1788795"/>
                  <a:ext cx="1963503" cy="182880"/>
                </a:xfrm>
                <a:prstGeom prst="rect">
                  <a:avLst/>
                </a:prstGeom>
                <a:noFill/>
                <a:ln>
                  <a:noFill/>
                </a:ln>
              </p:spPr>
              <p:txBody>
                <a:bodyPr wrap="none" lIns="0" tIns="0" rIns="0" bIns="0" anchor="t" anchorCtr="0">
                  <a:spAutoFit/>
                </a:bodyPr>
                <a:lstStyle/>
                <a:p>
                  <a:pPr algn="l"/>
                  <a:r>
                    <a:rPr lang="zh-CN" sz="900" b="1" dirty="0">
                      <a:solidFill>
                        <a:srgbClr val="153166"/>
                      </a:solidFill>
                      <a:latin typeface="Plus Jakarta Sans"/>
                      <a:ea typeface="Microsoft JhengHei"/>
                      <a:cs typeface="Plus Jakarta Sans"/>
                    </a:rPr>
                    <a:t>產品北極星指標 (NSM) — 價值總量</a:t>
                  </a:r>
                </a:p>
              </p:txBody>
            </p:sp>
            <p:sp>
              <p:nvSpPr>
                <p:cNvPr id="12" name="TextBox 12"/>
                <p:cNvSpPr txBox="1"/>
                <p:nvPr/>
              </p:nvSpPr>
              <p:spPr>
                <a:xfrm>
                  <a:off x="1130618" y="2009299"/>
                  <a:ext cx="3710726" cy="198120"/>
                </a:xfrm>
                <a:prstGeom prst="rect">
                  <a:avLst/>
                </a:prstGeom>
                <a:noFill/>
                <a:ln>
                  <a:noFill/>
                </a:ln>
              </p:spPr>
              <p:txBody>
                <a:bodyPr wrap="none" lIns="0" tIns="0" rIns="0" bIns="0" anchor="t" anchorCtr="0">
                  <a:spAutoFit/>
                </a:bodyPr>
                <a:lstStyle/>
                <a:p>
                  <a:pPr algn="l"/>
                  <a:r>
                    <a:rPr lang="zh-CN" sz="975" b="1" dirty="0">
                      <a:solidFill>
                        <a:srgbClr val="171C24"/>
                      </a:solidFill>
                      <a:latin typeface="Plus Jakarta Sans"/>
                      <a:ea typeface="Microsoft JhengHei"/>
                      <a:cs typeface="Plus Jakarta Sans"/>
                    </a:rPr>
                    <a:t>每週「除建立者外，2 工作天內至少 2 人瀏覽」的活躍文件數</a:t>
                  </a:r>
                </a:p>
              </p:txBody>
            </p:sp>
          </p:grpSp>
          <p:grpSp>
            <p:nvGrpSpPr>
              <p:cNvPr id="19" name="Group 19"/>
              <p:cNvGrpSpPr/>
              <p:nvPr/>
            </p:nvGrpSpPr>
            <p:grpSpPr>
              <a:xfrm>
                <a:off x="609600" y="2619375"/>
                <a:ext cx="4000500" cy="714375"/>
                <a:chOff x="609600" y="2619375"/>
                <a:chExt cx="4000500" cy="714375"/>
              </a:xfrm>
            </p:grpSpPr>
            <p:sp>
              <p:nvSpPr>
                <p:cNvPr id="14" name="Rectangle 14"/>
                <p:cNvSpPr/>
                <p:nvPr/>
              </p:nvSpPr>
              <p:spPr>
                <a:xfrm>
                  <a:off x="609600" y="2619375"/>
                  <a:ext cx="4000500" cy="714375"/>
                </a:xfrm>
                <a:prstGeom prst="roundRect">
                  <a:avLst>
                    <a:gd name="adj" fmla="val 16000"/>
                  </a:avLst>
                </a:prstGeom>
                <a:solidFill>
                  <a:srgbClr val="FFFFFF"/>
                </a:solidFill>
                <a:ln w="19050">
                  <a:solidFill>
                    <a:srgbClr val="00969D"/>
                  </a:solidFill>
                </a:ln>
              </p:spPr>
            </p:sp>
            <p:sp>
              <p:nvSpPr>
                <p:cNvPr id="15" name="Rectangle 15"/>
                <p:cNvSpPr/>
                <p:nvPr/>
              </p:nvSpPr>
              <p:spPr>
                <a:xfrm>
                  <a:off x="609600" y="2619375"/>
                  <a:ext cx="57150" cy="714375"/>
                </a:xfrm>
                <a:prstGeom prst="roundRect">
                  <a:avLst>
                    <a:gd name="adj" fmla="val 50000"/>
                  </a:avLst>
                </a:prstGeom>
                <a:solidFill>
                  <a:srgbClr val="00969D"/>
                </a:solidFill>
                <a:ln>
                  <a:noFill/>
                </a:ln>
              </p:spPr>
            </p:sp>
            <p:sp>
              <p:nvSpPr>
                <p:cNvPr id="16" name="Freeform 16"/>
                <p:cNvSpPr/>
                <p:nvPr/>
              </p:nvSpPr>
              <p:spPr>
                <a:xfrm>
                  <a:off x="808468" y="2887301"/>
                  <a:ext cx="211861" cy="174917"/>
                </a:xfrm>
                <a:custGeom>
                  <a:avLst/>
                  <a:gdLst/>
                  <a:ahLst/>
                  <a:cxnLst/>
                  <a:rect l="l" t="t" r="r" b="b"/>
                  <a:pathLst>
                    <a:path w="211861" h="174917">
                      <a:moveTo>
                        <a:pt x="211861" y="40411"/>
                      </a:moveTo>
                      <a:lnTo>
                        <a:pt x="77356" y="174917"/>
                      </a:lnTo>
                      <a:lnTo>
                        <a:pt x="0" y="97561"/>
                      </a:lnTo>
                      <a:lnTo>
                        <a:pt x="40411" y="57150"/>
                      </a:lnTo>
                      <a:lnTo>
                        <a:pt x="77356" y="94094"/>
                      </a:lnTo>
                      <a:lnTo>
                        <a:pt x="171450" y="0"/>
                      </a:lnTo>
                      <a:lnTo>
                        <a:pt x="211861" y="40411"/>
                      </a:lnTo>
                      <a:close/>
                    </a:path>
                  </a:pathLst>
                </a:custGeom>
                <a:solidFill>
                  <a:srgbClr val="00969D"/>
                </a:solidFill>
                <a:ln>
                  <a:noFill/>
                </a:ln>
              </p:spPr>
            </p:sp>
            <p:sp>
              <p:nvSpPr>
                <p:cNvPr id="17" name="TextBox 17"/>
                <p:cNvSpPr txBox="1"/>
                <p:nvPr/>
              </p:nvSpPr>
              <p:spPr>
                <a:xfrm>
                  <a:off x="1131570" y="2788920"/>
                  <a:ext cx="2108421" cy="182880"/>
                </a:xfrm>
                <a:prstGeom prst="rect">
                  <a:avLst/>
                </a:prstGeom>
                <a:noFill/>
                <a:ln>
                  <a:noFill/>
                </a:ln>
              </p:spPr>
              <p:txBody>
                <a:bodyPr wrap="none" lIns="0" tIns="0" rIns="0" bIns="0" anchor="t" anchorCtr="0">
                  <a:spAutoFit/>
                </a:bodyPr>
                <a:lstStyle/>
                <a:p>
                  <a:pPr algn="l"/>
                  <a:r>
                    <a:rPr lang="zh-CN" sz="900" b="1" dirty="0">
                      <a:solidFill>
                        <a:srgbClr val="007583"/>
                      </a:solidFill>
                      <a:latin typeface="Plus Jakarta Sans"/>
                      <a:ea typeface="Microsoft JhengHei"/>
                      <a:cs typeface="Plus Jakarta Sans"/>
                    </a:rPr>
                    <a:t>功能層成功指標 — 深度互動 (低摩擦)</a:t>
                  </a:r>
                </a:p>
              </p:txBody>
            </p:sp>
            <p:sp>
              <p:nvSpPr>
                <p:cNvPr id="18" name="TextBox 18"/>
                <p:cNvSpPr txBox="1"/>
                <p:nvPr/>
              </p:nvSpPr>
              <p:spPr>
                <a:xfrm>
                  <a:off x="1132522" y="3025616"/>
                  <a:ext cx="3093639" cy="167640"/>
                </a:xfrm>
                <a:prstGeom prst="rect">
                  <a:avLst/>
                </a:prstGeom>
                <a:noFill/>
                <a:ln>
                  <a:noFill/>
                </a:ln>
              </p:spPr>
              <p:txBody>
                <a:bodyPr wrap="none" lIns="0" tIns="0" rIns="0" bIns="0" anchor="t" anchorCtr="0">
                  <a:spAutoFit/>
                </a:bodyPr>
                <a:lstStyle/>
                <a:p>
                  <a:pPr algn="l"/>
                  <a:r>
                    <a:rPr lang="zh-CN" sz="825" b="1" dirty="0">
                      <a:solidFill>
                        <a:srgbClr val="171C24"/>
                      </a:solidFill>
                      <a:latin typeface="Plus Jakarta Sans"/>
                      <a:ea typeface="Microsoft JhengHei"/>
                      <a:cs typeface="Plus Jakarta Sans"/>
                    </a:rPr>
                    <a:t>每週「採用 AI 彙整匯出且 2 天內 ≧ 2 人瀏覽」的會議文件數</a:t>
                  </a:r>
                </a:p>
              </p:txBody>
            </p:sp>
          </p:grpSp>
          <p:grpSp>
            <p:nvGrpSpPr>
              <p:cNvPr id="28" name="Group 28"/>
              <p:cNvGrpSpPr/>
              <p:nvPr/>
            </p:nvGrpSpPr>
            <p:grpSpPr>
              <a:xfrm>
                <a:off x="609600" y="3619500"/>
                <a:ext cx="4000500" cy="714375"/>
                <a:chOff x="609600" y="3619500"/>
                <a:chExt cx="4000500" cy="714375"/>
              </a:xfrm>
            </p:grpSpPr>
            <p:sp>
              <p:nvSpPr>
                <p:cNvPr id="20" name="Rectangle 20"/>
                <p:cNvSpPr/>
                <p:nvPr/>
              </p:nvSpPr>
              <p:spPr>
                <a:xfrm>
                  <a:off x="609600" y="3619500"/>
                  <a:ext cx="4000500" cy="714375"/>
                </a:xfrm>
                <a:prstGeom prst="roundRect">
                  <a:avLst>
                    <a:gd name="adj" fmla="val 16000"/>
                  </a:avLst>
                </a:prstGeom>
                <a:solidFill>
                  <a:srgbClr val="FFFFFF"/>
                </a:solidFill>
                <a:ln w="14288">
                  <a:solidFill>
                    <a:srgbClr val="E5E3DE"/>
                  </a:solidFill>
                </a:ln>
              </p:spPr>
            </p:sp>
            <p:sp>
              <p:nvSpPr>
                <p:cNvPr id="21" name="Rectangle 21"/>
                <p:cNvSpPr/>
                <p:nvPr/>
              </p:nvSpPr>
              <p:spPr>
                <a:xfrm>
                  <a:off x="609600" y="3619500"/>
                  <a:ext cx="57150" cy="714375"/>
                </a:xfrm>
                <a:prstGeom prst="roundRect">
                  <a:avLst>
                    <a:gd name="adj" fmla="val 50000"/>
                  </a:avLst>
                </a:prstGeom>
                <a:solidFill>
                  <a:srgbClr val="153166"/>
                </a:solidFill>
                <a:ln>
                  <a:noFill/>
                </a:ln>
              </p:spPr>
            </p:sp>
            <p:grpSp>
              <p:nvGrpSpPr>
                <p:cNvPr id="25" name="Group 25"/>
                <p:cNvGrpSpPr/>
                <p:nvPr/>
              </p:nvGrpSpPr>
              <p:grpSpPr>
                <a:xfrm>
                  <a:off x="800100" y="3871912"/>
                  <a:ext cx="228600" cy="200025"/>
                  <a:chOff x="800100" y="3871912"/>
                  <a:chExt cx="228600" cy="200025"/>
                </a:xfrm>
              </p:grpSpPr>
              <p:sp>
                <p:nvSpPr>
                  <p:cNvPr id="22" name="Freeform 22"/>
                  <p:cNvSpPr/>
                  <p:nvPr/>
                </p:nvSpPr>
                <p:spPr>
                  <a:xfrm>
                    <a:off x="971550" y="3871912"/>
                    <a:ext cx="57150" cy="200025"/>
                  </a:xfrm>
                  <a:custGeom>
                    <a:avLst/>
                    <a:gdLst/>
                    <a:ahLst/>
                    <a:cxnLst/>
                    <a:rect l="l" t="t" r="r" b="b"/>
                    <a:pathLst>
                      <a:path w="57150" h="200025">
                        <a:moveTo>
                          <a:pt x="57150" y="0"/>
                        </a:moveTo>
                        <a:lnTo>
                          <a:pt x="0" y="0"/>
                        </a:lnTo>
                        <a:lnTo>
                          <a:pt x="0" y="200025"/>
                        </a:lnTo>
                        <a:lnTo>
                          <a:pt x="57150" y="200025"/>
                        </a:lnTo>
                        <a:lnTo>
                          <a:pt x="57150" y="0"/>
                        </a:lnTo>
                        <a:close/>
                      </a:path>
                    </a:pathLst>
                  </a:custGeom>
                  <a:solidFill>
                    <a:srgbClr val="153166"/>
                  </a:solidFill>
                  <a:ln>
                    <a:noFill/>
                  </a:ln>
                </p:spPr>
              </p:sp>
              <p:sp>
                <p:nvSpPr>
                  <p:cNvPr id="23" name="Freeform 23"/>
                  <p:cNvSpPr/>
                  <p:nvPr/>
                </p:nvSpPr>
                <p:spPr>
                  <a:xfrm>
                    <a:off x="885825" y="3929062"/>
                    <a:ext cx="57150" cy="142875"/>
                  </a:xfrm>
                  <a:custGeom>
                    <a:avLst/>
                    <a:gdLst/>
                    <a:ahLst/>
                    <a:cxnLst/>
                    <a:rect l="l" t="t" r="r" b="b"/>
                    <a:pathLst>
                      <a:path w="57150" h="142875">
                        <a:moveTo>
                          <a:pt x="0" y="0"/>
                        </a:moveTo>
                        <a:lnTo>
                          <a:pt x="57150" y="0"/>
                        </a:lnTo>
                        <a:lnTo>
                          <a:pt x="57150" y="142875"/>
                        </a:lnTo>
                        <a:lnTo>
                          <a:pt x="0" y="142875"/>
                        </a:lnTo>
                        <a:lnTo>
                          <a:pt x="0" y="0"/>
                        </a:lnTo>
                        <a:close/>
                      </a:path>
                    </a:pathLst>
                  </a:custGeom>
                  <a:solidFill>
                    <a:srgbClr val="153166"/>
                  </a:solidFill>
                  <a:ln>
                    <a:noFill/>
                  </a:ln>
                </p:spPr>
              </p:sp>
              <p:sp>
                <p:nvSpPr>
                  <p:cNvPr id="24" name="Freeform 24"/>
                  <p:cNvSpPr/>
                  <p:nvPr/>
                </p:nvSpPr>
                <p:spPr>
                  <a:xfrm>
                    <a:off x="800100" y="3986212"/>
                    <a:ext cx="57150" cy="85725"/>
                  </a:xfrm>
                  <a:custGeom>
                    <a:avLst/>
                    <a:gdLst/>
                    <a:ahLst/>
                    <a:cxnLst/>
                    <a:rect l="l" t="t" r="r" b="b"/>
                    <a:pathLst>
                      <a:path w="57150" h="85725">
                        <a:moveTo>
                          <a:pt x="0" y="0"/>
                        </a:moveTo>
                        <a:lnTo>
                          <a:pt x="57150" y="0"/>
                        </a:lnTo>
                        <a:lnTo>
                          <a:pt x="57150" y="85725"/>
                        </a:lnTo>
                        <a:lnTo>
                          <a:pt x="0" y="85725"/>
                        </a:lnTo>
                        <a:lnTo>
                          <a:pt x="0" y="0"/>
                        </a:lnTo>
                        <a:close/>
                      </a:path>
                    </a:pathLst>
                  </a:custGeom>
                  <a:solidFill>
                    <a:srgbClr val="153166"/>
                  </a:solidFill>
                  <a:ln>
                    <a:noFill/>
                  </a:ln>
                </p:spPr>
              </p:sp>
            </p:grpSp>
            <p:sp>
              <p:nvSpPr>
                <p:cNvPr id="26" name="TextBox 26"/>
                <p:cNvSpPr txBox="1"/>
                <p:nvPr/>
              </p:nvSpPr>
              <p:spPr>
                <a:xfrm>
                  <a:off x="1131570" y="3789045"/>
                  <a:ext cx="1175904" cy="182880"/>
                </a:xfrm>
                <a:prstGeom prst="rect">
                  <a:avLst/>
                </a:prstGeom>
                <a:noFill/>
                <a:ln>
                  <a:noFill/>
                </a:ln>
              </p:spPr>
              <p:txBody>
                <a:bodyPr wrap="none" lIns="0" tIns="0" rIns="0" bIns="0" anchor="t" anchorCtr="0">
                  <a:spAutoFit/>
                </a:bodyPr>
                <a:lstStyle/>
                <a:p>
                  <a:pPr algn="l"/>
                  <a:r>
                    <a:rPr lang="zh-CN" sz="900" b="1" dirty="0">
                      <a:solidFill>
                        <a:srgbClr val="525864"/>
                      </a:solidFill>
                      <a:latin typeface="Plus Jakarta Sans"/>
                      <a:ea typeface="Microsoft JhengHei"/>
                      <a:cs typeface="Plus Jakarta Sans"/>
                    </a:rPr>
                    <a:t>量能指標 — 入口流量</a:t>
                  </a:r>
                </a:p>
              </p:txBody>
            </p:sp>
            <p:sp>
              <p:nvSpPr>
                <p:cNvPr id="27" name="TextBox 27"/>
                <p:cNvSpPr txBox="1"/>
                <p:nvPr/>
              </p:nvSpPr>
              <p:spPr>
                <a:xfrm>
                  <a:off x="1132046" y="4021693"/>
                  <a:ext cx="2612319" cy="175260"/>
                </a:xfrm>
                <a:prstGeom prst="rect">
                  <a:avLst/>
                </a:prstGeom>
                <a:noFill/>
                <a:ln>
                  <a:noFill/>
                </a:ln>
              </p:spPr>
              <p:txBody>
                <a:bodyPr wrap="none" lIns="0" tIns="0" rIns="0" bIns="0" anchor="t" anchorCtr="0">
                  <a:spAutoFit/>
                </a:bodyPr>
                <a:lstStyle/>
                <a:p>
                  <a:pPr algn="l"/>
                  <a:r>
                    <a:rPr lang="zh-CN" sz="862" b="1" dirty="0">
                      <a:solidFill>
                        <a:srgbClr val="171C24"/>
                      </a:solidFill>
                      <a:latin typeface="Plus Jakarta Sans"/>
                      <a:ea typeface="Microsoft JhengHei"/>
                      <a:cs typeface="Plus Jakarta Sans"/>
                    </a:rPr>
                    <a:t>每週點擊且採用 AI 會議彙整匯出的會議文件總數</a:t>
                  </a:r>
                </a:p>
              </p:txBody>
            </p:sp>
          </p:grpSp>
          <p:grpSp>
            <p:nvGrpSpPr>
              <p:cNvPr id="34" name="Group 34"/>
              <p:cNvGrpSpPr/>
              <p:nvPr/>
            </p:nvGrpSpPr>
            <p:grpSpPr>
              <a:xfrm>
                <a:off x="609600" y="4619625"/>
                <a:ext cx="4000500" cy="714375"/>
                <a:chOff x="609600" y="4619625"/>
                <a:chExt cx="4000500" cy="714375"/>
              </a:xfrm>
            </p:grpSpPr>
            <p:sp>
              <p:nvSpPr>
                <p:cNvPr id="29" name="Rectangle 29"/>
                <p:cNvSpPr/>
                <p:nvPr/>
              </p:nvSpPr>
              <p:spPr>
                <a:xfrm>
                  <a:off x="609600" y="4619625"/>
                  <a:ext cx="4000500" cy="714375"/>
                </a:xfrm>
                <a:prstGeom prst="roundRect">
                  <a:avLst>
                    <a:gd name="adj" fmla="val 16000"/>
                  </a:avLst>
                </a:prstGeom>
                <a:solidFill>
                  <a:srgbClr val="FFFFFF"/>
                </a:solidFill>
                <a:ln w="14288">
                  <a:solidFill>
                    <a:srgbClr val="E5E3DE"/>
                  </a:solidFill>
                </a:ln>
              </p:spPr>
            </p:sp>
            <p:sp>
              <p:nvSpPr>
                <p:cNvPr id="30" name="Rectangle 30"/>
                <p:cNvSpPr/>
                <p:nvPr/>
              </p:nvSpPr>
              <p:spPr>
                <a:xfrm>
                  <a:off x="609600" y="4619625"/>
                  <a:ext cx="57150" cy="714375"/>
                </a:xfrm>
                <a:prstGeom prst="roundRect">
                  <a:avLst>
                    <a:gd name="adj" fmla="val 50000"/>
                  </a:avLst>
                </a:prstGeom>
                <a:solidFill>
                  <a:srgbClr val="B91C1C"/>
                </a:solidFill>
                <a:ln>
                  <a:noFill/>
                </a:ln>
              </p:spPr>
            </p:sp>
            <p:sp>
              <p:nvSpPr>
                <p:cNvPr id="31" name="Freeform 31"/>
                <p:cNvSpPr/>
                <p:nvPr/>
              </p:nvSpPr>
              <p:spPr>
                <a:xfrm>
                  <a:off x="814388" y="4857750"/>
                  <a:ext cx="200025" cy="228600"/>
                </a:xfrm>
                <a:custGeom>
                  <a:avLst/>
                  <a:gdLst/>
                  <a:ahLst/>
                  <a:cxnLst/>
                  <a:rect l="l" t="t" r="r" b="b"/>
                  <a:pathLst>
                    <a:path w="200025" h="228600">
                      <a:moveTo>
                        <a:pt x="47864" y="191351"/>
                      </a:moveTo>
                      <a:lnTo>
                        <a:pt x="100012" y="228600"/>
                      </a:lnTo>
                      <a:lnTo>
                        <a:pt x="152160" y="191351"/>
                      </a:lnTo>
                      <a:cubicBezTo>
                        <a:pt x="182198" y="169896"/>
                        <a:pt x="200025" y="135255"/>
                        <a:pt x="200025" y="98342"/>
                      </a:cubicBezTo>
                      <a:lnTo>
                        <a:pt x="200025" y="42862"/>
                      </a:lnTo>
                      <a:lnTo>
                        <a:pt x="100012" y="0"/>
                      </a:lnTo>
                      <a:lnTo>
                        <a:pt x="0" y="42862"/>
                      </a:lnTo>
                      <a:lnTo>
                        <a:pt x="0" y="98342"/>
                      </a:lnTo>
                      <a:cubicBezTo>
                        <a:pt x="0" y="135255"/>
                        <a:pt x="17827" y="169896"/>
                        <a:pt x="47864" y="191351"/>
                      </a:cubicBezTo>
                      <a:close/>
                    </a:path>
                  </a:pathLst>
                </a:custGeom>
                <a:solidFill>
                  <a:srgbClr val="B91C1C"/>
                </a:solidFill>
                <a:ln>
                  <a:noFill/>
                </a:ln>
              </p:spPr>
            </p:sp>
            <p:sp>
              <p:nvSpPr>
                <p:cNvPr id="32" name="TextBox 32"/>
                <p:cNvSpPr txBox="1"/>
                <p:nvPr/>
              </p:nvSpPr>
              <p:spPr>
                <a:xfrm>
                  <a:off x="1131570" y="4789170"/>
                  <a:ext cx="1175904" cy="182880"/>
                </a:xfrm>
                <a:prstGeom prst="rect">
                  <a:avLst/>
                </a:prstGeom>
                <a:noFill/>
                <a:ln>
                  <a:noFill/>
                </a:ln>
              </p:spPr>
              <p:txBody>
                <a:bodyPr wrap="none" lIns="0" tIns="0" rIns="0" bIns="0" anchor="t" anchorCtr="0">
                  <a:spAutoFit/>
                </a:bodyPr>
                <a:lstStyle/>
                <a:p>
                  <a:pPr algn="l"/>
                  <a:r>
                    <a:rPr lang="zh-CN" sz="900" b="1" dirty="0">
                      <a:solidFill>
                        <a:srgbClr val="B91C1C"/>
                      </a:solidFill>
                      <a:latin typeface="Plus Jakarta Sans"/>
                      <a:ea typeface="Microsoft JhengHei"/>
                      <a:cs typeface="Plus Jakarta Sans"/>
                    </a:rPr>
                    <a:t>護欄指標 — 品質防守</a:t>
                  </a:r>
                </a:p>
              </p:txBody>
            </p:sp>
            <p:sp>
              <p:nvSpPr>
                <p:cNvPr id="33" name="TextBox 33"/>
                <p:cNvSpPr txBox="1"/>
                <p:nvPr/>
              </p:nvSpPr>
              <p:spPr>
                <a:xfrm>
                  <a:off x="1132046" y="5021818"/>
                  <a:ext cx="2721007" cy="175260"/>
                </a:xfrm>
                <a:prstGeom prst="rect">
                  <a:avLst/>
                </a:prstGeom>
                <a:noFill/>
                <a:ln>
                  <a:noFill/>
                </a:ln>
              </p:spPr>
              <p:txBody>
                <a:bodyPr wrap="none" lIns="0" tIns="0" rIns="0" bIns="0" anchor="t" anchorCtr="0">
                  <a:spAutoFit/>
                </a:bodyPr>
                <a:lstStyle/>
                <a:p>
                  <a:pPr algn="l"/>
                  <a:r>
                    <a:rPr lang="zh-CN" sz="862" b="1" dirty="0">
                      <a:solidFill>
                        <a:srgbClr val="171C24"/>
                      </a:solidFill>
                      <a:latin typeface="Plus Jakarta Sans"/>
                      <a:ea typeface="Microsoft JhengHei"/>
                      <a:cs typeface="Plus Jakarta Sans"/>
                    </a:rPr>
                    <a:t>匯出前，編輯次數中位數 ≦ 5 次 (Log 記問答請求)</a:t>
                  </a:r>
                </a:p>
              </p:txBody>
            </p:sp>
          </p:grpSp>
        </p:grpSp>
        <p:grpSp>
          <p:nvGrpSpPr>
            <p:cNvPr id="47" name="Group 47"/>
            <p:cNvGrpSpPr/>
            <p:nvPr/>
          </p:nvGrpSpPr>
          <p:grpSpPr>
            <a:xfrm>
              <a:off x="4895850" y="1619250"/>
              <a:ext cx="6686550" cy="3714750"/>
              <a:chOff x="4895850" y="1619250"/>
              <a:chExt cx="6686550" cy="3714750"/>
            </a:xfrm>
          </p:grpSpPr>
          <p:sp>
            <p:nvSpPr>
              <p:cNvPr id="36" name="Rectangle 36"/>
              <p:cNvSpPr/>
              <p:nvPr/>
            </p:nvSpPr>
            <p:spPr>
              <a:xfrm>
                <a:off x="4895850" y="1619250"/>
                <a:ext cx="6686550" cy="3714750"/>
              </a:xfrm>
              <a:prstGeom prst="roundRect">
                <a:avLst>
                  <a:gd name="adj" fmla="val 4103"/>
                </a:avLst>
              </a:prstGeom>
              <a:solidFill>
                <a:srgbClr val="F3F2ED"/>
              </a:solidFill>
              <a:ln w="14288">
                <a:solidFill>
                  <a:srgbClr val="E5E3DE"/>
                </a:solidFill>
              </a:ln>
            </p:spPr>
          </p:sp>
          <p:sp>
            <p:nvSpPr>
              <p:cNvPr id="37" name="TextBox 37"/>
              <p:cNvSpPr txBox="1"/>
              <p:nvPr/>
            </p:nvSpPr>
            <p:spPr>
              <a:xfrm>
                <a:off x="5107305" y="1816418"/>
                <a:ext cx="2113550" cy="274320"/>
              </a:xfrm>
              <a:prstGeom prst="rect">
                <a:avLst/>
              </a:prstGeom>
              <a:noFill/>
              <a:ln>
                <a:noFill/>
              </a:ln>
            </p:spPr>
            <p:txBody>
              <a:bodyPr wrap="none" lIns="0" tIns="0" rIns="0" bIns="0" anchor="t" anchorCtr="0">
                <a:spAutoFit/>
              </a:bodyPr>
              <a:lstStyle/>
              <a:p>
                <a:pPr algn="l"/>
                <a:r>
                  <a:rPr lang="zh-CN" sz="1350" b="1" dirty="0">
                    <a:solidFill>
                      <a:srgbClr val="153166"/>
                    </a:solidFill>
                    <a:latin typeface="Plus Jakarta Sans"/>
                    <a:ea typeface="Microsoft JhengHei"/>
                    <a:cs typeface="Plus Jakarta Sans"/>
                  </a:rPr>
                  <a:t>指標設計理由與說服邏輯</a:t>
                </a:r>
              </a:p>
            </p:txBody>
          </p:sp>
          <p:grpSp>
            <p:nvGrpSpPr>
              <p:cNvPr id="40" name="Group 40"/>
              <p:cNvGrpSpPr/>
              <p:nvPr/>
            </p:nvGrpSpPr>
            <p:grpSpPr>
              <a:xfrm>
                <a:off x="5112068" y="2237899"/>
                <a:ext cx="4447222" cy="591026"/>
                <a:chOff x="5112068" y="2237899"/>
                <a:chExt cx="4447222" cy="591026"/>
              </a:xfrm>
            </p:grpSpPr>
            <p:sp>
              <p:nvSpPr>
                <p:cNvPr id="38" name="TextBox 38"/>
                <p:cNvSpPr txBox="1"/>
                <p:nvPr/>
              </p:nvSpPr>
              <p:spPr>
                <a:xfrm>
                  <a:off x="5112068" y="2237899"/>
                  <a:ext cx="1929178" cy="198120"/>
                </a:xfrm>
                <a:prstGeom prst="rect">
                  <a:avLst/>
                </a:prstGeom>
                <a:noFill/>
                <a:ln>
                  <a:noFill/>
                </a:ln>
              </p:spPr>
              <p:txBody>
                <a:bodyPr wrap="none" lIns="0" tIns="0" rIns="0" bIns="0" anchor="t" anchorCtr="0">
                  <a:spAutoFit/>
                </a:bodyPr>
                <a:lstStyle/>
                <a:p>
                  <a:pPr algn="l"/>
                  <a:r>
                    <a:rPr lang="zh-CN" sz="975" b="1" dirty="0">
                      <a:solidFill>
                        <a:srgbClr val="153166"/>
                      </a:solidFill>
                      <a:latin typeface="Plus Jakarta Sans"/>
                      <a:ea typeface="Microsoft JhengHei"/>
                      <a:cs typeface="Plus Jakarta Sans"/>
                    </a:rPr>
                    <a:t>1. 產品北極星 (NSM) 設計理由</a:t>
                  </a:r>
                </a:p>
              </p:txBody>
            </p:sp>
            <p:sp>
              <p:nvSpPr>
                <p:cNvPr id="39" name="TextBox 39"/>
                <p:cNvSpPr txBox="1"/>
                <p:nvPr/>
              </p:nvSpPr>
              <p:spPr>
                <a:xfrm>
                  <a:off x="5227320" y="2455545"/>
                  <a:ext cx="4331970" cy="373380"/>
                </a:xfrm>
                <a:prstGeom prst="rect">
                  <a:avLst/>
                </a:prstGeom>
                <a:noFill/>
                <a:ln>
                  <a:noFill/>
                </a:ln>
              </p:spPr>
              <p:txBody>
                <a:bodyPr wrap="square" lIns="0" tIns="0" rIns="0" bIns="0" anchor="t" anchorCtr="0"/>
                <a:lstStyle/>
                <a:p>
                  <a:pPr algn="l">
                    <a:lnSpc>
                      <a:spcPts val="1500"/>
                    </a:lnSpc>
                  </a:pPr>
                  <a:r>
                    <a:rPr lang="zh-CN" sz="900" dirty="0">
                      <a:solidFill>
                        <a:srgbClr val="525864"/>
                      </a:solidFill>
                      <a:latin typeface="Manrope"/>
                      <a:ea typeface="Microsoft JhengHei"/>
                      <a:cs typeface="Manrope"/>
                    </a:rPr>
                    <a:t>· 協作核心：核心價值在於團隊瀏覽與對齊，若僅建立者自己看則無協作價值。</a:t>
                  </a:r>
                  <a:r>
                    <a:rPr lang="zh-CN" sz="900" dirty="0">
                      <a:solidFill>
                        <a:srgbClr val="525864"/>
                      </a:solidFill>
                      <a:latin typeface="Manrope"/>
                      <a:ea typeface="Microsoft JhengHei"/>
                      <a:cs typeface="Manrope"/>
                    </a:rPr>
                    <a:t>· 排除假日：使用「2 個工作天」而非固定小時，自動排除週末無人瀏覽的統計噪聲。</a:t>
                  </a:r>
                </a:p>
              </p:txBody>
            </p:sp>
          </p:grpSp>
          <p:grpSp>
            <p:nvGrpSpPr>
              <p:cNvPr id="43" name="Group 43"/>
              <p:cNvGrpSpPr/>
              <p:nvPr/>
            </p:nvGrpSpPr>
            <p:grpSpPr>
              <a:xfrm>
                <a:off x="5112068" y="3190399"/>
                <a:ext cx="4527232" cy="591026"/>
                <a:chOff x="5112068" y="3190399"/>
                <a:chExt cx="4527232" cy="591026"/>
              </a:xfrm>
            </p:grpSpPr>
            <p:sp>
              <p:nvSpPr>
                <p:cNvPr id="41" name="TextBox 41"/>
                <p:cNvSpPr txBox="1"/>
                <p:nvPr/>
              </p:nvSpPr>
              <p:spPr>
                <a:xfrm>
                  <a:off x="5112068" y="3190399"/>
                  <a:ext cx="1929178" cy="198120"/>
                </a:xfrm>
                <a:prstGeom prst="rect">
                  <a:avLst/>
                </a:prstGeom>
                <a:noFill/>
                <a:ln>
                  <a:noFill/>
                </a:ln>
              </p:spPr>
              <p:txBody>
                <a:bodyPr wrap="none" lIns="0" tIns="0" rIns="0" bIns="0" anchor="t" anchorCtr="0">
                  <a:spAutoFit/>
                </a:bodyPr>
                <a:lstStyle/>
                <a:p>
                  <a:pPr algn="l"/>
                  <a:r>
                    <a:rPr lang="zh-CN" sz="975" b="1" dirty="0">
                      <a:solidFill>
                        <a:srgbClr val="007583"/>
                      </a:solidFill>
                      <a:latin typeface="Plus Jakarta Sans"/>
                      <a:ea typeface="Microsoft JhengHei"/>
                      <a:cs typeface="Plus Jakarta Sans"/>
                    </a:rPr>
                    <a:t>2. 功能層成功 (FSM) 設計理由</a:t>
                  </a:r>
                </a:p>
              </p:txBody>
            </p:sp>
            <p:sp>
              <p:nvSpPr>
                <p:cNvPr id="42" name="TextBox 42"/>
                <p:cNvSpPr txBox="1"/>
                <p:nvPr/>
              </p:nvSpPr>
              <p:spPr>
                <a:xfrm>
                  <a:off x="5227320" y="3408045"/>
                  <a:ext cx="4411980" cy="373380"/>
                </a:xfrm>
                <a:prstGeom prst="rect">
                  <a:avLst/>
                </a:prstGeom>
                <a:noFill/>
                <a:ln>
                  <a:noFill/>
                </a:ln>
              </p:spPr>
              <p:txBody>
                <a:bodyPr wrap="square" lIns="0" tIns="0" rIns="0" bIns="0" anchor="t" anchorCtr="0"/>
                <a:lstStyle/>
                <a:p>
                  <a:pPr algn="l">
                    <a:lnSpc>
                      <a:spcPts val="1500"/>
                    </a:lnSpc>
                  </a:pPr>
                  <a:r>
                    <a:rPr lang="zh-CN" sz="900" dirty="0">
                      <a:solidFill>
                        <a:srgbClr val="525864"/>
                      </a:solidFill>
                      <a:latin typeface="Manrope"/>
                      <a:ea typeface="Microsoft JhengHei"/>
                      <a:cs typeface="Manrope"/>
                    </a:rPr>
                    <a:t>· 避免高摩擦：留言/勾選等動作門檻極高，改採團隊瀏覽作為低摩擦的對齊代理行為。</a:t>
                  </a:r>
                  <a:r>
                    <a:rPr lang="zh-CN" sz="900" dirty="0">
                      <a:solidFill>
                        <a:srgbClr val="525864"/>
                      </a:solidFill>
                      <a:latin typeface="Manrope"/>
                      <a:ea typeface="Microsoft JhengHei"/>
                      <a:cs typeface="Manrope"/>
                    </a:rPr>
                    <a:t>· 品質防守：若彙整品質差會導致編輯與對話上升，配合護欄指標共同把關品質。</a:t>
                  </a:r>
                </a:p>
              </p:txBody>
            </p:sp>
          </p:grpSp>
          <p:grpSp>
            <p:nvGrpSpPr>
              <p:cNvPr id="46" name="Group 46"/>
              <p:cNvGrpSpPr/>
              <p:nvPr/>
            </p:nvGrpSpPr>
            <p:grpSpPr>
              <a:xfrm>
                <a:off x="5112068" y="4142899"/>
                <a:ext cx="4567237" cy="591026"/>
                <a:chOff x="5112068" y="4142899"/>
                <a:chExt cx="4567237" cy="591026"/>
              </a:xfrm>
            </p:grpSpPr>
            <p:sp>
              <p:nvSpPr>
                <p:cNvPr id="44" name="TextBox 44"/>
                <p:cNvSpPr txBox="1"/>
                <p:nvPr/>
              </p:nvSpPr>
              <p:spPr>
                <a:xfrm>
                  <a:off x="5112068" y="4142899"/>
                  <a:ext cx="1717577" cy="198120"/>
                </a:xfrm>
                <a:prstGeom prst="rect">
                  <a:avLst/>
                </a:prstGeom>
                <a:noFill/>
                <a:ln>
                  <a:noFill/>
                </a:ln>
              </p:spPr>
              <p:txBody>
                <a:bodyPr wrap="none" lIns="0" tIns="0" rIns="0" bIns="0" anchor="t" anchorCtr="0">
                  <a:spAutoFit/>
                </a:bodyPr>
                <a:lstStyle/>
                <a:p>
                  <a:pPr algn="l"/>
                  <a:r>
                    <a:rPr lang="zh-CN" sz="975" b="1" dirty="0">
                      <a:solidFill>
                        <a:srgbClr val="B91C1C"/>
                      </a:solidFill>
                      <a:latin typeface="Plus Jakarta Sans"/>
                      <a:ea typeface="Microsoft JhengHei"/>
                      <a:cs typeface="Plus Jakarta Sans"/>
                    </a:rPr>
                    <a:t>3. 量能與護欄指標設計理由</a:t>
                  </a:r>
                </a:p>
              </p:txBody>
            </p:sp>
            <p:sp>
              <p:nvSpPr>
                <p:cNvPr id="45" name="TextBox 45"/>
                <p:cNvSpPr txBox="1"/>
                <p:nvPr/>
              </p:nvSpPr>
              <p:spPr>
                <a:xfrm>
                  <a:off x="5227320" y="4360545"/>
                  <a:ext cx="4451985" cy="373380"/>
                </a:xfrm>
                <a:prstGeom prst="rect">
                  <a:avLst/>
                </a:prstGeom>
                <a:noFill/>
                <a:ln>
                  <a:noFill/>
                </a:ln>
              </p:spPr>
              <p:txBody>
                <a:bodyPr wrap="square" lIns="0" tIns="0" rIns="0" bIns="0" anchor="t" anchorCtr="0"/>
                <a:lstStyle/>
                <a:p>
                  <a:pPr algn="l">
                    <a:lnSpc>
                      <a:spcPts val="1500"/>
                    </a:lnSpc>
                  </a:pPr>
                  <a:r>
                    <a:rPr lang="zh-CN" sz="900" dirty="0">
                      <a:solidFill>
                        <a:srgbClr val="525864"/>
                      </a:solidFill>
                      <a:latin typeface="Manrope"/>
                      <a:ea typeface="Microsoft JhengHei"/>
                      <a:cs typeface="Manrope"/>
                    </a:rPr>
                    <a:t>· 量能指標：衡量採用 AI 會議彙整匯出功能在最上游的 Reach 與初步採用規模。</a:t>
                  </a:r>
                  <a:r>
                    <a:rPr lang="zh-CN" sz="900" dirty="0">
                      <a:solidFill>
                        <a:srgbClr val="525864"/>
                      </a:solidFill>
                      <a:latin typeface="Manrope"/>
                      <a:ea typeface="Microsoft JhengHei"/>
                      <a:cs typeface="Manrope"/>
                    </a:rPr>
                    <a:t>· 護欄指標：以「編輯次數中位數 ≦ 5 次」作防禦，防範 PM 陷入反覆微調糾錯的泥淖。</a:t>
                  </a:r>
                </a:p>
              </p:txBody>
            </p:sp>
          </p:grpSp>
        </p:grpSp>
      </p:grpSp>
      <p:sp>
        <p:nvSpPr>
          <p:cNvPr id="49" name="TextBox 49"/>
          <p:cNvSpPr txBox="1"/>
          <p:nvPr/>
        </p:nvSpPr>
        <p:spPr>
          <a:xfrm>
            <a:off x="598170" y="6475095"/>
            <a:ext cx="2579179" cy="182880"/>
          </a:xfrm>
          <a:prstGeom prst="rect">
            <a:avLst/>
          </a:prstGeom>
          <a:noFill/>
          <a:ln>
            <a:noFill/>
          </a:ln>
        </p:spPr>
        <p:txBody>
          <a:bodyPr wrap="none" lIns="0" tIns="0" rIns="0" bIns="0" anchor="t" anchorCtr="0">
            <a:spAutoFit/>
          </a:bodyPr>
          <a:lstStyle/>
          <a:p>
            <a:pPr algn="l"/>
            <a:r>
              <a:rPr lang="zh-CN" sz="900" dirty="0">
                <a:solidFill>
                  <a:srgbClr val="525864"/>
                </a:solidFill>
                <a:latin typeface="Manrope"/>
                <a:ea typeface="Microsoft JhengHei"/>
                <a:cs typeface="Manrope"/>
              </a:rPr>
              <a:t>PM PROPOSAL &amp; METRICS EDUCATION · PAGE 09</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image">
                                      <p:cBhvr>
                                        <p:cTn id="7" dur="400"/>
                                        <p:tgtEl>
                                          <p:spTgt spid="2"/>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400"/>
                                        <p:tgtEl>
                                          <p:spTgt spid="3"/>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400"/>
                                        <p:tgtEl>
                                          <p:spTgt spid="4"/>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48"/>
                                        </p:tgtEl>
                                        <p:attrNameLst>
                                          <p:attrName>style.visibility</p:attrName>
                                        </p:attrNameLst>
                                      </p:cBhvr>
                                      <p:to>
                                        <p:strVal val="visible"/>
                                      </p:to>
                                    </p:set>
                                    <p:animEffect transition="in" filter="slide(fromBottom)">
                                      <p:cBhvr>
                                        <p:cTn id="19" dur="400"/>
                                        <p:tgtEl>
                                          <p:spTgt spid="48"/>
                                        </p:tgtEl>
                                      </p:cBhvr>
                                    </p:animEffect>
                                  </p:childTnLst>
                                </p:cTn>
                              </p:par>
                            </p:childTnLst>
                          </p:cTn>
                        </p:par>
                        <p:par>
                          <p:cTn id="20" fill="hold">
                            <p:stCondLst>
                              <p:cond delay="3600"/>
                            </p:stCondLst>
                            <p:childTnLst>
                              <p:par>
                                <p:cTn id="21" presetID="23" presetClass="entr" presetSubtype="0" fill="hold" nodeType="afterEffect">
                                  <p:stCondLst>
                                    <p:cond delay="0"/>
                                  </p:stCondLst>
                                  <p:childTnLst>
                                    <p:set>
                                      <p:cBhvr>
                                        <p:cTn id="22" dur="1" fill="hold">
                                          <p:stCondLst>
                                            <p:cond delay="0"/>
                                          </p:stCondLst>
                                        </p:cTn>
                                        <p:tgtEl>
                                          <p:spTgt spid="49"/>
                                        </p:tgtEl>
                                        <p:attrNameLst>
                                          <p:attrName>style.visibility</p:attrName>
                                        </p:attrNameLst>
                                      </p:cBhvr>
                                      <p:to>
                                        <p:strVal val="visible"/>
                                      </p:to>
                                    </p:set>
                                    <p:animEffect transition="in" filter="image">
                                      <p:cBhvr>
                                        <p:cTn id="23" dur="4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48" grpId="0"/>
      <p:bldP spid="4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DFCF9"/>
          </a:solidFill>
          <a:ln>
            <a:noFill/>
          </a:ln>
        </p:spPr>
      </p:sp>
      <p:sp>
        <p:nvSpPr>
          <p:cNvPr id="3" name="Rectangle 3"/>
          <p:cNvSpPr/>
          <p:nvPr/>
        </p:nvSpPr>
        <p:spPr>
          <a:xfrm>
            <a:off x="609600" y="571500"/>
            <a:ext cx="76200" cy="5715000"/>
          </a:xfrm>
          <a:prstGeom prst="roundRect">
            <a:avLst>
              <a:gd name="adj" fmla="val 50000"/>
            </a:avLst>
          </a:prstGeom>
          <a:solidFill>
            <a:srgbClr val="153166"/>
          </a:solidFill>
          <a:ln>
            <a:noFill/>
          </a:ln>
        </p:spPr>
      </p:sp>
      <p:sp>
        <p:nvSpPr>
          <p:cNvPr id="4" name="Rectangle 4"/>
          <p:cNvSpPr/>
          <p:nvPr/>
        </p:nvSpPr>
        <p:spPr>
          <a:xfrm>
            <a:off x="762000" y="571500"/>
            <a:ext cx="38100" cy="5715000"/>
          </a:xfrm>
          <a:prstGeom prst="roundRect">
            <a:avLst>
              <a:gd name="adj" fmla="val 50000"/>
            </a:avLst>
          </a:prstGeom>
          <a:solidFill>
            <a:srgbClr val="00969D">
              <a:alpha val="30000"/>
            </a:srgbClr>
          </a:solidFill>
          <a:ln>
            <a:noFill/>
          </a:ln>
        </p:spPr>
      </p:sp>
      <p:sp>
        <p:nvSpPr>
          <p:cNvPr id="5" name="Ellipse 5"/>
          <p:cNvSpPr/>
          <p:nvPr/>
        </p:nvSpPr>
        <p:spPr>
          <a:xfrm>
            <a:off x="10668000" y="381000"/>
            <a:ext cx="1524000" cy="1524000"/>
          </a:xfrm>
          <a:prstGeom prst="ellipse">
            <a:avLst/>
          </a:prstGeom>
          <a:solidFill>
            <a:srgbClr val="00969D">
              <a:alpha val="6000"/>
            </a:srgbClr>
          </a:solidFill>
          <a:ln>
            <a:noFill/>
          </a:ln>
        </p:spPr>
      </p:sp>
      <p:sp>
        <p:nvSpPr>
          <p:cNvPr id="6" name="Ellipse 6"/>
          <p:cNvSpPr/>
          <p:nvPr/>
        </p:nvSpPr>
        <p:spPr>
          <a:xfrm>
            <a:off x="9525000" y="4381500"/>
            <a:ext cx="2286000" cy="2286000"/>
          </a:xfrm>
          <a:prstGeom prst="ellipse">
            <a:avLst/>
          </a:prstGeom>
          <a:solidFill>
            <a:srgbClr val="153166">
              <a:alpha val="4000"/>
            </a:srgbClr>
          </a:solidFill>
          <a:ln>
            <a:noFill/>
          </a:ln>
        </p:spPr>
      </p:sp>
      <p:sp>
        <p:nvSpPr>
          <p:cNvPr id="7" name="TextBox 7"/>
          <p:cNvSpPr txBox="1"/>
          <p:nvPr/>
        </p:nvSpPr>
        <p:spPr>
          <a:xfrm>
            <a:off x="933450" y="2124075"/>
            <a:ext cx="4259628" cy="304800"/>
          </a:xfrm>
          <a:prstGeom prst="rect">
            <a:avLst/>
          </a:prstGeom>
          <a:noFill/>
          <a:ln>
            <a:noFill/>
          </a:ln>
        </p:spPr>
        <p:txBody>
          <a:bodyPr wrap="none" lIns="0" tIns="0" rIns="0" bIns="0" anchor="t" anchorCtr="0">
            <a:spAutoFit/>
          </a:bodyPr>
          <a:lstStyle/>
          <a:p>
            <a:pPr algn="l"/>
            <a:r>
              <a:rPr lang="zh-CN" sz="1500" b="1" dirty="0">
                <a:solidFill>
                  <a:srgbClr val="007583"/>
                </a:solidFill>
                <a:latin typeface="Plus Jakarta Sans"/>
                <a:ea typeface="Microsoft JhengHei"/>
                <a:cs typeface="Plus Jakarta Sans"/>
              </a:rPr>
              <a:t>APPENDIX 01: NOTION AI MEETING ASSISTANT</a:t>
            </a:r>
          </a:p>
        </p:txBody>
      </p:sp>
      <p:sp>
        <p:nvSpPr>
          <p:cNvPr id="8" name="TextBox 8"/>
          <p:cNvSpPr txBox="1"/>
          <p:nvPr/>
        </p:nvSpPr>
        <p:spPr>
          <a:xfrm>
            <a:off x="914400" y="2724150"/>
            <a:ext cx="6717030" cy="1181100"/>
          </a:xfrm>
          <a:prstGeom prst="rect">
            <a:avLst/>
          </a:prstGeom>
          <a:noFill/>
          <a:ln>
            <a:noFill/>
          </a:ln>
        </p:spPr>
        <p:txBody>
          <a:bodyPr wrap="square" lIns="0" tIns="0" rIns="0" bIns="0" anchor="t" anchorCtr="0"/>
          <a:lstStyle/>
          <a:p>
            <a:pPr algn="l">
              <a:lnSpc>
                <a:spcPts val="4500"/>
              </a:lnSpc>
            </a:pPr>
            <a:r>
              <a:rPr lang="zh-CN" sz="3000" b="1" dirty="0">
                <a:solidFill>
                  <a:srgbClr val="171C24"/>
                </a:solidFill>
                <a:latin typeface="Plus Jakarta Sans"/>
                <a:ea typeface="Microsoft JhengHei"/>
                <a:cs typeface="Plus Jakarta Sans"/>
              </a:rPr>
              <a:t>SaaS 平台 AI 會議記錄彙整功能提案</a:t>
            </a:r>
            <a:r>
              <a:rPr lang="zh-CN" sz="2100" b="1" dirty="0">
                <a:solidFill>
                  <a:srgbClr val="525864"/>
                </a:solidFill>
                <a:latin typeface="Plus Jakarta Sans"/>
                <a:ea typeface="Microsoft JhengHei"/>
                <a:cs typeface="Plus Jakarta Sans"/>
              </a:rPr>
              <a:t>1-to-N 既有優化與指標對齊示範簡報</a:t>
            </a:r>
          </a:p>
        </p:txBody>
      </p:sp>
      <p:sp>
        <p:nvSpPr>
          <p:cNvPr id="9" name="TextBox 9"/>
          <p:cNvSpPr txBox="1"/>
          <p:nvPr/>
        </p:nvSpPr>
        <p:spPr>
          <a:xfrm>
            <a:off x="935355" y="4521518"/>
            <a:ext cx="5939028" cy="274320"/>
          </a:xfrm>
          <a:prstGeom prst="rect">
            <a:avLst/>
          </a:prstGeom>
          <a:noFill/>
          <a:ln>
            <a:noFill/>
          </a:ln>
        </p:spPr>
        <p:txBody>
          <a:bodyPr wrap="none" lIns="0" tIns="0" rIns="0" bIns="0" anchor="t" anchorCtr="0">
            <a:spAutoFit/>
          </a:bodyPr>
          <a:lstStyle/>
          <a:p>
            <a:pPr algn="l"/>
            <a:r>
              <a:rPr lang="zh-CN" sz="1350" dirty="0">
                <a:solidFill>
                  <a:srgbClr val="525864"/>
                </a:solidFill>
                <a:latin typeface="Manrope"/>
                <a:ea typeface="Microsoft JhengHei"/>
                <a:cs typeface="Manrope"/>
              </a:rPr>
              <a:t>以 Notion AI 會議摘要為例，展示如何串接現狀、漏斗瓶頸與使用者故事。</a:t>
            </a:r>
          </a:p>
        </p:txBody>
      </p:sp>
      <p:sp>
        <p:nvSpPr>
          <p:cNvPr id="10" name="TextBox 10"/>
          <p:cNvSpPr txBox="1"/>
          <p:nvPr/>
        </p:nvSpPr>
        <p:spPr>
          <a:xfrm>
            <a:off x="598170" y="6475095"/>
            <a:ext cx="2579179" cy="182880"/>
          </a:xfrm>
          <a:prstGeom prst="rect">
            <a:avLst/>
          </a:prstGeom>
          <a:noFill/>
          <a:ln>
            <a:noFill/>
          </a:ln>
        </p:spPr>
        <p:txBody>
          <a:bodyPr wrap="none" lIns="0" tIns="0" rIns="0" bIns="0" anchor="t" anchorCtr="0">
            <a:spAutoFit/>
          </a:bodyPr>
          <a:lstStyle/>
          <a:p>
            <a:pPr algn="l"/>
            <a:r>
              <a:rPr lang="zh-CN" sz="900" dirty="0">
                <a:solidFill>
                  <a:srgbClr val="525864"/>
                </a:solidFill>
                <a:latin typeface="Manrope"/>
                <a:ea typeface="Microsoft JhengHei"/>
                <a:cs typeface="Manrope"/>
              </a:rPr>
              <a:t>PM PROPOSAL &amp; METRICS EDUCATION · PAGE 10</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DFCF9"/>
          </a:solidFill>
          <a:ln>
            <a:noFill/>
          </a:ln>
        </p:spPr>
      </p:sp>
      <p:sp>
        <p:nvSpPr>
          <p:cNvPr id="3" name="TextBox 3"/>
          <p:cNvSpPr txBox="1"/>
          <p:nvPr/>
        </p:nvSpPr>
        <p:spPr>
          <a:xfrm>
            <a:off x="596265" y="648652"/>
            <a:ext cx="2981739" cy="213360"/>
          </a:xfrm>
          <a:prstGeom prst="rect">
            <a:avLst/>
          </a:prstGeom>
          <a:noFill/>
          <a:ln>
            <a:noFill/>
          </a:ln>
        </p:spPr>
        <p:txBody>
          <a:bodyPr wrap="none" lIns="0" tIns="0" rIns="0" bIns="0" anchor="t" anchorCtr="0">
            <a:spAutoFit/>
          </a:bodyPr>
          <a:lstStyle/>
          <a:p>
            <a:pPr algn="l"/>
            <a:r>
              <a:rPr lang="zh-CN" sz="1050" b="1" dirty="0">
                <a:solidFill>
                  <a:srgbClr val="007583"/>
                </a:solidFill>
                <a:latin typeface="Plus Jakarta Sans"/>
                <a:ea typeface="Microsoft JhengHei"/>
                <a:cs typeface="Plus Jakarta Sans"/>
              </a:rPr>
              <a:t>APPENDIX 01: NOTION AI MEETING ASSISTANT</a:t>
            </a:r>
          </a:p>
        </p:txBody>
      </p:sp>
      <p:sp>
        <p:nvSpPr>
          <p:cNvPr id="4" name="TextBox 4"/>
          <p:cNvSpPr txBox="1"/>
          <p:nvPr/>
        </p:nvSpPr>
        <p:spPr>
          <a:xfrm>
            <a:off x="582930" y="916305"/>
            <a:ext cx="5934075" cy="426720"/>
          </a:xfrm>
          <a:prstGeom prst="rect">
            <a:avLst/>
          </a:prstGeom>
          <a:noFill/>
          <a:ln>
            <a:noFill/>
          </a:ln>
        </p:spPr>
        <p:txBody>
          <a:bodyPr wrap="none" lIns="0" tIns="0" rIns="0" bIns="0" anchor="t" anchorCtr="0">
            <a:spAutoFit/>
          </a:bodyPr>
          <a:lstStyle/>
          <a:p>
            <a:pPr algn="l"/>
            <a:r>
              <a:rPr lang="zh-CN" sz="2100" b="1" dirty="0">
                <a:solidFill>
                  <a:srgbClr val="171C24"/>
                </a:solidFill>
                <a:latin typeface="Plus Jakarta Sans"/>
                <a:ea typeface="Microsoft JhengHei"/>
                <a:cs typeface="Plus Jakarta Sans"/>
              </a:rPr>
              <a:t>我們目前以每週活躍協作文件數衡量平台價值</a:t>
            </a:r>
          </a:p>
        </p:txBody>
      </p:sp>
      <p:grpSp>
        <p:nvGrpSpPr>
          <p:cNvPr id="28" name="Group 28"/>
          <p:cNvGrpSpPr/>
          <p:nvPr/>
        </p:nvGrpSpPr>
        <p:grpSpPr>
          <a:xfrm>
            <a:off x="609600" y="1714500"/>
            <a:ext cx="10972800" cy="4000500"/>
            <a:chOff x="609600" y="1714500"/>
            <a:chExt cx="10972800" cy="4000500"/>
          </a:xfrm>
        </p:grpSpPr>
        <p:grpSp>
          <p:nvGrpSpPr>
            <p:cNvPr id="12" name="Group 12"/>
            <p:cNvGrpSpPr/>
            <p:nvPr/>
          </p:nvGrpSpPr>
          <p:grpSpPr>
            <a:xfrm>
              <a:off x="609600" y="1714500"/>
              <a:ext cx="4572000" cy="4000500"/>
              <a:chOff x="609600" y="1714500"/>
              <a:chExt cx="4572000" cy="4000500"/>
            </a:xfrm>
          </p:grpSpPr>
          <p:sp>
            <p:nvSpPr>
              <p:cNvPr id="5" name="Rectangle 5"/>
              <p:cNvSpPr/>
              <p:nvPr/>
            </p:nvSpPr>
            <p:spPr>
              <a:xfrm>
                <a:off x="609600" y="1714500"/>
                <a:ext cx="4572000" cy="4000500"/>
              </a:xfrm>
              <a:prstGeom prst="roundRect">
                <a:avLst>
                  <a:gd name="adj" fmla="val 3810"/>
                </a:avLst>
              </a:prstGeom>
              <a:solidFill>
                <a:srgbClr val="FFFFFF"/>
              </a:solidFill>
              <a:ln w="14288">
                <a:solidFill>
                  <a:srgbClr val="E5E3DE"/>
                </a:solidFill>
              </a:ln>
            </p:spPr>
          </p:sp>
          <p:sp>
            <p:nvSpPr>
              <p:cNvPr id="6" name="Freeform 6"/>
              <p:cNvSpPr/>
              <p:nvPr/>
            </p:nvSpPr>
            <p:spPr>
              <a:xfrm>
                <a:off x="609600" y="1714500"/>
                <a:ext cx="4572000" cy="228600"/>
              </a:xfrm>
              <a:custGeom>
                <a:avLst/>
                <a:gdLst/>
                <a:ahLst/>
                <a:cxnLst/>
                <a:rect l="l" t="t" r="r" b="b"/>
                <a:pathLst>
                  <a:path w="4572000" h="228600">
                    <a:moveTo>
                      <a:pt x="0" y="152400"/>
                    </a:moveTo>
                    <a:cubicBezTo>
                      <a:pt x="0" y="68232"/>
                      <a:pt x="68232" y="0"/>
                      <a:pt x="152400" y="0"/>
                    </a:cubicBezTo>
                    <a:lnTo>
                      <a:pt x="4419600" y="0"/>
                    </a:lnTo>
                    <a:cubicBezTo>
                      <a:pt x="4503768" y="0"/>
                      <a:pt x="4572000" y="68232"/>
                      <a:pt x="4572000" y="152400"/>
                    </a:cubicBezTo>
                    <a:lnTo>
                      <a:pt x="4572000" y="228600"/>
                    </a:lnTo>
                    <a:lnTo>
                      <a:pt x="0" y="228600"/>
                    </a:lnTo>
                    <a:close/>
                  </a:path>
                </a:pathLst>
              </a:custGeom>
              <a:solidFill>
                <a:srgbClr val="153166"/>
              </a:solidFill>
              <a:ln>
                <a:noFill/>
              </a:ln>
            </p:spPr>
          </p:sp>
          <p:sp>
            <p:nvSpPr>
              <p:cNvPr id="7" name="TextBox 7"/>
              <p:cNvSpPr txBox="1"/>
              <p:nvPr/>
            </p:nvSpPr>
            <p:spPr>
              <a:xfrm>
                <a:off x="1649801" y="2902268"/>
                <a:ext cx="2491597" cy="274320"/>
              </a:xfrm>
              <a:prstGeom prst="rect">
                <a:avLst/>
              </a:prstGeom>
              <a:noFill/>
              <a:ln>
                <a:noFill/>
              </a:ln>
            </p:spPr>
            <p:txBody>
              <a:bodyPr wrap="none" lIns="0" tIns="0" rIns="0" bIns="0" anchor="t" anchorCtr="0">
                <a:spAutoFit/>
              </a:bodyPr>
              <a:lstStyle/>
              <a:p>
                <a:pPr algn="ctr"/>
                <a:r>
                  <a:rPr lang="zh-CN" sz="1350" b="1" dirty="0">
                    <a:solidFill>
                      <a:srgbClr val="525864"/>
                    </a:solidFill>
                    <a:latin typeface="Manrope"/>
                    <a:ea typeface="Microsoft JhengHei"/>
                    <a:cs typeface="Manrope"/>
                  </a:rPr>
                  <a:t>目前大盤每週活躍協作文件數</a:t>
                </a:r>
              </a:p>
            </p:txBody>
          </p:sp>
          <p:sp>
            <p:nvSpPr>
              <p:cNvPr id="8" name="TextBox 8"/>
              <p:cNvSpPr txBox="1"/>
              <p:nvPr/>
            </p:nvSpPr>
            <p:spPr>
              <a:xfrm>
                <a:off x="1579464" y="3417570"/>
                <a:ext cx="2632272" cy="1097280"/>
              </a:xfrm>
              <a:prstGeom prst="rect">
                <a:avLst/>
              </a:prstGeom>
              <a:noFill/>
              <a:ln>
                <a:noFill/>
              </a:ln>
            </p:spPr>
            <p:txBody>
              <a:bodyPr wrap="none" lIns="0" tIns="0" rIns="0" bIns="0" anchor="t" anchorCtr="0">
                <a:spAutoFit/>
              </a:bodyPr>
              <a:lstStyle/>
              <a:p>
                <a:pPr algn="ctr"/>
                <a:r>
                  <a:rPr lang="zh-CN" sz="5400" b="1" dirty="0">
                    <a:solidFill>
                      <a:srgbClr val="153166"/>
                    </a:solidFill>
                    <a:latin typeface="Plus Jakarta Sans"/>
                    <a:ea typeface="Microsoft JhengHei"/>
                    <a:cs typeface="Plus Jakarta Sans"/>
                  </a:rPr>
                  <a:t>42,000</a:t>
                </a:r>
              </a:p>
            </p:txBody>
          </p:sp>
          <p:sp>
            <p:nvSpPr>
              <p:cNvPr id="9" name="TextBox 9"/>
              <p:cNvSpPr txBox="1"/>
              <p:nvPr/>
            </p:nvSpPr>
            <p:spPr>
              <a:xfrm>
                <a:off x="2108184" y="4331018"/>
                <a:ext cx="1574833" cy="274320"/>
              </a:xfrm>
              <a:prstGeom prst="rect">
                <a:avLst/>
              </a:prstGeom>
              <a:noFill/>
              <a:ln>
                <a:noFill/>
              </a:ln>
            </p:spPr>
            <p:txBody>
              <a:bodyPr wrap="none" lIns="0" tIns="0" rIns="0" bIns="0" anchor="t" anchorCtr="0">
                <a:spAutoFit/>
              </a:bodyPr>
              <a:lstStyle/>
              <a:p>
                <a:pPr algn="ctr"/>
                <a:r>
                  <a:rPr lang="zh-CN" sz="1350" b="1" dirty="0">
                    <a:solidFill>
                      <a:srgbClr val="00969D"/>
                    </a:solidFill>
                    <a:latin typeface="Manrope"/>
                    <a:ea typeface="Microsoft JhengHei"/>
                    <a:cs typeface="Manrope"/>
                  </a:rPr>
                  <a:t>份活躍文件 / 每週</a:t>
                </a:r>
              </a:p>
            </p:txBody>
          </p:sp>
          <p:sp>
            <p:nvSpPr>
              <p:cNvPr id="10" name="Rectangle 10"/>
              <p:cNvSpPr/>
              <p:nvPr/>
            </p:nvSpPr>
            <p:spPr>
              <a:xfrm>
                <a:off x="1943100" y="4953000"/>
                <a:ext cx="1905000" cy="342900"/>
              </a:xfrm>
              <a:prstGeom prst="roundRect">
                <a:avLst>
                  <a:gd name="adj" fmla="val 50000"/>
                </a:avLst>
              </a:prstGeom>
              <a:solidFill>
                <a:srgbClr val="F3F2ED"/>
              </a:solidFill>
              <a:ln>
                <a:noFill/>
              </a:ln>
            </p:spPr>
          </p:sp>
          <p:sp>
            <p:nvSpPr>
              <p:cNvPr id="11" name="TextBox 11"/>
              <p:cNvSpPr txBox="1"/>
              <p:nvPr/>
            </p:nvSpPr>
            <p:spPr>
              <a:xfrm>
                <a:off x="2147173" y="5058728"/>
                <a:ext cx="1496854" cy="213360"/>
              </a:xfrm>
              <a:prstGeom prst="rect">
                <a:avLst/>
              </a:prstGeom>
              <a:noFill/>
              <a:ln>
                <a:noFill/>
              </a:ln>
            </p:spPr>
            <p:txBody>
              <a:bodyPr wrap="none" lIns="0" tIns="0" rIns="0" bIns="0" anchor="t" anchorCtr="0">
                <a:spAutoFit/>
              </a:bodyPr>
              <a:lstStyle/>
              <a:p>
                <a:pPr algn="ctr"/>
                <a:r>
                  <a:rPr lang="zh-CN" sz="1050" b="1" dirty="0">
                    <a:solidFill>
                      <a:srgbClr val="171C24"/>
                    </a:solidFill>
                    <a:latin typeface="Manrope"/>
                    <a:ea typeface="Microsoft JhengHei"/>
                    <a:cs typeface="Manrope"/>
                  </a:rPr>
                  <a:t>核心平台價值衡量指標</a:t>
                </a:r>
              </a:p>
            </p:txBody>
          </p:sp>
        </p:grpSp>
        <p:grpSp>
          <p:nvGrpSpPr>
            <p:cNvPr id="27" name="Group 27"/>
            <p:cNvGrpSpPr/>
            <p:nvPr/>
          </p:nvGrpSpPr>
          <p:grpSpPr>
            <a:xfrm>
              <a:off x="5732145" y="1917382"/>
              <a:ext cx="5850255" cy="3130868"/>
              <a:chOff x="5732145" y="1917382"/>
              <a:chExt cx="5850255" cy="3130868"/>
            </a:xfrm>
          </p:grpSpPr>
          <p:sp>
            <p:nvSpPr>
              <p:cNvPr id="13" name="TextBox 13"/>
              <p:cNvSpPr txBox="1"/>
              <p:nvPr/>
            </p:nvSpPr>
            <p:spPr>
              <a:xfrm>
                <a:off x="5732145" y="1917382"/>
                <a:ext cx="1428083" cy="335280"/>
              </a:xfrm>
              <a:prstGeom prst="rect">
                <a:avLst/>
              </a:prstGeom>
              <a:noFill/>
              <a:ln>
                <a:noFill/>
              </a:ln>
            </p:spPr>
            <p:txBody>
              <a:bodyPr wrap="none" lIns="0" tIns="0" rIns="0" bIns="0" anchor="t" anchorCtr="0">
                <a:spAutoFit/>
              </a:bodyPr>
              <a:lstStyle/>
              <a:p>
                <a:pPr algn="l"/>
                <a:r>
                  <a:rPr lang="zh-CN" sz="1650" b="1" dirty="0">
                    <a:solidFill>
                      <a:srgbClr val="153166"/>
                    </a:solidFill>
                    <a:latin typeface="Plus Jakarta Sans"/>
                    <a:ea typeface="Microsoft JhengHei"/>
                    <a:cs typeface="Plus Jakarta Sans"/>
                  </a:rPr>
                  <a:t>主管視角說明</a:t>
                </a:r>
              </a:p>
            </p:txBody>
          </p:sp>
          <p:sp>
            <p:nvSpPr>
              <p:cNvPr id="14" name="Line 14"/>
              <p:cNvSpPr/>
              <p:nvPr/>
            </p:nvSpPr>
            <p:spPr>
              <a:xfrm>
                <a:off x="5753100" y="2286000"/>
                <a:ext cx="5829300" cy="9525"/>
              </a:xfrm>
              <a:custGeom>
                <a:avLst/>
                <a:gdLst/>
                <a:ahLst/>
                <a:cxnLst/>
                <a:rect l="l" t="t" r="r" b="b"/>
                <a:pathLst>
                  <a:path w="5829300" h="9525">
                    <a:moveTo>
                      <a:pt x="0" y="0"/>
                    </a:moveTo>
                    <a:lnTo>
                      <a:pt x="5829300" y="0"/>
                    </a:lnTo>
                  </a:path>
                </a:pathLst>
              </a:custGeom>
              <a:noFill/>
              <a:ln w="14288">
                <a:solidFill>
                  <a:srgbClr val="E5E3DE"/>
                </a:solidFill>
              </a:ln>
            </p:spPr>
          </p:sp>
          <p:grpSp>
            <p:nvGrpSpPr>
              <p:cNvPr id="18" name="Group 18"/>
              <p:cNvGrpSpPr/>
              <p:nvPr/>
            </p:nvGrpSpPr>
            <p:grpSpPr>
              <a:xfrm>
                <a:off x="5810250" y="2597468"/>
                <a:ext cx="3879342" cy="545782"/>
                <a:chOff x="5810250" y="2597468"/>
                <a:chExt cx="3879342" cy="545782"/>
              </a:xfrm>
            </p:grpSpPr>
            <p:sp>
              <p:nvSpPr>
                <p:cNvPr id="15" name="Ellipse 15"/>
                <p:cNvSpPr/>
                <p:nvPr/>
              </p:nvSpPr>
              <p:spPr>
                <a:xfrm>
                  <a:off x="5810250" y="2628900"/>
                  <a:ext cx="114300" cy="114300"/>
                </a:xfrm>
                <a:prstGeom prst="ellipse">
                  <a:avLst/>
                </a:prstGeom>
                <a:solidFill>
                  <a:srgbClr val="00969D"/>
                </a:solidFill>
                <a:ln>
                  <a:noFill/>
                </a:ln>
              </p:spPr>
            </p:sp>
            <p:sp>
              <p:nvSpPr>
                <p:cNvPr id="16" name="TextBox 16"/>
                <p:cNvSpPr txBox="1"/>
                <p:nvPr/>
              </p:nvSpPr>
              <p:spPr>
                <a:xfrm>
                  <a:off x="6040755" y="2597468"/>
                  <a:ext cx="2746779" cy="274320"/>
                </a:xfrm>
                <a:prstGeom prst="rect">
                  <a:avLst/>
                </a:prstGeom>
                <a:noFill/>
                <a:ln>
                  <a:noFill/>
                </a:ln>
              </p:spPr>
              <p:txBody>
                <a:bodyPr wrap="none" lIns="0" tIns="0" rIns="0" bIns="0" anchor="t" anchorCtr="0">
                  <a:spAutoFit/>
                </a:bodyPr>
                <a:lstStyle/>
                <a:p>
                  <a:pPr algn="l"/>
                  <a:r>
                    <a:rPr lang="zh-CN" sz="1350" b="1" dirty="0">
                      <a:solidFill>
                        <a:srgbClr val="171C24"/>
                      </a:solidFill>
                      <a:latin typeface="Manrope"/>
                      <a:ea typeface="Microsoft JhengHei"/>
                      <a:cs typeface="Manrope"/>
                    </a:rPr>
                    <a:t>Notion 作為協作工具的核心價值</a:t>
                  </a:r>
                </a:p>
              </p:txBody>
            </p:sp>
            <p:sp>
              <p:nvSpPr>
                <p:cNvPr id="17" name="TextBox 17"/>
                <p:cNvSpPr txBox="1"/>
                <p:nvPr/>
              </p:nvSpPr>
              <p:spPr>
                <a:xfrm>
                  <a:off x="6042660" y="2899410"/>
                  <a:ext cx="3646932" cy="243840"/>
                </a:xfrm>
                <a:prstGeom prst="rect">
                  <a:avLst/>
                </a:prstGeom>
                <a:noFill/>
                <a:ln>
                  <a:noFill/>
                </a:ln>
              </p:spPr>
              <p:txBody>
                <a:bodyPr wrap="none" lIns="0" tIns="0" rIns="0" bIns="0" anchor="t" anchorCtr="0">
                  <a:spAutoFit/>
                </a:bodyPr>
                <a:lstStyle/>
                <a:p>
                  <a:pPr algn="l"/>
                  <a:r>
                    <a:rPr lang="zh-CN" sz="1200" dirty="0">
                      <a:solidFill>
                        <a:srgbClr val="525864"/>
                      </a:solidFill>
                      <a:latin typeface="Manrope"/>
                      <a:ea typeface="Microsoft JhengHei"/>
                      <a:cs typeface="Manrope"/>
                    </a:rPr>
                    <a:t>我們的核心價值在於文件被多人</a:t>
                  </a:r>
                  <a:r>
                    <a:rPr lang="zh-CN" sz="1200" dirty="0">
                      <a:solidFill>
                        <a:srgbClr val="525864"/>
                      </a:solidFill>
                      <a:latin typeface="Manrope"/>
                      <a:ea typeface="Microsoft JhengHei"/>
                      <a:cs typeface="Manrope"/>
                    </a:rPr>
                    <a:t xml:space="preserve"> </a:t>
                  </a:r>
                  <a:r>
                    <a:rPr lang="zh-CN" sz="1200" b="1" dirty="0">
                      <a:solidFill>
                        <a:srgbClr val="B91C1C"/>
                      </a:solidFill>
                      <a:latin typeface="Manrope"/>
                      <a:ea typeface="Microsoft JhengHei"/>
                      <a:cs typeface="Manrope"/>
                    </a:rPr>
                    <a:t>共同編輯與瀏覽</a:t>
                  </a:r>
                  <a:r>
                    <a:rPr lang="zh-CN" sz="1200" dirty="0">
                      <a:solidFill>
                        <a:srgbClr val="525864"/>
                      </a:solidFill>
                      <a:latin typeface="Manrope"/>
                      <a:ea typeface="Microsoft JhengHei"/>
                      <a:cs typeface="Manrope"/>
                    </a:rPr>
                    <a:t xml:space="preserve"> </a:t>
                  </a:r>
                  <a:r>
                    <a:rPr lang="zh-CN" sz="1200" dirty="0">
                      <a:solidFill>
                        <a:srgbClr val="525864"/>
                      </a:solidFill>
                      <a:latin typeface="Manrope"/>
                      <a:ea typeface="Microsoft JhengHei"/>
                      <a:cs typeface="Manrope"/>
                    </a:rPr>
                    <a:t>。</a:t>
                  </a:r>
                </a:p>
              </p:txBody>
            </p:sp>
          </p:grpSp>
          <p:grpSp>
            <p:nvGrpSpPr>
              <p:cNvPr id="22" name="Group 22"/>
              <p:cNvGrpSpPr/>
              <p:nvPr/>
            </p:nvGrpSpPr>
            <p:grpSpPr>
              <a:xfrm>
                <a:off x="5810250" y="3549968"/>
                <a:ext cx="4583430" cy="545782"/>
                <a:chOff x="5810250" y="3549968"/>
                <a:chExt cx="4583430" cy="545782"/>
              </a:xfrm>
            </p:grpSpPr>
            <p:sp>
              <p:nvSpPr>
                <p:cNvPr id="19" name="Ellipse 19"/>
                <p:cNvSpPr/>
                <p:nvPr/>
              </p:nvSpPr>
              <p:spPr>
                <a:xfrm>
                  <a:off x="5810250" y="3581400"/>
                  <a:ext cx="114300" cy="114300"/>
                </a:xfrm>
                <a:prstGeom prst="ellipse">
                  <a:avLst/>
                </a:prstGeom>
                <a:solidFill>
                  <a:srgbClr val="B91C1C"/>
                </a:solidFill>
                <a:ln>
                  <a:noFill/>
                </a:ln>
              </p:spPr>
            </p:sp>
            <p:sp>
              <p:nvSpPr>
                <p:cNvPr id="20" name="TextBox 20"/>
                <p:cNvSpPr txBox="1"/>
                <p:nvPr/>
              </p:nvSpPr>
              <p:spPr>
                <a:xfrm>
                  <a:off x="6040755" y="3549968"/>
                  <a:ext cx="2302574" cy="274320"/>
                </a:xfrm>
                <a:prstGeom prst="rect">
                  <a:avLst/>
                </a:prstGeom>
                <a:noFill/>
                <a:ln>
                  <a:noFill/>
                </a:ln>
              </p:spPr>
              <p:txBody>
                <a:bodyPr wrap="none" lIns="0" tIns="0" rIns="0" bIns="0" anchor="t" anchorCtr="0">
                  <a:spAutoFit/>
                </a:bodyPr>
                <a:lstStyle/>
                <a:p>
                  <a:pPr algn="l"/>
                  <a:r>
                    <a:rPr lang="zh-CN" sz="1350" b="1" dirty="0">
                      <a:solidFill>
                        <a:srgbClr val="171C24"/>
                      </a:solidFill>
                      <a:latin typeface="Manrope"/>
                      <a:ea typeface="Microsoft JhengHei"/>
                      <a:cs typeface="Manrope"/>
                    </a:rPr>
                    <a:t>單人編輯與無人觀看的痛點</a:t>
                  </a:r>
                </a:p>
              </p:txBody>
            </p:sp>
            <p:sp>
              <p:nvSpPr>
                <p:cNvPr id="21" name="TextBox 21"/>
                <p:cNvSpPr txBox="1"/>
                <p:nvPr/>
              </p:nvSpPr>
              <p:spPr>
                <a:xfrm>
                  <a:off x="6042660" y="3851910"/>
                  <a:ext cx="4351020" cy="243840"/>
                </a:xfrm>
                <a:prstGeom prst="rect">
                  <a:avLst/>
                </a:prstGeom>
                <a:noFill/>
                <a:ln>
                  <a:noFill/>
                </a:ln>
              </p:spPr>
              <p:txBody>
                <a:bodyPr wrap="none" lIns="0" tIns="0" rIns="0" bIns="0" anchor="t" anchorCtr="0">
                  <a:spAutoFit/>
                </a:bodyPr>
                <a:lstStyle/>
                <a:p>
                  <a:pPr algn="l"/>
                  <a:r>
                    <a:rPr lang="zh-CN" sz="1200" dirty="0">
                      <a:solidFill>
                        <a:srgbClr val="525864"/>
                      </a:solidFill>
                      <a:latin typeface="Manrope"/>
                      <a:ea typeface="Microsoft JhengHei"/>
                      <a:cs typeface="Manrope"/>
                    </a:rPr>
                    <a:t>如果文件只有單人編輯且無人觀看，代表協作價值尚未兌現。</a:t>
                  </a:r>
                </a:p>
              </p:txBody>
            </p:sp>
          </p:grpSp>
          <p:grpSp>
            <p:nvGrpSpPr>
              <p:cNvPr id="26" name="Group 26"/>
              <p:cNvGrpSpPr/>
              <p:nvPr/>
            </p:nvGrpSpPr>
            <p:grpSpPr>
              <a:xfrm>
                <a:off x="5810250" y="4502468"/>
                <a:ext cx="4103370" cy="545782"/>
                <a:chOff x="5810250" y="4502468"/>
                <a:chExt cx="4103370" cy="545782"/>
              </a:xfrm>
            </p:grpSpPr>
            <p:sp>
              <p:nvSpPr>
                <p:cNvPr id="23" name="Ellipse 23"/>
                <p:cNvSpPr/>
                <p:nvPr/>
              </p:nvSpPr>
              <p:spPr>
                <a:xfrm>
                  <a:off x="5810250" y="4533900"/>
                  <a:ext cx="114300" cy="114300"/>
                </a:xfrm>
                <a:prstGeom prst="ellipse">
                  <a:avLst/>
                </a:prstGeom>
                <a:solidFill>
                  <a:srgbClr val="153166"/>
                </a:solidFill>
                <a:ln>
                  <a:noFill/>
                </a:ln>
              </p:spPr>
            </p:sp>
            <p:sp>
              <p:nvSpPr>
                <p:cNvPr id="24" name="TextBox 24"/>
                <p:cNvSpPr txBox="1"/>
                <p:nvPr/>
              </p:nvSpPr>
              <p:spPr>
                <a:xfrm>
                  <a:off x="6040755" y="4502468"/>
                  <a:ext cx="1735503" cy="274320"/>
                </a:xfrm>
                <a:prstGeom prst="rect">
                  <a:avLst/>
                </a:prstGeom>
                <a:noFill/>
                <a:ln>
                  <a:noFill/>
                </a:ln>
              </p:spPr>
              <p:txBody>
                <a:bodyPr wrap="none" lIns="0" tIns="0" rIns="0" bIns="0" anchor="t" anchorCtr="0">
                  <a:spAutoFit/>
                </a:bodyPr>
                <a:lstStyle/>
                <a:p>
                  <a:pPr algn="l"/>
                  <a:r>
                    <a:rPr lang="zh-CN" sz="1350" b="1" dirty="0">
                      <a:solidFill>
                        <a:srgbClr val="171C24"/>
                      </a:solidFill>
                      <a:latin typeface="Manrope"/>
                      <a:ea typeface="Microsoft JhengHei"/>
                      <a:cs typeface="Manrope"/>
                    </a:rPr>
                    <a:t>資源投入的合理起點</a:t>
                  </a:r>
                </a:p>
              </p:txBody>
            </p:sp>
            <p:sp>
              <p:nvSpPr>
                <p:cNvPr id="25" name="TextBox 25"/>
                <p:cNvSpPr txBox="1"/>
                <p:nvPr/>
              </p:nvSpPr>
              <p:spPr>
                <a:xfrm>
                  <a:off x="6042660" y="4804410"/>
                  <a:ext cx="3870960" cy="243840"/>
                </a:xfrm>
                <a:prstGeom prst="rect">
                  <a:avLst/>
                </a:prstGeom>
                <a:noFill/>
                <a:ln>
                  <a:noFill/>
                </a:ln>
              </p:spPr>
              <p:txBody>
                <a:bodyPr wrap="none" lIns="0" tIns="0" rIns="0" bIns="0" anchor="t" anchorCtr="0">
                  <a:spAutoFit/>
                </a:bodyPr>
                <a:lstStyle/>
                <a:p>
                  <a:pPr algn="l"/>
                  <a:r>
                    <a:rPr lang="zh-CN" sz="1200" dirty="0">
                      <a:solidFill>
                        <a:srgbClr val="525864"/>
                      </a:solidFill>
                      <a:latin typeface="Manrope"/>
                      <a:ea typeface="Microsoft JhengHei"/>
                      <a:cs typeface="Manrope"/>
                    </a:rPr>
                    <a:t>優化既有功能必須以提升大盤協作活躍度為終極目標。</a:t>
                  </a:r>
                </a:p>
              </p:txBody>
            </p:sp>
          </p:grpSp>
        </p:grpSp>
      </p:grpSp>
      <p:sp>
        <p:nvSpPr>
          <p:cNvPr id="29" name="TextBox 29"/>
          <p:cNvSpPr txBox="1"/>
          <p:nvPr/>
        </p:nvSpPr>
        <p:spPr>
          <a:xfrm>
            <a:off x="598170" y="6475095"/>
            <a:ext cx="2579179" cy="182880"/>
          </a:xfrm>
          <a:prstGeom prst="rect">
            <a:avLst/>
          </a:prstGeom>
          <a:noFill/>
          <a:ln>
            <a:noFill/>
          </a:ln>
        </p:spPr>
        <p:txBody>
          <a:bodyPr wrap="none" lIns="0" tIns="0" rIns="0" bIns="0" anchor="t" anchorCtr="0">
            <a:spAutoFit/>
          </a:bodyPr>
          <a:lstStyle/>
          <a:p>
            <a:pPr algn="l"/>
            <a:r>
              <a:rPr lang="zh-CN" sz="900" dirty="0">
                <a:solidFill>
                  <a:srgbClr val="525864"/>
                </a:solidFill>
                <a:latin typeface="Manrope"/>
                <a:ea typeface="Microsoft JhengHei"/>
                <a:cs typeface="Manrope"/>
              </a:rPr>
              <a:t>PM PROPOSAL &amp; METRICS EDUCATION · PAGE 11</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400"/>
                                        <p:tgtEl>
                                          <p:spTgt spid="3"/>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slide(fromBottom)">
                                      <p:cBhvr>
                                        <p:cTn id="15" dur="400"/>
                                        <p:tgtEl>
                                          <p:spTgt spid="4"/>
                                        </p:tgtEl>
                                      </p:cBhvr>
                                    </p:animEffect>
                                  </p:childTnLst>
                                </p:cTn>
                              </p:par>
                            </p:childTnLst>
                          </p:cTn>
                        </p:par>
                        <p:par>
                          <p:cTn id="16" fill="hold">
                            <p:stCondLst>
                              <p:cond delay="2700"/>
                            </p:stCondLst>
                            <p:childTnLst>
                              <p:par>
                                <p:cTn id="17" presetID="23" presetClass="entr" presetSubtype="0" fill="hold" nodeType="after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image">
                                      <p:cBhvr>
                                        <p:cTn id="19" dur="400"/>
                                        <p:tgtEl>
                                          <p:spTgt spid="28"/>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28" grpId="0"/>
      <p:bldP spid="2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DFCF9"/>
          </a:solidFill>
          <a:ln>
            <a:noFill/>
          </a:ln>
        </p:spPr>
      </p:sp>
      <p:sp>
        <p:nvSpPr>
          <p:cNvPr id="3" name="TextBox 3"/>
          <p:cNvSpPr txBox="1"/>
          <p:nvPr/>
        </p:nvSpPr>
        <p:spPr>
          <a:xfrm>
            <a:off x="596265" y="648652"/>
            <a:ext cx="2981739" cy="213360"/>
          </a:xfrm>
          <a:prstGeom prst="rect">
            <a:avLst/>
          </a:prstGeom>
          <a:noFill/>
          <a:ln>
            <a:noFill/>
          </a:ln>
        </p:spPr>
        <p:txBody>
          <a:bodyPr wrap="none" lIns="0" tIns="0" rIns="0" bIns="0" anchor="t" anchorCtr="0">
            <a:spAutoFit/>
          </a:bodyPr>
          <a:lstStyle/>
          <a:p>
            <a:pPr algn="l"/>
            <a:r>
              <a:rPr lang="zh-CN" sz="1050" b="1" dirty="0">
                <a:solidFill>
                  <a:srgbClr val="007583"/>
                </a:solidFill>
                <a:latin typeface="Plus Jakarta Sans"/>
                <a:ea typeface="Microsoft JhengHei"/>
                <a:cs typeface="Plus Jakarta Sans"/>
              </a:rPr>
              <a:t>APPENDIX 01: NOTION AI MEETING ASSISTANT</a:t>
            </a:r>
          </a:p>
        </p:txBody>
      </p:sp>
      <p:sp>
        <p:nvSpPr>
          <p:cNvPr id="4" name="TextBox 4"/>
          <p:cNvSpPr txBox="1"/>
          <p:nvPr/>
        </p:nvSpPr>
        <p:spPr>
          <a:xfrm>
            <a:off x="582930" y="916305"/>
            <a:ext cx="8874442" cy="426720"/>
          </a:xfrm>
          <a:prstGeom prst="rect">
            <a:avLst/>
          </a:prstGeom>
          <a:noFill/>
          <a:ln>
            <a:noFill/>
          </a:ln>
        </p:spPr>
        <p:txBody>
          <a:bodyPr wrap="none" lIns="0" tIns="0" rIns="0" bIns="0" anchor="t" anchorCtr="0">
            <a:spAutoFit/>
          </a:bodyPr>
          <a:lstStyle/>
          <a:p>
            <a:pPr algn="l"/>
            <a:r>
              <a:rPr lang="zh-CN" sz="2100" b="1" dirty="0">
                <a:solidFill>
                  <a:srgbClr val="171C24"/>
                </a:solidFill>
                <a:latin typeface="Plus Jakarta Sans"/>
                <a:ea typeface="Microsoft JhengHei"/>
                <a:cs typeface="Plus Jakarta Sans"/>
              </a:rPr>
              <a:t>會後發布遲延與冗長流水帳形成雙重阻力，導致四成會議紀錄零瀏覽</a:t>
            </a:r>
          </a:p>
        </p:txBody>
      </p:sp>
      <p:grpSp>
        <p:nvGrpSpPr>
          <p:cNvPr id="48" name="Group 48"/>
          <p:cNvGrpSpPr/>
          <p:nvPr/>
        </p:nvGrpSpPr>
        <p:grpSpPr>
          <a:xfrm>
            <a:off x="609600" y="1619250"/>
            <a:ext cx="10972800" cy="3810000"/>
            <a:chOff x="609600" y="1619250"/>
            <a:chExt cx="10972800" cy="3810000"/>
          </a:xfrm>
        </p:grpSpPr>
        <p:grpSp>
          <p:nvGrpSpPr>
            <p:cNvPr id="20" name="Group 20"/>
            <p:cNvGrpSpPr/>
            <p:nvPr/>
          </p:nvGrpSpPr>
          <p:grpSpPr>
            <a:xfrm>
              <a:off x="609600" y="1619250"/>
              <a:ext cx="2667000" cy="3810000"/>
              <a:chOff x="609600" y="1619250"/>
              <a:chExt cx="2667000" cy="3810000"/>
            </a:xfrm>
          </p:grpSpPr>
          <p:sp>
            <p:nvSpPr>
              <p:cNvPr id="5" name="Rectangle 5"/>
              <p:cNvSpPr/>
              <p:nvPr/>
            </p:nvSpPr>
            <p:spPr>
              <a:xfrm>
                <a:off x="609600" y="1619250"/>
                <a:ext cx="2667000" cy="3810000"/>
              </a:xfrm>
              <a:prstGeom prst="roundRect">
                <a:avLst>
                  <a:gd name="adj" fmla="val 5714"/>
                </a:avLst>
              </a:prstGeom>
              <a:solidFill>
                <a:srgbClr val="FFFFFF"/>
              </a:solidFill>
              <a:ln w="14288">
                <a:solidFill>
                  <a:srgbClr val="E5E3DE"/>
                </a:solidFill>
              </a:ln>
            </p:spPr>
          </p:sp>
          <p:sp>
            <p:nvSpPr>
              <p:cNvPr id="6" name="TextBox 6"/>
              <p:cNvSpPr txBox="1"/>
              <p:nvPr/>
            </p:nvSpPr>
            <p:spPr>
              <a:xfrm>
                <a:off x="821055" y="1816418"/>
                <a:ext cx="1168432" cy="274320"/>
              </a:xfrm>
              <a:prstGeom prst="rect">
                <a:avLst/>
              </a:prstGeom>
              <a:noFill/>
              <a:ln>
                <a:noFill/>
              </a:ln>
            </p:spPr>
            <p:txBody>
              <a:bodyPr wrap="none" lIns="0" tIns="0" rIns="0" bIns="0" anchor="t" anchorCtr="0">
                <a:spAutoFit/>
              </a:bodyPr>
              <a:lstStyle/>
              <a:p>
                <a:pPr algn="l"/>
                <a:r>
                  <a:rPr lang="zh-CN" sz="1350" b="1" dirty="0">
                    <a:solidFill>
                      <a:srgbClr val="171C24"/>
                    </a:solidFill>
                    <a:latin typeface="Plus Jakarta Sans"/>
                    <a:ea typeface="Microsoft JhengHei"/>
                    <a:cs typeface="Plus Jakarta Sans"/>
                  </a:rPr>
                  <a:t>流失瓶頸數據</a:t>
                </a:r>
              </a:p>
            </p:txBody>
          </p:sp>
          <p:grpSp>
            <p:nvGrpSpPr>
              <p:cNvPr id="10" name="Group 10"/>
              <p:cNvGrpSpPr/>
              <p:nvPr/>
            </p:nvGrpSpPr>
            <p:grpSpPr>
              <a:xfrm>
                <a:off x="838200" y="2286000"/>
                <a:ext cx="983885" cy="657225"/>
                <a:chOff x="838200" y="2286000"/>
                <a:chExt cx="983885" cy="657225"/>
              </a:xfrm>
            </p:grpSpPr>
            <p:sp>
              <p:nvSpPr>
                <p:cNvPr id="7" name="Rectangle 7"/>
                <p:cNvSpPr/>
                <p:nvPr/>
              </p:nvSpPr>
              <p:spPr>
                <a:xfrm>
                  <a:off x="838200" y="2286000"/>
                  <a:ext cx="38100" cy="609600"/>
                </a:xfrm>
                <a:prstGeom prst="roundRect">
                  <a:avLst>
                    <a:gd name="adj" fmla="val 50000"/>
                  </a:avLst>
                </a:prstGeom>
                <a:solidFill>
                  <a:srgbClr val="153166"/>
                </a:solidFill>
                <a:ln>
                  <a:noFill/>
                </a:ln>
              </p:spPr>
            </p:sp>
            <p:sp>
              <p:nvSpPr>
                <p:cNvPr id="8" name="TextBox 8"/>
                <p:cNvSpPr txBox="1"/>
                <p:nvPr/>
              </p:nvSpPr>
              <p:spPr>
                <a:xfrm>
                  <a:off x="978218" y="2333149"/>
                  <a:ext cx="843867" cy="198120"/>
                </a:xfrm>
                <a:prstGeom prst="rect">
                  <a:avLst/>
                </a:prstGeom>
                <a:noFill/>
                <a:ln>
                  <a:noFill/>
                </a:ln>
              </p:spPr>
              <p:txBody>
                <a:bodyPr wrap="none" lIns="0" tIns="0" rIns="0" bIns="0" anchor="t" anchorCtr="0">
                  <a:spAutoFit/>
                </a:bodyPr>
                <a:lstStyle/>
                <a:p>
                  <a:pPr algn="l"/>
                  <a:r>
                    <a:rPr lang="zh-CN" sz="975" b="1" dirty="0">
                      <a:solidFill>
                        <a:srgbClr val="525864"/>
                      </a:solidFill>
                      <a:latin typeface="Manrope"/>
                      <a:ea typeface="Microsoft JhengHei"/>
                      <a:cs typeface="Manrope"/>
                    </a:rPr>
                    <a:t>會議紀錄佔比</a:t>
                  </a:r>
                </a:p>
              </p:txBody>
            </p:sp>
            <p:sp>
              <p:nvSpPr>
                <p:cNvPr id="9" name="TextBox 9"/>
                <p:cNvSpPr txBox="1"/>
                <p:nvPr/>
              </p:nvSpPr>
              <p:spPr>
                <a:xfrm>
                  <a:off x="963930" y="2516505"/>
                  <a:ext cx="597308" cy="426720"/>
                </a:xfrm>
                <a:prstGeom prst="rect">
                  <a:avLst/>
                </a:prstGeom>
                <a:noFill/>
                <a:ln>
                  <a:noFill/>
                </a:ln>
              </p:spPr>
              <p:txBody>
                <a:bodyPr wrap="none" lIns="0" tIns="0" rIns="0" bIns="0" anchor="t" anchorCtr="0">
                  <a:spAutoFit/>
                </a:bodyPr>
                <a:lstStyle/>
                <a:p>
                  <a:pPr algn="l"/>
                  <a:r>
                    <a:rPr lang="zh-CN" sz="2100" b="1" dirty="0">
                      <a:solidFill>
                        <a:srgbClr val="153166"/>
                      </a:solidFill>
                      <a:latin typeface="Plus Jakarta Sans"/>
                      <a:ea typeface="Microsoft JhengHei"/>
                      <a:cs typeface="Plus Jakarta Sans"/>
                    </a:rPr>
                    <a:t>30%</a:t>
                  </a:r>
                </a:p>
              </p:txBody>
            </p:sp>
          </p:grpSp>
          <p:grpSp>
            <p:nvGrpSpPr>
              <p:cNvPr id="14" name="Group 14"/>
              <p:cNvGrpSpPr/>
              <p:nvPr/>
            </p:nvGrpSpPr>
            <p:grpSpPr>
              <a:xfrm>
                <a:off x="838200" y="3238500"/>
                <a:ext cx="1393437" cy="657225"/>
                <a:chOff x="838200" y="3238500"/>
                <a:chExt cx="1393437" cy="657225"/>
              </a:xfrm>
            </p:grpSpPr>
            <p:sp>
              <p:nvSpPr>
                <p:cNvPr id="11" name="Rectangle 11"/>
                <p:cNvSpPr/>
                <p:nvPr/>
              </p:nvSpPr>
              <p:spPr>
                <a:xfrm>
                  <a:off x="838200" y="3238500"/>
                  <a:ext cx="38100" cy="609600"/>
                </a:xfrm>
                <a:prstGeom prst="roundRect">
                  <a:avLst>
                    <a:gd name="adj" fmla="val 50000"/>
                  </a:avLst>
                </a:prstGeom>
                <a:solidFill>
                  <a:srgbClr val="B91C1C"/>
                </a:solidFill>
                <a:ln>
                  <a:noFill/>
                </a:ln>
              </p:spPr>
            </p:sp>
            <p:sp>
              <p:nvSpPr>
                <p:cNvPr id="12" name="TextBox 12"/>
                <p:cNvSpPr txBox="1"/>
                <p:nvPr/>
              </p:nvSpPr>
              <p:spPr>
                <a:xfrm>
                  <a:off x="978218" y="3285649"/>
                  <a:ext cx="1253419" cy="198120"/>
                </a:xfrm>
                <a:prstGeom prst="rect">
                  <a:avLst/>
                </a:prstGeom>
                <a:noFill/>
                <a:ln>
                  <a:noFill/>
                </a:ln>
              </p:spPr>
              <p:txBody>
                <a:bodyPr wrap="none" lIns="0" tIns="0" rIns="0" bIns="0" anchor="t" anchorCtr="0">
                  <a:spAutoFit/>
                </a:bodyPr>
                <a:lstStyle/>
                <a:p>
                  <a:pPr algn="l"/>
                  <a:r>
                    <a:rPr lang="zh-CN" sz="975" b="1" dirty="0">
                      <a:solidFill>
                        <a:srgbClr val="525864"/>
                      </a:solidFill>
                      <a:latin typeface="Manrope"/>
                      <a:ea typeface="Microsoft JhengHei"/>
                      <a:cs typeface="Manrope"/>
                    </a:rPr>
                    <a:t>會議紀錄無人瀏覽率</a:t>
                  </a:r>
                </a:p>
              </p:txBody>
            </p:sp>
            <p:sp>
              <p:nvSpPr>
                <p:cNvPr id="13" name="TextBox 13"/>
                <p:cNvSpPr txBox="1"/>
                <p:nvPr/>
              </p:nvSpPr>
              <p:spPr>
                <a:xfrm>
                  <a:off x="963930" y="3469005"/>
                  <a:ext cx="597308" cy="426720"/>
                </a:xfrm>
                <a:prstGeom prst="rect">
                  <a:avLst/>
                </a:prstGeom>
                <a:noFill/>
                <a:ln>
                  <a:noFill/>
                </a:ln>
              </p:spPr>
              <p:txBody>
                <a:bodyPr wrap="none" lIns="0" tIns="0" rIns="0" bIns="0" anchor="t" anchorCtr="0">
                  <a:spAutoFit/>
                </a:bodyPr>
                <a:lstStyle/>
                <a:p>
                  <a:pPr algn="l"/>
                  <a:r>
                    <a:rPr lang="zh-CN" sz="2100" b="1" dirty="0">
                      <a:solidFill>
                        <a:srgbClr val="B91C1C"/>
                      </a:solidFill>
                      <a:latin typeface="Plus Jakarta Sans"/>
                      <a:ea typeface="Microsoft JhengHei"/>
                      <a:cs typeface="Plus Jakarta Sans"/>
                    </a:rPr>
                    <a:t>40%</a:t>
                  </a:r>
                </a:p>
              </p:txBody>
            </p:sp>
          </p:grpSp>
          <p:grpSp>
            <p:nvGrpSpPr>
              <p:cNvPr id="19" name="Group 19"/>
              <p:cNvGrpSpPr/>
              <p:nvPr/>
            </p:nvGrpSpPr>
            <p:grpSpPr>
              <a:xfrm>
                <a:off x="838200" y="4191000"/>
                <a:ext cx="1343787" cy="676275"/>
                <a:chOff x="838200" y="4191000"/>
                <a:chExt cx="1343787" cy="676275"/>
              </a:xfrm>
            </p:grpSpPr>
            <p:sp>
              <p:nvSpPr>
                <p:cNvPr id="15" name="Rectangle 15"/>
                <p:cNvSpPr/>
                <p:nvPr/>
              </p:nvSpPr>
              <p:spPr>
                <a:xfrm>
                  <a:off x="838200" y="4191000"/>
                  <a:ext cx="38100" cy="609600"/>
                </a:xfrm>
                <a:prstGeom prst="roundRect">
                  <a:avLst>
                    <a:gd name="adj" fmla="val 50000"/>
                  </a:avLst>
                </a:prstGeom>
                <a:solidFill>
                  <a:srgbClr val="00969D"/>
                </a:solidFill>
                <a:ln>
                  <a:noFill/>
                </a:ln>
              </p:spPr>
            </p:sp>
            <p:sp>
              <p:nvSpPr>
                <p:cNvPr id="16" name="TextBox 16"/>
                <p:cNvSpPr txBox="1"/>
                <p:nvPr/>
              </p:nvSpPr>
              <p:spPr>
                <a:xfrm>
                  <a:off x="978218" y="4238149"/>
                  <a:ext cx="570833" cy="198120"/>
                </a:xfrm>
                <a:prstGeom prst="rect">
                  <a:avLst/>
                </a:prstGeom>
                <a:noFill/>
                <a:ln>
                  <a:noFill/>
                </a:ln>
              </p:spPr>
              <p:txBody>
                <a:bodyPr wrap="none" lIns="0" tIns="0" rIns="0" bIns="0" anchor="t" anchorCtr="0">
                  <a:spAutoFit/>
                </a:bodyPr>
                <a:lstStyle/>
                <a:p>
                  <a:pPr algn="l"/>
                  <a:r>
                    <a:rPr lang="zh-CN" sz="975" b="1" dirty="0">
                      <a:solidFill>
                        <a:srgbClr val="525864"/>
                      </a:solidFill>
                      <a:latin typeface="Manrope"/>
                      <a:ea typeface="Microsoft JhengHei"/>
                      <a:cs typeface="Manrope"/>
                    </a:rPr>
                    <a:t>主要痛點</a:t>
                  </a:r>
                </a:p>
              </p:txBody>
            </p:sp>
            <p:sp>
              <p:nvSpPr>
                <p:cNvPr id="17" name="TextBox 17"/>
                <p:cNvSpPr txBox="1"/>
                <p:nvPr/>
              </p:nvSpPr>
              <p:spPr>
                <a:xfrm>
                  <a:off x="975360" y="4480560"/>
                  <a:ext cx="1206627" cy="243840"/>
                </a:xfrm>
                <a:prstGeom prst="rect">
                  <a:avLst/>
                </a:prstGeom>
                <a:noFill/>
                <a:ln>
                  <a:noFill/>
                </a:ln>
              </p:spPr>
              <p:txBody>
                <a:bodyPr wrap="none" lIns="0" tIns="0" rIns="0" bIns="0" anchor="t" anchorCtr="0">
                  <a:spAutoFit/>
                </a:bodyPr>
                <a:lstStyle/>
                <a:p>
                  <a:pPr algn="l"/>
                  <a:r>
                    <a:rPr lang="zh-CN" sz="1200" b="1" dirty="0">
                      <a:solidFill>
                        <a:srgbClr val="00969D"/>
                      </a:solidFill>
                      <a:latin typeface="Plus Jakarta Sans"/>
                      <a:ea typeface="Microsoft JhengHei"/>
                      <a:cs typeface="Plus Jakarta Sans"/>
                    </a:rPr>
                    <a:t>資訊沉澱於文件</a:t>
                  </a:r>
                </a:p>
              </p:txBody>
            </p:sp>
            <p:sp>
              <p:nvSpPr>
                <p:cNvPr id="18" name="TextBox 18"/>
                <p:cNvSpPr txBox="1"/>
                <p:nvPr/>
              </p:nvSpPr>
              <p:spPr>
                <a:xfrm>
                  <a:off x="979170" y="4684395"/>
                  <a:ext cx="1102995" cy="182880"/>
                </a:xfrm>
                <a:prstGeom prst="rect">
                  <a:avLst/>
                </a:prstGeom>
                <a:noFill/>
                <a:ln>
                  <a:noFill/>
                </a:ln>
              </p:spPr>
              <p:txBody>
                <a:bodyPr wrap="none" lIns="0" tIns="0" rIns="0" bIns="0" anchor="t" anchorCtr="0">
                  <a:spAutoFit/>
                </a:bodyPr>
                <a:lstStyle/>
                <a:p>
                  <a:pPr algn="l"/>
                  <a:r>
                    <a:rPr lang="zh-CN" sz="900" dirty="0">
                      <a:solidFill>
                        <a:srgbClr val="525864"/>
                      </a:solidFill>
                      <a:latin typeface="Manrope"/>
                      <a:ea typeface="Microsoft JhengHei"/>
                      <a:cs typeface="Manrope"/>
                    </a:rPr>
                    <a:t>未發揮實質協作價值</a:t>
                  </a:r>
                </a:p>
              </p:txBody>
            </p:sp>
          </p:grpSp>
        </p:grpSp>
        <p:grpSp>
          <p:nvGrpSpPr>
            <p:cNvPr id="47" name="Group 47"/>
            <p:cNvGrpSpPr/>
            <p:nvPr/>
          </p:nvGrpSpPr>
          <p:grpSpPr>
            <a:xfrm>
              <a:off x="3581400" y="1619250"/>
              <a:ext cx="8001000" cy="3810000"/>
              <a:chOff x="3581400" y="1619250"/>
              <a:chExt cx="8001000" cy="3810000"/>
            </a:xfrm>
          </p:grpSpPr>
          <p:sp>
            <p:nvSpPr>
              <p:cNvPr id="21" name="Rectangle 21"/>
              <p:cNvSpPr/>
              <p:nvPr/>
            </p:nvSpPr>
            <p:spPr>
              <a:xfrm>
                <a:off x="3581400" y="1619250"/>
                <a:ext cx="8001000" cy="3810000"/>
              </a:xfrm>
              <a:prstGeom prst="roundRect">
                <a:avLst>
                  <a:gd name="adj" fmla="val 4000"/>
                </a:avLst>
              </a:prstGeom>
              <a:solidFill>
                <a:srgbClr val="FFFFFF"/>
              </a:solidFill>
              <a:ln w="14288">
                <a:solidFill>
                  <a:srgbClr val="E5E3DE"/>
                </a:solidFill>
              </a:ln>
            </p:spPr>
          </p:sp>
          <p:sp>
            <p:nvSpPr>
              <p:cNvPr id="22" name="TextBox 22"/>
              <p:cNvSpPr txBox="1"/>
              <p:nvPr/>
            </p:nvSpPr>
            <p:spPr>
              <a:xfrm>
                <a:off x="3869055" y="1816418"/>
                <a:ext cx="2302574" cy="274320"/>
              </a:xfrm>
              <a:prstGeom prst="rect">
                <a:avLst/>
              </a:prstGeom>
              <a:noFill/>
              <a:ln>
                <a:noFill/>
              </a:ln>
            </p:spPr>
            <p:txBody>
              <a:bodyPr wrap="none" lIns="0" tIns="0" rIns="0" bIns="0" anchor="t" anchorCtr="0">
                <a:spAutoFit/>
              </a:bodyPr>
              <a:lstStyle/>
              <a:p>
                <a:pPr algn="l"/>
                <a:r>
                  <a:rPr lang="zh-CN" sz="1350" b="1" dirty="0">
                    <a:solidFill>
                      <a:srgbClr val="171C24"/>
                    </a:solidFill>
                    <a:latin typeface="Plus Jakarta Sans"/>
                    <a:ea typeface="Microsoft JhengHei"/>
                    <a:cs typeface="Plus Jakarta Sans"/>
                  </a:rPr>
                  <a:t>會議記錄文件瀏覽流失漏斗</a:t>
                </a:r>
              </a:p>
            </p:txBody>
          </p:sp>
          <p:sp>
            <p:nvSpPr>
              <p:cNvPr id="23" name="Freeform 23"/>
              <p:cNvSpPr/>
              <p:nvPr/>
            </p:nvSpPr>
            <p:spPr>
              <a:xfrm>
                <a:off x="4152900" y="2381250"/>
                <a:ext cx="2857500" cy="666750"/>
              </a:xfrm>
              <a:custGeom>
                <a:avLst/>
                <a:gdLst/>
                <a:ahLst/>
                <a:cxnLst/>
                <a:rect l="l" t="t" r="r" b="b"/>
                <a:pathLst>
                  <a:path w="2857500" h="666750">
                    <a:moveTo>
                      <a:pt x="0" y="0"/>
                    </a:moveTo>
                    <a:lnTo>
                      <a:pt x="2857500" y="0"/>
                    </a:lnTo>
                    <a:lnTo>
                      <a:pt x="2571750" y="666750"/>
                    </a:lnTo>
                    <a:lnTo>
                      <a:pt x="285750" y="666750"/>
                    </a:lnTo>
                    <a:close/>
                  </a:path>
                </a:pathLst>
              </a:custGeom>
              <a:solidFill>
                <a:srgbClr val="153166"/>
              </a:solidFill>
              <a:ln>
                <a:noFill/>
              </a:ln>
            </p:spPr>
          </p:sp>
          <p:sp>
            <p:nvSpPr>
              <p:cNvPr id="24" name="TextBox 24"/>
              <p:cNvSpPr txBox="1"/>
              <p:nvPr/>
            </p:nvSpPr>
            <p:spPr>
              <a:xfrm>
                <a:off x="4716756" y="2593181"/>
                <a:ext cx="1729788"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Plus Jakarta Sans"/>
                    <a:ea typeface="Microsoft JhengHei"/>
                    <a:cs typeface="Plus Jakarta Sans"/>
                  </a:rPr>
                  <a:t>所有新建立文件 (100%)</a:t>
                </a:r>
              </a:p>
            </p:txBody>
          </p:sp>
          <p:sp>
            <p:nvSpPr>
              <p:cNvPr id="25" name="Freeform 25"/>
              <p:cNvSpPr/>
              <p:nvPr/>
            </p:nvSpPr>
            <p:spPr>
              <a:xfrm>
                <a:off x="7010400" y="2714625"/>
                <a:ext cx="142875" cy="190500"/>
              </a:xfrm>
              <a:custGeom>
                <a:avLst/>
                <a:gdLst/>
                <a:ahLst/>
                <a:cxnLst/>
                <a:rect l="l" t="t" r="r" b="b"/>
                <a:pathLst>
                  <a:path w="142875" h="190500">
                    <a:moveTo>
                      <a:pt x="0" y="0"/>
                    </a:moveTo>
                    <a:lnTo>
                      <a:pt x="142875" y="0"/>
                    </a:lnTo>
                    <a:lnTo>
                      <a:pt x="142875" y="190500"/>
                    </a:lnTo>
                  </a:path>
                </a:pathLst>
              </a:custGeom>
              <a:noFill/>
              <a:ln w="9525">
                <a:solidFill>
                  <a:srgbClr val="525864"/>
                </a:solidFill>
                <a:prstDash val="sysDot"/>
              </a:ln>
            </p:spPr>
          </p:sp>
          <p:sp>
            <p:nvSpPr>
              <p:cNvPr id="26" name="TextBox 26"/>
              <p:cNvSpPr txBox="1"/>
              <p:nvPr/>
            </p:nvSpPr>
            <p:spPr>
              <a:xfrm>
                <a:off x="7191375" y="2928938"/>
                <a:ext cx="744141" cy="152400"/>
              </a:xfrm>
              <a:prstGeom prst="rect">
                <a:avLst/>
              </a:prstGeom>
              <a:noFill/>
              <a:ln>
                <a:noFill/>
              </a:ln>
            </p:spPr>
            <p:txBody>
              <a:bodyPr wrap="none" lIns="0" tIns="0" rIns="0" bIns="0" anchor="t" anchorCtr="0">
                <a:spAutoFit/>
              </a:bodyPr>
              <a:lstStyle/>
              <a:p>
                <a:pPr algn="l"/>
                <a:r>
                  <a:rPr lang="zh-CN" sz="750" dirty="0">
                    <a:solidFill>
                      <a:srgbClr val="525864"/>
                    </a:solidFill>
                    <a:latin typeface="Manrope"/>
                    <a:ea typeface="Microsoft JhengHei"/>
                    <a:cs typeface="Manrope"/>
                  </a:rPr>
                  <a:t>其他類型 (70%)</a:t>
                </a:r>
              </a:p>
            </p:txBody>
          </p:sp>
          <p:sp>
            <p:nvSpPr>
              <p:cNvPr id="27" name="Freeform 27"/>
              <p:cNvSpPr/>
              <p:nvPr/>
            </p:nvSpPr>
            <p:spPr>
              <a:xfrm>
                <a:off x="4533900" y="3238500"/>
                <a:ext cx="2095500" cy="666750"/>
              </a:xfrm>
              <a:custGeom>
                <a:avLst/>
                <a:gdLst/>
                <a:ahLst/>
                <a:cxnLst/>
                <a:rect l="l" t="t" r="r" b="b"/>
                <a:pathLst>
                  <a:path w="2095500" h="666750">
                    <a:moveTo>
                      <a:pt x="0" y="0"/>
                    </a:moveTo>
                    <a:lnTo>
                      <a:pt x="2095500" y="0"/>
                    </a:lnTo>
                    <a:lnTo>
                      <a:pt x="1809750" y="666750"/>
                    </a:lnTo>
                    <a:lnTo>
                      <a:pt x="285750" y="666750"/>
                    </a:lnTo>
                    <a:close/>
                  </a:path>
                </a:pathLst>
              </a:custGeom>
              <a:solidFill>
                <a:srgbClr val="00969D"/>
              </a:solidFill>
              <a:ln>
                <a:noFill/>
              </a:ln>
            </p:spPr>
          </p:sp>
          <p:sp>
            <p:nvSpPr>
              <p:cNvPr id="28" name="TextBox 28"/>
              <p:cNvSpPr txBox="1"/>
              <p:nvPr/>
            </p:nvSpPr>
            <p:spPr>
              <a:xfrm>
                <a:off x="4578926" y="3450431"/>
                <a:ext cx="2005447"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Plus Jakarta Sans"/>
                    <a:ea typeface="Microsoft JhengHei"/>
                    <a:cs typeface="Plus Jakarta Sans"/>
                  </a:rPr>
                  <a:t>會議記錄文件 (佔大盤 30%)</a:t>
                </a:r>
              </a:p>
            </p:txBody>
          </p:sp>
          <p:sp>
            <p:nvSpPr>
              <p:cNvPr id="29" name="Freeform 29"/>
              <p:cNvSpPr/>
              <p:nvPr/>
            </p:nvSpPr>
            <p:spPr>
              <a:xfrm>
                <a:off x="4914900" y="4095750"/>
                <a:ext cx="1333500" cy="666750"/>
              </a:xfrm>
              <a:custGeom>
                <a:avLst/>
                <a:gdLst/>
                <a:ahLst/>
                <a:cxnLst/>
                <a:rect l="l" t="t" r="r" b="b"/>
                <a:pathLst>
                  <a:path w="1333500" h="666750">
                    <a:moveTo>
                      <a:pt x="0" y="0"/>
                    </a:moveTo>
                    <a:lnTo>
                      <a:pt x="1333500" y="0"/>
                    </a:lnTo>
                    <a:lnTo>
                      <a:pt x="1047750" y="666750"/>
                    </a:lnTo>
                    <a:lnTo>
                      <a:pt x="285750" y="666750"/>
                    </a:lnTo>
                    <a:close/>
                  </a:path>
                </a:pathLst>
              </a:custGeom>
              <a:solidFill>
                <a:srgbClr val="007583"/>
              </a:solidFill>
              <a:ln>
                <a:noFill/>
              </a:ln>
            </p:spPr>
          </p:sp>
          <p:sp>
            <p:nvSpPr>
              <p:cNvPr id="30" name="TextBox 30"/>
              <p:cNvSpPr txBox="1"/>
              <p:nvPr/>
            </p:nvSpPr>
            <p:spPr>
              <a:xfrm>
                <a:off x="5031503" y="4284345"/>
                <a:ext cx="1100295"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Plus Jakarta Sans"/>
                    <a:ea typeface="Microsoft JhengHei"/>
                    <a:cs typeface="Plus Jakarta Sans"/>
                  </a:rPr>
                  <a:t>2個工作天內有瀏覽</a:t>
                </a:r>
              </a:p>
            </p:txBody>
          </p:sp>
          <p:sp>
            <p:nvSpPr>
              <p:cNvPr id="31" name="TextBox 31"/>
              <p:cNvSpPr txBox="1"/>
              <p:nvPr/>
            </p:nvSpPr>
            <p:spPr>
              <a:xfrm>
                <a:off x="5210190" y="4482941"/>
                <a:ext cx="742920"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Plus Jakarta Sans"/>
                    <a:ea typeface="Microsoft JhengHei"/>
                    <a:cs typeface="Plus Jakarta Sans"/>
                  </a:rPr>
                  <a:t>(佔大盤 18%)</a:t>
                </a:r>
              </a:p>
            </p:txBody>
          </p:sp>
          <p:sp>
            <p:nvSpPr>
              <p:cNvPr id="32" name="Freeform 32"/>
              <p:cNvSpPr/>
              <p:nvPr/>
            </p:nvSpPr>
            <p:spPr>
              <a:xfrm>
                <a:off x="6629400" y="3571875"/>
                <a:ext cx="333375" cy="9525"/>
              </a:xfrm>
              <a:custGeom>
                <a:avLst/>
                <a:gdLst/>
                <a:ahLst/>
                <a:cxnLst/>
                <a:rect l="l" t="t" r="r" b="b"/>
                <a:pathLst>
                  <a:path w="333375" h="9525">
                    <a:moveTo>
                      <a:pt x="0" y="0"/>
                    </a:moveTo>
                    <a:lnTo>
                      <a:pt x="333375" y="0"/>
                    </a:lnTo>
                  </a:path>
                </a:pathLst>
              </a:custGeom>
              <a:noFill/>
              <a:ln w="14288">
                <a:solidFill>
                  <a:srgbClr val="B91C1C"/>
                </a:solidFill>
                <a:prstDash val="sysDot"/>
              </a:ln>
            </p:spPr>
          </p:sp>
          <p:sp>
            <p:nvSpPr>
              <p:cNvPr id="33" name="Rectangle 33"/>
              <p:cNvSpPr/>
              <p:nvPr/>
            </p:nvSpPr>
            <p:spPr>
              <a:xfrm>
                <a:off x="6962775" y="3238500"/>
                <a:ext cx="1047750" cy="666750"/>
              </a:xfrm>
              <a:prstGeom prst="roundRect">
                <a:avLst>
                  <a:gd name="adj" fmla="val 11429"/>
                </a:avLst>
              </a:prstGeom>
              <a:solidFill>
                <a:srgbClr val="FFF5F5"/>
              </a:solidFill>
              <a:ln w="14288">
                <a:solidFill>
                  <a:srgbClr val="FEE2E2"/>
                </a:solidFill>
                <a:custDash>
                  <a:ds d="200000" sp="200000"/>
                </a:custDash>
              </a:ln>
            </p:spPr>
          </p:sp>
          <p:sp>
            <p:nvSpPr>
              <p:cNvPr id="34" name="TextBox 34"/>
              <p:cNvSpPr txBox="1"/>
              <p:nvPr/>
            </p:nvSpPr>
            <p:spPr>
              <a:xfrm>
                <a:off x="7087722" y="3446145"/>
                <a:ext cx="797857" cy="182880"/>
              </a:xfrm>
              <a:prstGeom prst="rect">
                <a:avLst/>
              </a:prstGeom>
              <a:noFill/>
              <a:ln>
                <a:noFill/>
              </a:ln>
            </p:spPr>
            <p:txBody>
              <a:bodyPr wrap="none" lIns="0" tIns="0" rIns="0" bIns="0" anchor="t" anchorCtr="0">
                <a:spAutoFit/>
              </a:bodyPr>
              <a:lstStyle/>
              <a:p>
                <a:pPr algn="ctr"/>
                <a:r>
                  <a:rPr lang="zh-CN" sz="900" b="1" dirty="0">
                    <a:solidFill>
                      <a:srgbClr val="B91C1C"/>
                    </a:solidFill>
                    <a:latin typeface="Plus Jakarta Sans"/>
                    <a:ea typeface="Microsoft JhengHei"/>
                    <a:cs typeface="Plus Jakarta Sans"/>
                  </a:rPr>
                  <a:t>40% 無人瀏覽</a:t>
                </a:r>
              </a:p>
            </p:txBody>
          </p:sp>
          <p:sp>
            <p:nvSpPr>
              <p:cNvPr id="35" name="TextBox 35"/>
              <p:cNvSpPr txBox="1"/>
              <p:nvPr/>
            </p:nvSpPr>
            <p:spPr>
              <a:xfrm>
                <a:off x="7099578" y="3652838"/>
                <a:ext cx="774144" cy="152400"/>
              </a:xfrm>
              <a:prstGeom prst="rect">
                <a:avLst/>
              </a:prstGeom>
              <a:noFill/>
              <a:ln>
                <a:noFill/>
              </a:ln>
            </p:spPr>
            <p:txBody>
              <a:bodyPr wrap="none" lIns="0" tIns="0" rIns="0" bIns="0" anchor="t" anchorCtr="0">
                <a:spAutoFit/>
              </a:bodyPr>
              <a:lstStyle/>
              <a:p>
                <a:pPr algn="ctr"/>
                <a:r>
                  <a:rPr lang="zh-CN" sz="750" dirty="0">
                    <a:solidFill>
                      <a:srgbClr val="525864"/>
                    </a:solidFill>
                    <a:latin typeface="Manrope"/>
                    <a:ea typeface="Microsoft JhengHei"/>
                    <a:cs typeface="Manrope"/>
                  </a:rPr>
                  <a:t>2工作天後零瀏覽</a:t>
                </a:r>
              </a:p>
            </p:txBody>
          </p:sp>
          <p:grpSp>
            <p:nvGrpSpPr>
              <p:cNvPr id="46" name="Group 46"/>
              <p:cNvGrpSpPr/>
              <p:nvPr/>
            </p:nvGrpSpPr>
            <p:grpSpPr>
              <a:xfrm>
                <a:off x="8212455" y="1854518"/>
                <a:ext cx="3065145" cy="2705576"/>
                <a:chOff x="8212455" y="1854518"/>
                <a:chExt cx="3065145" cy="2705576"/>
              </a:xfrm>
            </p:grpSpPr>
            <p:sp>
              <p:nvSpPr>
                <p:cNvPr id="36" name="TextBox 36"/>
                <p:cNvSpPr txBox="1"/>
                <p:nvPr/>
              </p:nvSpPr>
              <p:spPr>
                <a:xfrm>
                  <a:off x="8212455" y="1854518"/>
                  <a:ext cx="1168432" cy="274320"/>
                </a:xfrm>
                <a:prstGeom prst="rect">
                  <a:avLst/>
                </a:prstGeom>
                <a:noFill/>
                <a:ln>
                  <a:noFill/>
                </a:ln>
              </p:spPr>
              <p:txBody>
                <a:bodyPr wrap="none" lIns="0" tIns="0" rIns="0" bIns="0" anchor="t" anchorCtr="0">
                  <a:spAutoFit/>
                </a:bodyPr>
                <a:lstStyle/>
                <a:p>
                  <a:pPr algn="l"/>
                  <a:r>
                    <a:rPr lang="zh-CN" sz="1350" b="1" dirty="0">
                      <a:solidFill>
                        <a:srgbClr val="153166"/>
                      </a:solidFill>
                      <a:latin typeface="Plus Jakarta Sans"/>
                      <a:ea typeface="Microsoft JhengHei"/>
                      <a:cs typeface="Plus Jakarta Sans"/>
                    </a:rPr>
                    <a:t>流失主因分析</a:t>
                  </a:r>
                </a:p>
              </p:txBody>
            </p:sp>
            <p:sp>
              <p:nvSpPr>
                <p:cNvPr id="37" name="Line 37"/>
                <p:cNvSpPr/>
                <p:nvPr/>
              </p:nvSpPr>
              <p:spPr>
                <a:xfrm>
                  <a:off x="8229600" y="2190750"/>
                  <a:ext cx="3048000" cy="9525"/>
                </a:xfrm>
                <a:custGeom>
                  <a:avLst/>
                  <a:gdLst/>
                  <a:ahLst/>
                  <a:cxnLst/>
                  <a:rect l="l" t="t" r="r" b="b"/>
                  <a:pathLst>
                    <a:path w="3048000" h="9525">
                      <a:moveTo>
                        <a:pt x="0" y="0"/>
                      </a:moveTo>
                      <a:lnTo>
                        <a:pt x="3048000" y="0"/>
                      </a:lnTo>
                    </a:path>
                  </a:pathLst>
                </a:custGeom>
                <a:noFill/>
                <a:ln w="14288">
                  <a:solidFill>
                    <a:srgbClr val="E5E3DE"/>
                  </a:solidFill>
                </a:ln>
              </p:spPr>
            </p:sp>
            <p:grpSp>
              <p:nvGrpSpPr>
                <p:cNvPr id="41" name="Group 41"/>
                <p:cNvGrpSpPr/>
                <p:nvPr/>
              </p:nvGrpSpPr>
              <p:grpSpPr>
                <a:xfrm>
                  <a:off x="8286750" y="2431256"/>
                  <a:ext cx="2435709" cy="842963"/>
                  <a:chOff x="8286750" y="2431256"/>
                  <a:chExt cx="2435709" cy="842963"/>
                </a:xfrm>
              </p:grpSpPr>
              <p:sp>
                <p:nvSpPr>
                  <p:cNvPr id="38" name="Ellipse 38"/>
                  <p:cNvSpPr/>
                  <p:nvPr/>
                </p:nvSpPr>
                <p:spPr>
                  <a:xfrm>
                    <a:off x="8286750" y="2438400"/>
                    <a:ext cx="114300" cy="114300"/>
                  </a:xfrm>
                  <a:prstGeom prst="ellipse">
                    <a:avLst/>
                  </a:prstGeom>
                  <a:solidFill>
                    <a:srgbClr val="B91C1C"/>
                  </a:solidFill>
                  <a:ln>
                    <a:noFill/>
                  </a:ln>
                </p:spPr>
              </p:sp>
              <p:sp>
                <p:nvSpPr>
                  <p:cNvPr id="39" name="TextBox 39"/>
                  <p:cNvSpPr txBox="1"/>
                  <p:nvPr/>
                </p:nvSpPr>
                <p:spPr>
                  <a:xfrm>
                    <a:off x="8520112" y="2431256"/>
                    <a:ext cx="2202347" cy="228600"/>
                  </a:xfrm>
                  <a:prstGeom prst="rect">
                    <a:avLst/>
                  </a:prstGeom>
                  <a:noFill/>
                  <a:ln>
                    <a:noFill/>
                  </a:ln>
                </p:spPr>
                <p:txBody>
                  <a:bodyPr wrap="none" lIns="0" tIns="0" rIns="0" bIns="0" anchor="t" anchorCtr="0">
                    <a:spAutoFit/>
                  </a:bodyPr>
                  <a:lstStyle/>
                  <a:p>
                    <a:pPr algn="l"/>
                    <a:r>
                      <a:rPr lang="zh-CN" sz="1125" b="1" dirty="0">
                        <a:solidFill>
                          <a:srgbClr val="171C24"/>
                        </a:solidFill>
                        <a:latin typeface="Plus Jakarta Sans"/>
                        <a:ea typeface="Microsoft JhengHei"/>
                        <a:cs typeface="Plus Jakarta Sans"/>
                      </a:rPr>
                      <a:t>1. 時效性喪失 (會後遲延發布)</a:t>
                    </a:r>
                  </a:p>
                </p:txBody>
              </p:sp>
              <p:sp>
                <p:nvSpPr>
                  <p:cNvPr id="40" name="TextBox 40"/>
                  <p:cNvSpPr txBox="1"/>
                  <p:nvPr/>
                </p:nvSpPr>
                <p:spPr>
                  <a:xfrm>
                    <a:off x="8522018" y="2695099"/>
                    <a:ext cx="2036921" cy="579120"/>
                  </a:xfrm>
                  <a:prstGeom prst="rect">
                    <a:avLst/>
                  </a:prstGeom>
                  <a:noFill/>
                  <a:ln>
                    <a:noFill/>
                  </a:ln>
                </p:spPr>
                <p:txBody>
                  <a:bodyPr wrap="square" lIns="0" tIns="0" rIns="0" bIns="0" anchor="t" anchorCtr="0"/>
                  <a:lstStyle/>
                  <a:p>
                    <a:pPr algn="l">
                      <a:lnSpc>
                        <a:spcPts val="1500"/>
                      </a:lnSpc>
                    </a:pPr>
                    <a:r>
                      <a:rPr lang="zh-CN" sz="975" dirty="0">
                        <a:solidFill>
                          <a:srgbClr val="525864"/>
                        </a:solidFill>
                        <a:latin typeface="Manrope"/>
                        <a:ea typeface="Microsoft JhengHei"/>
                        <a:cs typeface="Manrope"/>
                      </a:rPr>
                      <a:t>會議紀錄通常在會議結束 1-2 天後才</a:t>
                    </a:r>
                    <a:r>
                      <a:rPr lang="zh-CN" sz="975" dirty="0">
                        <a:solidFill>
                          <a:srgbClr val="525864"/>
                        </a:solidFill>
                        <a:latin typeface="Manrope"/>
                        <a:ea typeface="Microsoft JhengHei"/>
                        <a:cs typeface="Manrope"/>
                      </a:rPr>
                      <a:t>發布，此時團隊已進入新工作脈絡，</a:t>
                    </a:r>
                    <a:r>
                      <a:rPr lang="zh-CN" sz="975" b="1" dirty="0">
                        <a:solidFill>
                          <a:srgbClr val="B91C1C"/>
                        </a:solidFill>
                        <a:latin typeface="Manrope"/>
                        <a:ea typeface="Microsoft JhengHei"/>
                        <a:cs typeface="Manrope"/>
                      </a:rPr>
                      <a:t>回頭看的意願極低。</a:t>
                    </a:r>
                  </a:p>
                </p:txBody>
              </p:sp>
            </p:grpSp>
            <p:grpSp>
              <p:nvGrpSpPr>
                <p:cNvPr id="45" name="Group 45"/>
                <p:cNvGrpSpPr/>
                <p:nvPr/>
              </p:nvGrpSpPr>
              <p:grpSpPr>
                <a:xfrm>
                  <a:off x="8286750" y="3717131"/>
                  <a:ext cx="2435709" cy="842963"/>
                  <a:chOff x="8286750" y="3717131"/>
                  <a:chExt cx="2435709" cy="842963"/>
                </a:xfrm>
              </p:grpSpPr>
              <p:sp>
                <p:nvSpPr>
                  <p:cNvPr id="42" name="Ellipse 42"/>
                  <p:cNvSpPr/>
                  <p:nvPr/>
                </p:nvSpPr>
                <p:spPr>
                  <a:xfrm>
                    <a:off x="8286750" y="3724275"/>
                    <a:ext cx="114300" cy="114300"/>
                  </a:xfrm>
                  <a:prstGeom prst="ellipse">
                    <a:avLst/>
                  </a:prstGeom>
                  <a:solidFill>
                    <a:srgbClr val="B91C1C"/>
                  </a:solidFill>
                  <a:ln>
                    <a:noFill/>
                  </a:ln>
                </p:spPr>
              </p:sp>
              <p:sp>
                <p:nvSpPr>
                  <p:cNvPr id="43" name="TextBox 43"/>
                  <p:cNvSpPr txBox="1"/>
                  <p:nvPr/>
                </p:nvSpPr>
                <p:spPr>
                  <a:xfrm>
                    <a:off x="8520112" y="3717131"/>
                    <a:ext cx="2202347" cy="228600"/>
                  </a:xfrm>
                  <a:prstGeom prst="rect">
                    <a:avLst/>
                  </a:prstGeom>
                  <a:noFill/>
                  <a:ln>
                    <a:noFill/>
                  </a:ln>
                </p:spPr>
                <p:txBody>
                  <a:bodyPr wrap="none" lIns="0" tIns="0" rIns="0" bIns="0" anchor="t" anchorCtr="0">
                    <a:spAutoFit/>
                  </a:bodyPr>
                  <a:lstStyle/>
                  <a:p>
                    <a:pPr algn="l"/>
                    <a:r>
                      <a:rPr lang="zh-CN" sz="1125" b="1" dirty="0">
                        <a:solidFill>
                          <a:srgbClr val="171C24"/>
                        </a:solidFill>
                        <a:latin typeface="Plus Jakarta Sans"/>
                        <a:ea typeface="Microsoft JhengHei"/>
                        <a:cs typeface="Plus Jakarta Sans"/>
                      </a:rPr>
                      <a:t>2. 高閱讀摩擦力 (冗長流水帳)</a:t>
                    </a:r>
                  </a:p>
                </p:txBody>
              </p:sp>
              <p:sp>
                <p:nvSpPr>
                  <p:cNvPr id="44" name="TextBox 44"/>
                  <p:cNvSpPr txBox="1"/>
                  <p:nvPr/>
                </p:nvSpPr>
                <p:spPr>
                  <a:xfrm>
                    <a:off x="8522018" y="3980974"/>
                    <a:ext cx="2129790" cy="579120"/>
                  </a:xfrm>
                  <a:prstGeom prst="rect">
                    <a:avLst/>
                  </a:prstGeom>
                  <a:noFill/>
                  <a:ln>
                    <a:noFill/>
                  </a:ln>
                </p:spPr>
                <p:txBody>
                  <a:bodyPr wrap="square" lIns="0" tIns="0" rIns="0" bIns="0" anchor="t" anchorCtr="0"/>
                  <a:lstStyle/>
                  <a:p>
                    <a:pPr algn="l">
                      <a:lnSpc>
                        <a:spcPts val="1500"/>
                      </a:lnSpc>
                    </a:pPr>
                    <a:r>
                      <a:rPr lang="zh-CN" sz="975" dirty="0">
                        <a:solidFill>
                          <a:srgbClr val="525864"/>
                        </a:solidFill>
                        <a:latin typeface="Manrope"/>
                        <a:ea typeface="Microsoft JhengHei"/>
                        <a:cs typeface="Manrope"/>
                      </a:rPr>
                      <a:t>手動整理的紀錄通常是冗長、未經</a:t>
                    </a:r>
                    <a:r>
                      <a:rPr lang="zh-CN" sz="975" dirty="0">
                        <a:solidFill>
                          <a:srgbClr val="525864"/>
                        </a:solidFill>
                        <a:latin typeface="Manrope"/>
                        <a:ea typeface="Microsoft JhengHei"/>
                        <a:cs typeface="Manrope"/>
                      </a:rPr>
                      <a:t>提煉的流水帳，字數過多、重點模糊，</a:t>
                    </a:r>
                    <a:r>
                      <a:rPr lang="zh-CN" sz="975" b="1" dirty="0">
                        <a:solidFill>
                          <a:srgbClr val="B91C1C"/>
                        </a:solidFill>
                        <a:latin typeface="Manrope"/>
                        <a:ea typeface="Microsoft JhengHei"/>
                        <a:cs typeface="Manrope"/>
                      </a:rPr>
                      <a:t>團隊點開後的「閱讀摩擦力」極高。</a:t>
                    </a:r>
                  </a:p>
                </p:txBody>
              </p:sp>
            </p:grpSp>
          </p:grpSp>
        </p:grpSp>
      </p:grpSp>
      <p:grpSp>
        <p:nvGrpSpPr>
          <p:cNvPr id="52" name="Group 52"/>
          <p:cNvGrpSpPr/>
          <p:nvPr/>
        </p:nvGrpSpPr>
        <p:grpSpPr>
          <a:xfrm>
            <a:off x="609600" y="5619750"/>
            <a:ext cx="10972800" cy="571500"/>
            <a:chOff x="609600" y="5619750"/>
            <a:chExt cx="10972800" cy="571500"/>
          </a:xfrm>
        </p:grpSpPr>
        <p:sp>
          <p:nvSpPr>
            <p:cNvPr id="49" name="Rectangle 49"/>
            <p:cNvSpPr/>
            <p:nvPr/>
          </p:nvSpPr>
          <p:spPr>
            <a:xfrm>
              <a:off x="609600" y="5619750"/>
              <a:ext cx="10972800" cy="571500"/>
            </a:xfrm>
            <a:prstGeom prst="roundRect">
              <a:avLst>
                <a:gd name="adj" fmla="val 13333"/>
              </a:avLst>
            </a:prstGeom>
            <a:solidFill>
              <a:srgbClr val="F3F2ED"/>
            </a:solidFill>
            <a:ln>
              <a:noFill/>
            </a:ln>
          </p:spPr>
        </p:sp>
        <p:sp>
          <p:nvSpPr>
            <p:cNvPr id="50" name="Freeform 50"/>
            <p:cNvSpPr/>
            <p:nvPr/>
          </p:nvSpPr>
          <p:spPr>
            <a:xfrm>
              <a:off x="800100" y="5791200"/>
              <a:ext cx="228600" cy="228600"/>
            </a:xfrm>
            <a:custGeom>
              <a:avLst/>
              <a:gdLst/>
              <a:ahLst/>
              <a:cxnLst/>
              <a:rect l="l" t="t" r="r" b="b"/>
              <a:pathLst>
                <a:path w="228600" h="228600">
                  <a:moveTo>
                    <a:pt x="228600" y="114300"/>
                  </a:moveTo>
                  <a:cubicBezTo>
                    <a:pt x="228600" y="177426"/>
                    <a:pt x="177426" y="228600"/>
                    <a:pt x="114300" y="228600"/>
                  </a:cubicBezTo>
                  <a:cubicBezTo>
                    <a:pt x="51174" y="228600"/>
                    <a:pt x="0" y="177426"/>
                    <a:pt x="0" y="114300"/>
                  </a:cubicBezTo>
                  <a:cubicBezTo>
                    <a:pt x="0" y="51174"/>
                    <a:pt x="51174" y="0"/>
                    <a:pt x="114300" y="0"/>
                  </a:cubicBezTo>
                  <a:cubicBezTo>
                    <a:pt x="177426" y="0"/>
                    <a:pt x="228600" y="51174"/>
                    <a:pt x="228600" y="114300"/>
                  </a:cubicBezTo>
                  <a:close/>
                  <a:moveTo>
                    <a:pt x="100012" y="114300"/>
                  </a:moveTo>
                  <a:lnTo>
                    <a:pt x="85725" y="114300"/>
                  </a:lnTo>
                  <a:lnTo>
                    <a:pt x="85725" y="85725"/>
                  </a:lnTo>
                  <a:lnTo>
                    <a:pt x="128588" y="85725"/>
                  </a:lnTo>
                  <a:lnTo>
                    <a:pt x="128588" y="157162"/>
                  </a:lnTo>
                  <a:lnTo>
                    <a:pt x="142875" y="157162"/>
                  </a:lnTo>
                  <a:lnTo>
                    <a:pt x="142875" y="185738"/>
                  </a:lnTo>
                  <a:lnTo>
                    <a:pt x="100012" y="185738"/>
                  </a:lnTo>
                  <a:lnTo>
                    <a:pt x="100012" y="114300"/>
                  </a:lnTo>
                  <a:close/>
                  <a:moveTo>
                    <a:pt x="128588" y="71438"/>
                  </a:moveTo>
                  <a:lnTo>
                    <a:pt x="128588" y="42862"/>
                  </a:lnTo>
                  <a:lnTo>
                    <a:pt x="100012" y="42862"/>
                  </a:lnTo>
                  <a:lnTo>
                    <a:pt x="100012" y="71438"/>
                  </a:lnTo>
                  <a:lnTo>
                    <a:pt x="128588" y="71438"/>
                  </a:lnTo>
                  <a:close/>
                </a:path>
              </a:pathLst>
            </a:custGeom>
            <a:solidFill>
              <a:srgbClr val="007583"/>
            </a:solidFill>
            <a:ln>
              <a:noFill/>
            </a:ln>
          </p:spPr>
        </p:sp>
        <p:sp>
          <p:nvSpPr>
            <p:cNvPr id="51" name="TextBox 51"/>
            <p:cNvSpPr txBox="1"/>
            <p:nvPr/>
          </p:nvSpPr>
          <p:spPr>
            <a:xfrm>
              <a:off x="1128712" y="5831681"/>
              <a:ext cx="5879306" cy="228600"/>
            </a:xfrm>
            <a:prstGeom prst="rect">
              <a:avLst/>
            </a:prstGeom>
            <a:noFill/>
            <a:ln>
              <a:noFill/>
            </a:ln>
          </p:spPr>
          <p:txBody>
            <a:bodyPr wrap="none" lIns="0" tIns="0" rIns="0" bIns="0" anchor="t" anchorCtr="0">
              <a:spAutoFit/>
            </a:bodyPr>
            <a:lstStyle/>
            <a:p>
              <a:pPr algn="l"/>
              <a:r>
                <a:rPr lang="zh-CN" sz="1125" b="1" dirty="0">
                  <a:solidFill>
                    <a:srgbClr val="007583"/>
                  </a:solidFill>
                  <a:latin typeface="Manrope"/>
                  <a:ea typeface="Microsoft JhengHei"/>
                  <a:cs typeface="Manrope"/>
                </a:rPr>
                <a:t>主管視角說明：</a:t>
              </a:r>
              <a:r>
                <a:rPr lang="zh-CN" sz="1125" dirty="0">
                  <a:solidFill>
                    <a:srgbClr val="171C24"/>
                  </a:solidFill>
                  <a:latin typeface="Manrope"/>
                  <a:ea typeface="Microsoft JhengHei"/>
                  <a:cs typeface="Manrope"/>
                </a:rPr>
                <a:t>會後發布遲延與冗長紀錄形成高摩擦，使資訊流失在文件內無協作價值。</a:t>
              </a:r>
            </a:p>
          </p:txBody>
        </p:sp>
      </p:grpSp>
      <p:sp>
        <p:nvSpPr>
          <p:cNvPr id="53" name="TextBox 53"/>
          <p:cNvSpPr txBox="1"/>
          <p:nvPr/>
        </p:nvSpPr>
        <p:spPr>
          <a:xfrm>
            <a:off x="598170" y="6475095"/>
            <a:ext cx="2579179" cy="182880"/>
          </a:xfrm>
          <a:prstGeom prst="rect">
            <a:avLst/>
          </a:prstGeom>
          <a:noFill/>
          <a:ln>
            <a:noFill/>
          </a:ln>
        </p:spPr>
        <p:txBody>
          <a:bodyPr wrap="none" lIns="0" tIns="0" rIns="0" bIns="0" anchor="t" anchorCtr="0">
            <a:spAutoFit/>
          </a:bodyPr>
          <a:lstStyle/>
          <a:p>
            <a:pPr algn="l"/>
            <a:r>
              <a:rPr lang="zh-CN" sz="900" dirty="0">
                <a:solidFill>
                  <a:srgbClr val="525864"/>
                </a:solidFill>
                <a:latin typeface="Manrope"/>
                <a:ea typeface="Microsoft JhengHei"/>
                <a:cs typeface="Manrope"/>
              </a:rPr>
              <a:t>PM PROPOSAL &amp; METRICS EDUCATION · PAGE 12</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400"/>
                                        <p:tgtEl>
                                          <p:spTgt spid="2"/>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slide(fromBottom)">
                                      <p:cBhvr>
                                        <p:cTn id="11" dur="400"/>
                                        <p:tgtEl>
                                          <p:spTgt spid="3"/>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image">
                                      <p:cBhvr>
                                        <p:cTn id="15" dur="400"/>
                                        <p:tgtEl>
                                          <p:spTgt spid="4"/>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48"/>
                                        </p:tgtEl>
                                        <p:attrNameLst>
                                          <p:attrName>style.visibility</p:attrName>
                                        </p:attrNameLst>
                                      </p:cBhvr>
                                      <p:to>
                                        <p:strVal val="visible"/>
                                      </p:to>
                                    </p:set>
                                    <p:animEffect transition="in" filter="fade">
                                      <p:cBhvr>
                                        <p:cTn id="19" dur="400"/>
                                        <p:tgtEl>
                                          <p:spTgt spid="48"/>
                                        </p:tgtEl>
                                      </p:cBhvr>
                                    </p:animEffect>
                                  </p:childTnLst>
                                </p:cTn>
                              </p:par>
                            </p:childTnLst>
                          </p:cTn>
                        </p:par>
                        <p:par>
                          <p:cTn id="20" fill="hold">
                            <p:stCondLst>
                              <p:cond delay="3600"/>
                            </p:stCondLst>
                            <p:childTnLst>
                              <p:par>
                                <p:cTn id="21" presetID="22" presetClass="entr" presetSubtype="1" fill="hold" nodeType="afterEffect">
                                  <p:stCondLst>
                                    <p:cond delay="0"/>
                                  </p:stCondLst>
                                  <p:childTnLst>
                                    <p:set>
                                      <p:cBhvr>
                                        <p:cTn id="22" dur="1" fill="hold">
                                          <p:stCondLst>
                                            <p:cond delay="0"/>
                                          </p:stCondLst>
                                        </p:cTn>
                                        <p:tgtEl>
                                          <p:spTgt spid="52"/>
                                        </p:tgtEl>
                                        <p:attrNameLst>
                                          <p:attrName>style.visibility</p:attrName>
                                        </p:attrNameLst>
                                      </p:cBhvr>
                                      <p:to>
                                        <p:strVal val="visible"/>
                                      </p:to>
                                    </p:set>
                                    <p:animEffect transition="in" filter="wipe(left)">
                                      <p:cBhvr>
                                        <p:cTn id="23" dur="400"/>
                                        <p:tgtEl>
                                          <p:spTgt spid="52"/>
                                        </p:tgtEl>
                                      </p:cBhvr>
                                    </p:animEffect>
                                  </p:childTnLst>
                                </p:cTn>
                              </p:par>
                            </p:childTnLst>
                          </p:cTn>
                        </p:par>
                        <p:par>
                          <p:cTn id="24" fill="hold">
                            <p:stCondLst>
                              <p:cond delay="4500"/>
                            </p:stCondLst>
                            <p:childTnLst>
                              <p:par>
                                <p:cTn id="25" presetID="2" presetClass="entr" presetSubtype="4" fill="hold" nodeType="afterEffect">
                                  <p:stCondLst>
                                    <p:cond delay="0"/>
                                  </p:stCondLst>
                                  <p:childTnLst>
                                    <p:set>
                                      <p:cBhvr>
                                        <p:cTn id="26" dur="1" fill="hold">
                                          <p:stCondLst>
                                            <p:cond delay="0"/>
                                          </p:stCondLst>
                                        </p:cTn>
                                        <p:tgtEl>
                                          <p:spTgt spid="53"/>
                                        </p:tgtEl>
                                        <p:attrNameLst>
                                          <p:attrName>style.visibility</p:attrName>
                                        </p:attrNameLst>
                                      </p:cBhvr>
                                      <p:to>
                                        <p:strVal val="visible"/>
                                      </p:to>
                                    </p:set>
                                    <p:animEffect transition="in" filter="slide(fromBottom)">
                                      <p:cBhvr>
                                        <p:cTn id="27" dur="4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48" grpId="0"/>
      <p:bldP spid="52" grpId="0"/>
      <p:bldP spid="5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DFCF9"/>
          </a:solidFill>
          <a:ln>
            <a:noFill/>
          </a:ln>
        </p:spPr>
      </p:sp>
      <p:sp>
        <p:nvSpPr>
          <p:cNvPr id="3" name="TextBox 3"/>
          <p:cNvSpPr txBox="1"/>
          <p:nvPr/>
        </p:nvSpPr>
        <p:spPr>
          <a:xfrm>
            <a:off x="596265" y="648652"/>
            <a:ext cx="2981739" cy="213360"/>
          </a:xfrm>
          <a:prstGeom prst="rect">
            <a:avLst/>
          </a:prstGeom>
          <a:noFill/>
          <a:ln>
            <a:noFill/>
          </a:ln>
        </p:spPr>
        <p:txBody>
          <a:bodyPr wrap="none" lIns="0" tIns="0" rIns="0" bIns="0" anchor="t" anchorCtr="0">
            <a:spAutoFit/>
          </a:bodyPr>
          <a:lstStyle/>
          <a:p>
            <a:pPr algn="l"/>
            <a:r>
              <a:rPr lang="zh-CN" sz="1050" b="1" dirty="0">
                <a:solidFill>
                  <a:srgbClr val="007583"/>
                </a:solidFill>
                <a:latin typeface="Plus Jakarta Sans"/>
                <a:ea typeface="Microsoft JhengHei"/>
                <a:cs typeface="Plus Jakarta Sans"/>
              </a:rPr>
              <a:t>APPENDIX 01: NOTION AI MEETING ASSISTANT</a:t>
            </a:r>
          </a:p>
        </p:txBody>
      </p:sp>
      <p:sp>
        <p:nvSpPr>
          <p:cNvPr id="4" name="TextBox 4"/>
          <p:cNvSpPr txBox="1"/>
          <p:nvPr/>
        </p:nvSpPr>
        <p:spPr>
          <a:xfrm>
            <a:off x="582930" y="916305"/>
            <a:ext cx="5934075" cy="426720"/>
          </a:xfrm>
          <a:prstGeom prst="rect">
            <a:avLst/>
          </a:prstGeom>
          <a:noFill/>
          <a:ln>
            <a:noFill/>
          </a:ln>
        </p:spPr>
        <p:txBody>
          <a:bodyPr wrap="none" lIns="0" tIns="0" rIns="0" bIns="0" anchor="t" anchorCtr="0">
            <a:spAutoFit/>
          </a:bodyPr>
          <a:lstStyle/>
          <a:p>
            <a:pPr algn="l"/>
            <a:r>
              <a:rPr lang="zh-CN" sz="2100" b="1" dirty="0">
                <a:solidFill>
                  <a:srgbClr val="171C24"/>
                </a:solidFill>
                <a:latin typeface="Plus Jakarta Sans"/>
                <a:ea typeface="Microsoft JhengHei"/>
                <a:cs typeface="Plus Jakarta Sans"/>
              </a:rPr>
              <a:t>專案經理省下整理紀錄時間才能專注推動專案</a:t>
            </a:r>
          </a:p>
        </p:txBody>
      </p:sp>
      <p:grpSp>
        <p:nvGrpSpPr>
          <p:cNvPr id="31" name="Group 31"/>
          <p:cNvGrpSpPr/>
          <p:nvPr/>
        </p:nvGrpSpPr>
        <p:grpSpPr>
          <a:xfrm>
            <a:off x="609600" y="1619250"/>
            <a:ext cx="10972800" cy="3810000"/>
            <a:chOff x="609600" y="1619250"/>
            <a:chExt cx="10972800" cy="3810000"/>
          </a:xfrm>
        </p:grpSpPr>
        <p:grpSp>
          <p:nvGrpSpPr>
            <p:cNvPr id="17" name="Group 17"/>
            <p:cNvGrpSpPr/>
            <p:nvPr/>
          </p:nvGrpSpPr>
          <p:grpSpPr>
            <a:xfrm>
              <a:off x="609600" y="1619250"/>
              <a:ext cx="5143500" cy="3810000"/>
              <a:chOff x="609600" y="1619250"/>
              <a:chExt cx="5143500" cy="3810000"/>
            </a:xfrm>
          </p:grpSpPr>
          <p:sp>
            <p:nvSpPr>
              <p:cNvPr id="5" name="Rectangle 5"/>
              <p:cNvSpPr/>
              <p:nvPr/>
            </p:nvSpPr>
            <p:spPr>
              <a:xfrm>
                <a:off x="609600" y="1619250"/>
                <a:ext cx="5143500" cy="3810000"/>
              </a:xfrm>
              <a:prstGeom prst="roundRect">
                <a:avLst>
                  <a:gd name="adj" fmla="val 4000"/>
                </a:avLst>
              </a:prstGeom>
              <a:solidFill>
                <a:srgbClr val="F3F2ED"/>
              </a:solidFill>
              <a:ln w="14288">
                <a:solidFill>
                  <a:srgbClr val="E5E3DE"/>
                </a:solidFill>
              </a:ln>
            </p:spPr>
          </p:sp>
          <p:sp>
            <p:nvSpPr>
              <p:cNvPr id="6" name="Rectangle 6"/>
              <p:cNvSpPr/>
              <p:nvPr/>
            </p:nvSpPr>
            <p:spPr>
              <a:xfrm>
                <a:off x="609600" y="1619250"/>
                <a:ext cx="76200" cy="3810000"/>
              </a:xfrm>
              <a:prstGeom prst="roundRect">
                <a:avLst>
                  <a:gd name="adj" fmla="val 50000"/>
                </a:avLst>
              </a:prstGeom>
              <a:solidFill>
                <a:srgbClr val="153166"/>
              </a:solidFill>
              <a:ln>
                <a:noFill/>
              </a:ln>
            </p:spPr>
          </p:sp>
          <p:sp>
            <p:nvSpPr>
              <p:cNvPr id="7" name="Freeform 7"/>
              <p:cNvSpPr/>
              <p:nvPr/>
            </p:nvSpPr>
            <p:spPr>
              <a:xfrm>
                <a:off x="914400" y="1938338"/>
                <a:ext cx="228600" cy="214312"/>
              </a:xfrm>
              <a:custGeom>
                <a:avLst/>
                <a:gdLst/>
                <a:ahLst/>
                <a:cxnLst/>
                <a:rect l="l" t="t" r="r" b="b"/>
                <a:pathLst>
                  <a:path w="228600" h="214312">
                    <a:moveTo>
                      <a:pt x="0" y="0"/>
                    </a:moveTo>
                    <a:lnTo>
                      <a:pt x="228600" y="0"/>
                    </a:lnTo>
                    <a:lnTo>
                      <a:pt x="228600" y="171450"/>
                    </a:lnTo>
                    <a:lnTo>
                      <a:pt x="157162" y="171450"/>
                    </a:lnTo>
                    <a:lnTo>
                      <a:pt x="114300" y="214312"/>
                    </a:lnTo>
                    <a:lnTo>
                      <a:pt x="71438" y="171450"/>
                    </a:lnTo>
                    <a:lnTo>
                      <a:pt x="0" y="171450"/>
                    </a:lnTo>
                    <a:lnTo>
                      <a:pt x="0" y="0"/>
                    </a:lnTo>
                    <a:close/>
                  </a:path>
                </a:pathLst>
              </a:custGeom>
              <a:solidFill>
                <a:srgbClr val="153166"/>
              </a:solidFill>
              <a:ln>
                <a:noFill/>
              </a:ln>
            </p:spPr>
          </p:sp>
          <p:sp>
            <p:nvSpPr>
              <p:cNvPr id="8" name="TextBox 8"/>
              <p:cNvSpPr txBox="1"/>
              <p:nvPr/>
            </p:nvSpPr>
            <p:spPr>
              <a:xfrm>
                <a:off x="1240155" y="1949768"/>
                <a:ext cx="2274220" cy="274320"/>
              </a:xfrm>
              <a:prstGeom prst="rect">
                <a:avLst/>
              </a:prstGeom>
              <a:noFill/>
              <a:ln>
                <a:noFill/>
              </a:ln>
            </p:spPr>
            <p:txBody>
              <a:bodyPr wrap="none" lIns="0" tIns="0" rIns="0" bIns="0" anchor="t" anchorCtr="0">
                <a:spAutoFit/>
              </a:bodyPr>
              <a:lstStyle/>
              <a:p>
                <a:pPr algn="l"/>
                <a:r>
                  <a:rPr lang="zh-CN" sz="1350" b="1" dirty="0">
                    <a:solidFill>
                      <a:srgbClr val="153166"/>
                    </a:solidFill>
                    <a:latin typeface="Plus Jakarta Sans"/>
                    <a:ea typeface="Microsoft JhengHei"/>
                    <a:cs typeface="Plus Jakarta Sans"/>
                  </a:rPr>
                  <a:t>USER STORY (使用者故事)</a:t>
                </a:r>
              </a:p>
            </p:txBody>
          </p:sp>
          <p:sp>
            <p:nvSpPr>
              <p:cNvPr id="9" name="Rectangle 9"/>
              <p:cNvSpPr/>
              <p:nvPr/>
            </p:nvSpPr>
            <p:spPr>
              <a:xfrm>
                <a:off x="914400" y="2381250"/>
                <a:ext cx="4533900" cy="2667000"/>
              </a:xfrm>
              <a:prstGeom prst="roundRect">
                <a:avLst>
                  <a:gd name="adj" fmla="val 2857"/>
                </a:avLst>
              </a:prstGeom>
              <a:solidFill>
                <a:srgbClr val="FFFFFF"/>
              </a:solidFill>
              <a:ln w="9525">
                <a:solidFill>
                  <a:srgbClr val="E5E3DE"/>
                </a:solidFill>
              </a:ln>
            </p:spPr>
          </p:sp>
          <p:sp>
            <p:nvSpPr>
              <p:cNvPr id="10" name="TextBox 10"/>
              <p:cNvSpPr txBox="1"/>
              <p:nvPr/>
            </p:nvSpPr>
            <p:spPr>
              <a:xfrm>
                <a:off x="1125855" y="2664142"/>
                <a:ext cx="724226" cy="274320"/>
              </a:xfrm>
              <a:prstGeom prst="rect">
                <a:avLst/>
              </a:prstGeom>
              <a:noFill/>
              <a:ln>
                <a:noFill/>
              </a:ln>
            </p:spPr>
            <p:txBody>
              <a:bodyPr wrap="none" lIns="0" tIns="0" rIns="0" bIns="0" anchor="t" anchorCtr="0">
                <a:spAutoFit/>
              </a:bodyPr>
              <a:lstStyle/>
              <a:p>
                <a:pPr algn="l"/>
                <a:r>
                  <a:rPr lang="zh-CN" sz="1350" b="1" dirty="0">
                    <a:solidFill>
                      <a:srgbClr val="00969D"/>
                    </a:solidFill>
                    <a:latin typeface="Manrope"/>
                    <a:ea typeface="Microsoft JhengHei"/>
                    <a:cs typeface="Manrope"/>
                  </a:rPr>
                  <a:t>身為...</a:t>
                </a:r>
              </a:p>
            </p:txBody>
          </p:sp>
          <p:sp>
            <p:nvSpPr>
              <p:cNvPr id="11" name="TextBox 11"/>
              <p:cNvSpPr txBox="1"/>
              <p:nvPr/>
            </p:nvSpPr>
            <p:spPr>
              <a:xfrm>
                <a:off x="1126808" y="2957989"/>
                <a:ext cx="1681591" cy="259080"/>
              </a:xfrm>
              <a:prstGeom prst="rect">
                <a:avLst/>
              </a:prstGeom>
              <a:noFill/>
              <a:ln>
                <a:noFill/>
              </a:ln>
            </p:spPr>
            <p:txBody>
              <a:bodyPr wrap="none" lIns="0" tIns="0" rIns="0" bIns="0" anchor="t" anchorCtr="0">
                <a:spAutoFit/>
              </a:bodyPr>
              <a:lstStyle/>
              <a:p>
                <a:pPr algn="l"/>
                <a:r>
                  <a:rPr lang="zh-CN" sz="1275" dirty="0">
                    <a:solidFill>
                      <a:srgbClr val="171C24"/>
                    </a:solidFill>
                    <a:latin typeface="Manrope"/>
                    <a:ea typeface="Microsoft JhengHei"/>
                    <a:cs typeface="Manrope"/>
                  </a:rPr>
                  <a:t>跨團隊專案經理 (PM)</a:t>
                </a:r>
              </a:p>
            </p:txBody>
          </p:sp>
          <p:sp>
            <p:nvSpPr>
              <p:cNvPr id="12" name="TextBox 12"/>
              <p:cNvSpPr txBox="1"/>
              <p:nvPr/>
            </p:nvSpPr>
            <p:spPr>
              <a:xfrm>
                <a:off x="1125855" y="3378518"/>
                <a:ext cx="913250" cy="274320"/>
              </a:xfrm>
              <a:prstGeom prst="rect">
                <a:avLst/>
              </a:prstGeom>
              <a:noFill/>
              <a:ln>
                <a:noFill/>
              </a:ln>
            </p:spPr>
            <p:txBody>
              <a:bodyPr wrap="none" lIns="0" tIns="0" rIns="0" bIns="0" anchor="t" anchorCtr="0">
                <a:spAutoFit/>
              </a:bodyPr>
              <a:lstStyle/>
              <a:p>
                <a:pPr algn="l"/>
                <a:r>
                  <a:rPr lang="zh-CN" sz="1350" b="1" dirty="0">
                    <a:solidFill>
                      <a:srgbClr val="00969D"/>
                    </a:solidFill>
                    <a:latin typeface="Manrope"/>
                    <a:ea typeface="Microsoft JhengHei"/>
                    <a:cs typeface="Manrope"/>
                  </a:rPr>
                  <a:t>我想要...</a:t>
                </a:r>
              </a:p>
            </p:txBody>
          </p:sp>
          <p:sp>
            <p:nvSpPr>
              <p:cNvPr id="13" name="TextBox 13"/>
              <p:cNvSpPr txBox="1"/>
              <p:nvPr/>
            </p:nvSpPr>
            <p:spPr>
              <a:xfrm>
                <a:off x="1126808" y="3672364"/>
                <a:ext cx="3942874" cy="259080"/>
              </a:xfrm>
              <a:prstGeom prst="rect">
                <a:avLst/>
              </a:prstGeom>
              <a:noFill/>
              <a:ln>
                <a:noFill/>
              </a:ln>
            </p:spPr>
            <p:txBody>
              <a:bodyPr wrap="none" lIns="0" tIns="0" rIns="0" bIns="0" anchor="t" anchorCtr="0">
                <a:spAutoFit/>
              </a:bodyPr>
              <a:lstStyle/>
              <a:p>
                <a:pPr algn="l"/>
                <a:r>
                  <a:rPr lang="zh-CN" sz="1275" dirty="0">
                    <a:solidFill>
                      <a:srgbClr val="171C24"/>
                    </a:solidFill>
                    <a:latin typeface="Manrope"/>
                    <a:ea typeface="Microsoft JhengHei"/>
                    <a:cs typeface="Manrope"/>
                  </a:rPr>
                  <a:t>在會議結束後一鍵生成結構化的會議摘要與追蹤任務</a:t>
                </a:r>
              </a:p>
            </p:txBody>
          </p:sp>
          <p:sp>
            <p:nvSpPr>
              <p:cNvPr id="14" name="TextBox 14"/>
              <p:cNvSpPr txBox="1"/>
              <p:nvPr/>
            </p:nvSpPr>
            <p:spPr>
              <a:xfrm>
                <a:off x="1125855" y="4092892"/>
                <a:ext cx="913250" cy="274320"/>
              </a:xfrm>
              <a:prstGeom prst="rect">
                <a:avLst/>
              </a:prstGeom>
              <a:noFill/>
              <a:ln>
                <a:noFill/>
              </a:ln>
            </p:spPr>
            <p:txBody>
              <a:bodyPr wrap="none" lIns="0" tIns="0" rIns="0" bIns="0" anchor="t" anchorCtr="0">
                <a:spAutoFit/>
              </a:bodyPr>
              <a:lstStyle/>
              <a:p>
                <a:pPr algn="l"/>
                <a:r>
                  <a:rPr lang="zh-CN" sz="1350" b="1" dirty="0">
                    <a:solidFill>
                      <a:srgbClr val="00969D"/>
                    </a:solidFill>
                    <a:latin typeface="Manrope"/>
                    <a:ea typeface="Microsoft JhengHei"/>
                    <a:cs typeface="Manrope"/>
                  </a:rPr>
                  <a:t>以便能...</a:t>
                </a:r>
              </a:p>
            </p:txBody>
          </p:sp>
          <p:sp>
            <p:nvSpPr>
              <p:cNvPr id="15" name="TextBox 15"/>
              <p:cNvSpPr txBox="1"/>
              <p:nvPr/>
            </p:nvSpPr>
            <p:spPr>
              <a:xfrm>
                <a:off x="1128712" y="4402931"/>
                <a:ext cx="3801547" cy="228600"/>
              </a:xfrm>
              <a:prstGeom prst="rect">
                <a:avLst/>
              </a:prstGeom>
              <a:noFill/>
              <a:ln>
                <a:noFill/>
              </a:ln>
            </p:spPr>
            <p:txBody>
              <a:bodyPr wrap="none" lIns="0" tIns="0" rIns="0" bIns="0" anchor="t" anchorCtr="0">
                <a:spAutoFit/>
              </a:bodyPr>
              <a:lstStyle/>
              <a:p>
                <a:pPr algn="l"/>
                <a:r>
                  <a:rPr lang="zh-CN" sz="1125" dirty="0">
                    <a:solidFill>
                      <a:srgbClr val="171C24"/>
                    </a:solidFill>
                    <a:latin typeface="Manrope"/>
                    <a:ea typeface="Microsoft JhengHei"/>
                    <a:cs typeface="Manrope"/>
                  </a:rPr>
                  <a:t>在會後黃金 10 分鐘內立即發布（保持 Context 鮮活），</a:t>
                </a:r>
              </a:p>
            </p:txBody>
          </p:sp>
          <p:sp>
            <p:nvSpPr>
              <p:cNvPr id="16" name="TextBox 16"/>
              <p:cNvSpPr txBox="1"/>
              <p:nvPr/>
            </p:nvSpPr>
            <p:spPr>
              <a:xfrm>
                <a:off x="1128712" y="4641056"/>
                <a:ext cx="3929062" cy="228600"/>
              </a:xfrm>
              <a:prstGeom prst="rect">
                <a:avLst/>
              </a:prstGeom>
              <a:noFill/>
              <a:ln>
                <a:noFill/>
              </a:ln>
            </p:spPr>
            <p:txBody>
              <a:bodyPr wrap="none" lIns="0" tIns="0" rIns="0" bIns="0" anchor="t" anchorCtr="0">
                <a:spAutoFit/>
              </a:bodyPr>
              <a:lstStyle/>
              <a:p>
                <a:pPr algn="l"/>
                <a:r>
                  <a:rPr lang="zh-CN" sz="1125" dirty="0">
                    <a:solidFill>
                      <a:srgbClr val="171C24"/>
                    </a:solidFill>
                    <a:latin typeface="Manrope"/>
                    <a:ea typeface="Microsoft JhengHei"/>
                    <a:cs typeface="Manrope"/>
                  </a:rPr>
                  <a:t>並附結構化行動清單，徹底移除團隊點開瀏覽的心理門檻。</a:t>
                </a:r>
              </a:p>
            </p:txBody>
          </p:sp>
        </p:grpSp>
        <p:grpSp>
          <p:nvGrpSpPr>
            <p:cNvPr id="30" name="Group 30"/>
            <p:cNvGrpSpPr/>
            <p:nvPr/>
          </p:nvGrpSpPr>
          <p:grpSpPr>
            <a:xfrm>
              <a:off x="6115050" y="1838325"/>
              <a:ext cx="5467350" cy="2688431"/>
              <a:chOff x="6115050" y="1838325"/>
              <a:chExt cx="5467350" cy="2688431"/>
            </a:xfrm>
          </p:grpSpPr>
          <p:sp>
            <p:nvSpPr>
              <p:cNvPr id="18" name="TextBox 18"/>
              <p:cNvSpPr txBox="1"/>
              <p:nvPr/>
            </p:nvSpPr>
            <p:spPr>
              <a:xfrm>
                <a:off x="6115050" y="1838325"/>
                <a:ext cx="1508284" cy="304800"/>
              </a:xfrm>
              <a:prstGeom prst="rect">
                <a:avLst/>
              </a:prstGeom>
              <a:noFill/>
              <a:ln>
                <a:noFill/>
              </a:ln>
            </p:spPr>
            <p:txBody>
              <a:bodyPr wrap="none" lIns="0" tIns="0" rIns="0" bIns="0" anchor="t" anchorCtr="0">
                <a:spAutoFit/>
              </a:bodyPr>
              <a:lstStyle/>
              <a:p>
                <a:pPr algn="l"/>
                <a:r>
                  <a:rPr lang="zh-CN" sz="1500" b="1" dirty="0">
                    <a:solidFill>
                      <a:srgbClr val="153166"/>
                    </a:solidFill>
                    <a:latin typeface="Plus Jakarta Sans"/>
                    <a:ea typeface="Microsoft JhengHei"/>
                    <a:cs typeface="Plus Jakarta Sans"/>
                  </a:rPr>
                  <a:t>痛點與脈絡說明</a:t>
                </a:r>
              </a:p>
            </p:txBody>
          </p:sp>
          <p:sp>
            <p:nvSpPr>
              <p:cNvPr id="19" name="Line 19"/>
              <p:cNvSpPr/>
              <p:nvPr/>
            </p:nvSpPr>
            <p:spPr>
              <a:xfrm>
                <a:off x="6134100" y="2190750"/>
                <a:ext cx="5448300" cy="9525"/>
              </a:xfrm>
              <a:custGeom>
                <a:avLst/>
                <a:gdLst/>
                <a:ahLst/>
                <a:cxnLst/>
                <a:rect l="l" t="t" r="r" b="b"/>
                <a:pathLst>
                  <a:path w="5448300" h="9525">
                    <a:moveTo>
                      <a:pt x="0" y="0"/>
                    </a:moveTo>
                    <a:lnTo>
                      <a:pt x="5448300" y="0"/>
                    </a:lnTo>
                  </a:path>
                </a:pathLst>
              </a:custGeom>
              <a:noFill/>
              <a:ln w="14288">
                <a:solidFill>
                  <a:srgbClr val="E5E3DE"/>
                </a:solidFill>
              </a:ln>
            </p:spPr>
          </p:sp>
          <p:grpSp>
            <p:nvGrpSpPr>
              <p:cNvPr id="24" name="Group 24"/>
              <p:cNvGrpSpPr/>
              <p:nvPr/>
            </p:nvGrpSpPr>
            <p:grpSpPr>
              <a:xfrm>
                <a:off x="6191250" y="2502218"/>
                <a:ext cx="3712368" cy="786288"/>
                <a:chOff x="6191250" y="2502218"/>
                <a:chExt cx="3712368" cy="786288"/>
              </a:xfrm>
            </p:grpSpPr>
            <p:sp>
              <p:nvSpPr>
                <p:cNvPr id="20" name="Ellipse 20"/>
                <p:cNvSpPr/>
                <p:nvPr/>
              </p:nvSpPr>
              <p:spPr>
                <a:xfrm>
                  <a:off x="6191250" y="2533650"/>
                  <a:ext cx="114300" cy="114300"/>
                </a:xfrm>
                <a:prstGeom prst="ellipse">
                  <a:avLst/>
                </a:prstGeom>
                <a:solidFill>
                  <a:srgbClr val="B91C1C"/>
                </a:solidFill>
                <a:ln>
                  <a:noFill/>
                </a:ln>
              </p:spPr>
            </p:sp>
            <p:sp>
              <p:nvSpPr>
                <p:cNvPr id="21" name="TextBox 21"/>
                <p:cNvSpPr txBox="1"/>
                <p:nvPr/>
              </p:nvSpPr>
              <p:spPr>
                <a:xfrm>
                  <a:off x="6421755" y="2502218"/>
                  <a:ext cx="2699523" cy="274320"/>
                </a:xfrm>
                <a:prstGeom prst="rect">
                  <a:avLst/>
                </a:prstGeom>
                <a:noFill/>
                <a:ln>
                  <a:noFill/>
                </a:ln>
              </p:spPr>
              <p:txBody>
                <a:bodyPr wrap="none" lIns="0" tIns="0" rIns="0" bIns="0" anchor="t" anchorCtr="0">
                  <a:spAutoFit/>
                </a:bodyPr>
                <a:lstStyle/>
                <a:p>
                  <a:pPr algn="l"/>
                  <a:r>
                    <a:rPr lang="zh-CN" sz="1350" b="1" dirty="0">
                      <a:solidFill>
                        <a:srgbClr val="171C24"/>
                      </a:solidFill>
                      <a:latin typeface="Manrope"/>
                      <a:ea typeface="Microsoft JhengHei"/>
                      <a:cs typeface="Manrope"/>
                    </a:rPr>
                    <a:t>黃金 10 分鐘即時發布 (新鮮度)</a:t>
                  </a:r>
                </a:p>
              </p:txBody>
            </p:sp>
            <p:sp>
              <p:nvSpPr>
                <p:cNvPr id="22" name="TextBox 22"/>
                <p:cNvSpPr txBox="1"/>
                <p:nvPr/>
              </p:nvSpPr>
              <p:spPr>
                <a:xfrm>
                  <a:off x="6424612" y="2812256"/>
                  <a:ext cx="3479006" cy="228600"/>
                </a:xfrm>
                <a:prstGeom prst="rect">
                  <a:avLst/>
                </a:prstGeom>
                <a:noFill/>
                <a:ln>
                  <a:noFill/>
                </a:ln>
              </p:spPr>
              <p:txBody>
                <a:bodyPr wrap="none" lIns="0" tIns="0" rIns="0" bIns="0" anchor="t" anchorCtr="0">
                  <a:spAutoFit/>
                </a:bodyPr>
                <a:lstStyle/>
                <a:p>
                  <a:pPr algn="l"/>
                  <a:r>
                    <a:rPr lang="zh-CN" sz="1125" dirty="0">
                      <a:solidFill>
                        <a:srgbClr val="525864"/>
                      </a:solidFill>
                      <a:latin typeface="Manrope"/>
                      <a:ea typeface="Microsoft JhengHei"/>
                      <a:cs typeface="Manrope"/>
                    </a:rPr>
                    <a:t>會後立即一鍵產出發布，此時團隊的記憶與工作脈絡</a:t>
                  </a:r>
                </a:p>
              </p:txBody>
            </p:sp>
            <p:sp>
              <p:nvSpPr>
                <p:cNvPr id="23" name="TextBox 23"/>
                <p:cNvSpPr txBox="1"/>
                <p:nvPr/>
              </p:nvSpPr>
              <p:spPr>
                <a:xfrm>
                  <a:off x="6424612" y="3059906"/>
                  <a:ext cx="2728912" cy="228600"/>
                </a:xfrm>
                <a:prstGeom prst="rect">
                  <a:avLst/>
                </a:prstGeom>
                <a:noFill/>
                <a:ln>
                  <a:noFill/>
                </a:ln>
              </p:spPr>
              <p:txBody>
                <a:bodyPr wrap="none" lIns="0" tIns="0" rIns="0" bIns="0" anchor="t" anchorCtr="0">
                  <a:spAutoFit/>
                </a:bodyPr>
                <a:lstStyle/>
                <a:p>
                  <a:pPr algn="l"/>
                  <a:r>
                    <a:rPr lang="zh-CN" sz="1125" dirty="0">
                      <a:solidFill>
                        <a:srgbClr val="525864"/>
                      </a:solidFill>
                      <a:latin typeface="Manrope"/>
                      <a:ea typeface="Microsoft JhengHei"/>
                      <a:cs typeface="Manrope"/>
                    </a:rPr>
                    <a:t>依然鮮活，回頭對齊與點閱的意願最高。</a:t>
                  </a:r>
                </a:p>
              </p:txBody>
            </p:sp>
          </p:grpSp>
          <p:grpSp>
            <p:nvGrpSpPr>
              <p:cNvPr id="29" name="Group 29"/>
              <p:cNvGrpSpPr/>
              <p:nvPr/>
            </p:nvGrpSpPr>
            <p:grpSpPr>
              <a:xfrm>
                <a:off x="6191250" y="3740468"/>
                <a:ext cx="3712368" cy="786288"/>
                <a:chOff x="6191250" y="3740468"/>
                <a:chExt cx="3712368" cy="786288"/>
              </a:xfrm>
            </p:grpSpPr>
            <p:sp>
              <p:nvSpPr>
                <p:cNvPr id="25" name="Ellipse 25"/>
                <p:cNvSpPr/>
                <p:nvPr/>
              </p:nvSpPr>
              <p:spPr>
                <a:xfrm>
                  <a:off x="6191250" y="3771900"/>
                  <a:ext cx="114300" cy="114300"/>
                </a:xfrm>
                <a:prstGeom prst="ellipse">
                  <a:avLst/>
                </a:prstGeom>
                <a:solidFill>
                  <a:srgbClr val="00969D"/>
                </a:solidFill>
                <a:ln>
                  <a:noFill/>
                </a:ln>
              </p:spPr>
            </p:sp>
            <p:sp>
              <p:nvSpPr>
                <p:cNvPr id="26" name="TextBox 26"/>
                <p:cNvSpPr txBox="1"/>
                <p:nvPr/>
              </p:nvSpPr>
              <p:spPr>
                <a:xfrm>
                  <a:off x="6421755" y="3740468"/>
                  <a:ext cx="2378183" cy="274320"/>
                </a:xfrm>
                <a:prstGeom prst="rect">
                  <a:avLst/>
                </a:prstGeom>
                <a:noFill/>
                <a:ln>
                  <a:noFill/>
                </a:ln>
              </p:spPr>
              <p:txBody>
                <a:bodyPr wrap="none" lIns="0" tIns="0" rIns="0" bIns="0" anchor="t" anchorCtr="0">
                  <a:spAutoFit/>
                </a:bodyPr>
                <a:lstStyle/>
                <a:p>
                  <a:pPr algn="l"/>
                  <a:r>
                    <a:rPr lang="zh-CN" sz="1350" b="1" dirty="0">
                      <a:solidFill>
                        <a:srgbClr val="171C24"/>
                      </a:solidFill>
                      <a:latin typeface="Manrope"/>
                      <a:ea typeface="Microsoft JhengHei"/>
                      <a:cs typeface="Manrope"/>
                    </a:rPr>
                    <a:t>結構化行動清單 (低摩擦力)</a:t>
                  </a:r>
                </a:p>
              </p:txBody>
            </p:sp>
            <p:sp>
              <p:nvSpPr>
                <p:cNvPr id="27" name="TextBox 27"/>
                <p:cNvSpPr txBox="1"/>
                <p:nvPr/>
              </p:nvSpPr>
              <p:spPr>
                <a:xfrm>
                  <a:off x="6424612" y="4050506"/>
                  <a:ext cx="3479006" cy="228600"/>
                </a:xfrm>
                <a:prstGeom prst="rect">
                  <a:avLst/>
                </a:prstGeom>
                <a:noFill/>
                <a:ln>
                  <a:noFill/>
                </a:ln>
              </p:spPr>
              <p:txBody>
                <a:bodyPr wrap="none" lIns="0" tIns="0" rIns="0" bIns="0" anchor="t" anchorCtr="0">
                  <a:spAutoFit/>
                </a:bodyPr>
                <a:lstStyle/>
                <a:p>
                  <a:pPr algn="l"/>
                  <a:r>
                    <a:rPr lang="zh-CN" sz="1125" dirty="0">
                      <a:solidFill>
                        <a:srgbClr val="525864"/>
                      </a:solidFill>
                      <a:latin typeface="Manrope"/>
                      <a:ea typeface="Microsoft JhengHei"/>
                      <a:cs typeface="Manrope"/>
                    </a:rPr>
                    <a:t>自動提煉簡明要點與行動清單，極度好讀，徹底免除</a:t>
                  </a:r>
                </a:p>
              </p:txBody>
            </p:sp>
            <p:sp>
              <p:nvSpPr>
                <p:cNvPr id="28" name="TextBox 28"/>
                <p:cNvSpPr txBox="1"/>
                <p:nvPr/>
              </p:nvSpPr>
              <p:spPr>
                <a:xfrm>
                  <a:off x="6424612" y="4298156"/>
                  <a:ext cx="2878931" cy="228600"/>
                </a:xfrm>
                <a:prstGeom prst="rect">
                  <a:avLst/>
                </a:prstGeom>
                <a:noFill/>
                <a:ln>
                  <a:noFill/>
                </a:ln>
              </p:spPr>
              <p:txBody>
                <a:bodyPr wrap="none" lIns="0" tIns="0" rIns="0" bIns="0" anchor="t" anchorCtr="0">
                  <a:spAutoFit/>
                </a:bodyPr>
                <a:lstStyle/>
                <a:p>
                  <a:pPr algn="l"/>
                  <a:r>
                    <a:rPr lang="zh-CN" sz="1125" dirty="0">
                      <a:solidFill>
                        <a:srgbClr val="525864"/>
                      </a:solidFill>
                      <a:latin typeface="Manrope"/>
                      <a:ea typeface="Microsoft JhengHei"/>
                      <a:cs typeface="Manrope"/>
                    </a:rPr>
                    <a:t>點開瀏覽手動整理長篇流水帳的心理門檻。</a:t>
                  </a:r>
                </a:p>
              </p:txBody>
            </p:sp>
          </p:grpSp>
        </p:grpSp>
      </p:grpSp>
      <p:grpSp>
        <p:nvGrpSpPr>
          <p:cNvPr id="35" name="Group 35"/>
          <p:cNvGrpSpPr/>
          <p:nvPr/>
        </p:nvGrpSpPr>
        <p:grpSpPr>
          <a:xfrm>
            <a:off x="609600" y="5619750"/>
            <a:ext cx="10972800" cy="571500"/>
            <a:chOff x="609600" y="5619750"/>
            <a:chExt cx="10972800" cy="571500"/>
          </a:xfrm>
        </p:grpSpPr>
        <p:sp>
          <p:nvSpPr>
            <p:cNvPr id="32" name="Rectangle 32"/>
            <p:cNvSpPr/>
            <p:nvPr/>
          </p:nvSpPr>
          <p:spPr>
            <a:xfrm>
              <a:off x="609600" y="5619750"/>
              <a:ext cx="10972800" cy="571500"/>
            </a:xfrm>
            <a:prstGeom prst="roundRect">
              <a:avLst>
                <a:gd name="adj" fmla="val 13333"/>
              </a:avLst>
            </a:prstGeom>
            <a:solidFill>
              <a:srgbClr val="F3F2ED"/>
            </a:solidFill>
            <a:ln>
              <a:noFill/>
            </a:ln>
          </p:spPr>
        </p:sp>
        <p:sp>
          <p:nvSpPr>
            <p:cNvPr id="33" name="Freeform 33"/>
            <p:cNvSpPr/>
            <p:nvPr/>
          </p:nvSpPr>
          <p:spPr>
            <a:xfrm>
              <a:off x="800100" y="5791200"/>
              <a:ext cx="228600" cy="228600"/>
            </a:xfrm>
            <a:custGeom>
              <a:avLst/>
              <a:gdLst/>
              <a:ahLst/>
              <a:cxnLst/>
              <a:rect l="l" t="t" r="r" b="b"/>
              <a:pathLst>
                <a:path w="228600" h="228600">
                  <a:moveTo>
                    <a:pt x="228600" y="114300"/>
                  </a:moveTo>
                  <a:cubicBezTo>
                    <a:pt x="228600" y="177426"/>
                    <a:pt x="177426" y="228600"/>
                    <a:pt x="114300" y="228600"/>
                  </a:cubicBezTo>
                  <a:cubicBezTo>
                    <a:pt x="51174" y="228600"/>
                    <a:pt x="0" y="177426"/>
                    <a:pt x="0" y="114300"/>
                  </a:cubicBezTo>
                  <a:cubicBezTo>
                    <a:pt x="0" y="51174"/>
                    <a:pt x="51174" y="0"/>
                    <a:pt x="114300" y="0"/>
                  </a:cubicBezTo>
                  <a:cubicBezTo>
                    <a:pt x="177426" y="0"/>
                    <a:pt x="228600" y="51174"/>
                    <a:pt x="228600" y="114300"/>
                  </a:cubicBezTo>
                  <a:close/>
                  <a:moveTo>
                    <a:pt x="100012" y="114300"/>
                  </a:moveTo>
                  <a:lnTo>
                    <a:pt x="85725" y="114300"/>
                  </a:lnTo>
                  <a:lnTo>
                    <a:pt x="85725" y="85725"/>
                  </a:lnTo>
                  <a:lnTo>
                    <a:pt x="128588" y="85725"/>
                  </a:lnTo>
                  <a:lnTo>
                    <a:pt x="128588" y="157162"/>
                  </a:lnTo>
                  <a:lnTo>
                    <a:pt x="142875" y="157162"/>
                  </a:lnTo>
                  <a:lnTo>
                    <a:pt x="142875" y="185738"/>
                  </a:lnTo>
                  <a:lnTo>
                    <a:pt x="100012" y="185738"/>
                  </a:lnTo>
                  <a:lnTo>
                    <a:pt x="100012" y="114300"/>
                  </a:lnTo>
                  <a:close/>
                  <a:moveTo>
                    <a:pt x="128588" y="71438"/>
                  </a:moveTo>
                  <a:lnTo>
                    <a:pt x="128588" y="42862"/>
                  </a:lnTo>
                  <a:lnTo>
                    <a:pt x="100012" y="42862"/>
                  </a:lnTo>
                  <a:lnTo>
                    <a:pt x="100012" y="71438"/>
                  </a:lnTo>
                  <a:lnTo>
                    <a:pt x="128588" y="71438"/>
                  </a:lnTo>
                  <a:close/>
                </a:path>
              </a:pathLst>
            </a:custGeom>
            <a:solidFill>
              <a:srgbClr val="007583"/>
            </a:solidFill>
            <a:ln>
              <a:noFill/>
            </a:ln>
          </p:spPr>
        </p:sp>
        <p:sp>
          <p:nvSpPr>
            <p:cNvPr id="34" name="TextBox 34"/>
            <p:cNvSpPr txBox="1"/>
            <p:nvPr/>
          </p:nvSpPr>
          <p:spPr>
            <a:xfrm>
              <a:off x="1128712" y="5831681"/>
              <a:ext cx="6756916" cy="228600"/>
            </a:xfrm>
            <a:prstGeom prst="rect">
              <a:avLst/>
            </a:prstGeom>
            <a:noFill/>
            <a:ln>
              <a:noFill/>
            </a:ln>
          </p:spPr>
          <p:txBody>
            <a:bodyPr wrap="none" lIns="0" tIns="0" rIns="0" bIns="0" anchor="t" anchorCtr="0">
              <a:spAutoFit/>
            </a:bodyPr>
            <a:lstStyle/>
            <a:p>
              <a:pPr algn="l"/>
              <a:r>
                <a:rPr lang="zh-CN" sz="1125" b="1" dirty="0">
                  <a:solidFill>
                    <a:srgbClr val="007583"/>
                  </a:solidFill>
                  <a:latin typeface="Manrope"/>
                  <a:ea typeface="Microsoft JhengHei"/>
                  <a:cs typeface="Manrope"/>
                </a:rPr>
                <a:t>主管視角說明：</a:t>
              </a:r>
              <a:r>
                <a:rPr lang="zh-CN" sz="1125" dirty="0">
                  <a:solidFill>
                    <a:srgbClr val="171C24"/>
                  </a:solidFill>
                  <a:latin typeface="Manrope"/>
                  <a:ea typeface="Microsoft JhengHei"/>
                  <a:cs typeface="Manrope"/>
                </a:rPr>
                <a:t>快速產出的本質是搶占黃金 10 分鐘（Context 鮮活），並以結構清單掃除閱讀門檻。</a:t>
              </a:r>
            </a:p>
          </p:txBody>
        </p:sp>
      </p:grpSp>
      <p:sp>
        <p:nvSpPr>
          <p:cNvPr id="36" name="TextBox 36"/>
          <p:cNvSpPr txBox="1"/>
          <p:nvPr/>
        </p:nvSpPr>
        <p:spPr>
          <a:xfrm>
            <a:off x="598170" y="6475095"/>
            <a:ext cx="2579179" cy="182880"/>
          </a:xfrm>
          <a:prstGeom prst="rect">
            <a:avLst/>
          </a:prstGeom>
          <a:noFill/>
          <a:ln>
            <a:noFill/>
          </a:ln>
        </p:spPr>
        <p:txBody>
          <a:bodyPr wrap="none" lIns="0" tIns="0" rIns="0" bIns="0" anchor="t" anchorCtr="0">
            <a:spAutoFit/>
          </a:bodyPr>
          <a:lstStyle/>
          <a:p>
            <a:pPr algn="l"/>
            <a:r>
              <a:rPr lang="zh-CN" sz="900" dirty="0">
                <a:solidFill>
                  <a:srgbClr val="525864"/>
                </a:solidFill>
                <a:latin typeface="Manrope"/>
                <a:ea typeface="Microsoft JhengHei"/>
                <a:cs typeface="Manrope"/>
              </a:rPr>
              <a:t>PM PROPOSAL &amp; METRICS EDUCATION · PAGE 13</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image">
                                      <p:cBhvr>
                                        <p:cTn id="7" dur="400"/>
                                        <p:tgtEl>
                                          <p:spTgt spid="2"/>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400"/>
                                        <p:tgtEl>
                                          <p:spTgt spid="3"/>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400"/>
                                        <p:tgtEl>
                                          <p:spTgt spid="4"/>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slide(fromBottom)">
                                      <p:cBhvr>
                                        <p:cTn id="19" dur="400"/>
                                        <p:tgtEl>
                                          <p:spTgt spid="31"/>
                                        </p:tgtEl>
                                      </p:cBhvr>
                                    </p:animEffect>
                                  </p:childTnLst>
                                </p:cTn>
                              </p:par>
                            </p:childTnLst>
                          </p:cTn>
                        </p:par>
                        <p:par>
                          <p:cTn id="20" fill="hold">
                            <p:stCondLst>
                              <p:cond delay="3600"/>
                            </p:stCondLst>
                            <p:childTnLst>
                              <p:par>
                                <p:cTn id="21" presetID="23" presetClass="entr" presetSubtype="0" fill="hold" nodeType="afterEffect">
                                  <p:stCondLst>
                                    <p:cond delay="0"/>
                                  </p:stCondLst>
                                  <p:childTnLst>
                                    <p:set>
                                      <p:cBhvr>
                                        <p:cTn id="22" dur="1" fill="hold">
                                          <p:stCondLst>
                                            <p:cond delay="0"/>
                                          </p:stCondLst>
                                        </p:cTn>
                                        <p:tgtEl>
                                          <p:spTgt spid="35"/>
                                        </p:tgtEl>
                                        <p:attrNameLst>
                                          <p:attrName>style.visibility</p:attrName>
                                        </p:attrNameLst>
                                      </p:cBhvr>
                                      <p:to>
                                        <p:strVal val="visible"/>
                                      </p:to>
                                    </p:set>
                                    <p:animEffect transition="in" filter="image">
                                      <p:cBhvr>
                                        <p:cTn id="23" dur="400"/>
                                        <p:tgtEl>
                                          <p:spTgt spid="35"/>
                                        </p:tgtEl>
                                      </p:cBhvr>
                                    </p:animEffect>
                                  </p:childTnLst>
                                </p:cTn>
                              </p:par>
                            </p:childTnLst>
                          </p:cTn>
                        </p:par>
                        <p:par>
                          <p:cTn id="24" fill="hold">
                            <p:stCondLst>
                              <p:cond delay="4500"/>
                            </p:stCondLst>
                            <p:childTnLst>
                              <p:par>
                                <p:cTn id="25" presetID="10" presetClass="entr" presetSubtype="0" fill="hold" nodeType="after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fade">
                                      <p:cBhvr>
                                        <p:cTn id="27"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31" grpId="0"/>
      <p:bldP spid="35" grpId="0"/>
      <p:bldP spid="3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DFCF9"/>
          </a:solidFill>
          <a:ln>
            <a:noFill/>
          </a:ln>
        </p:spPr>
      </p:sp>
      <p:sp>
        <p:nvSpPr>
          <p:cNvPr id="3" name="TextBox 3"/>
          <p:cNvSpPr txBox="1"/>
          <p:nvPr/>
        </p:nvSpPr>
        <p:spPr>
          <a:xfrm>
            <a:off x="596265" y="648652"/>
            <a:ext cx="2981739" cy="213360"/>
          </a:xfrm>
          <a:prstGeom prst="rect">
            <a:avLst/>
          </a:prstGeom>
          <a:noFill/>
          <a:ln>
            <a:noFill/>
          </a:ln>
        </p:spPr>
        <p:txBody>
          <a:bodyPr wrap="none" lIns="0" tIns="0" rIns="0" bIns="0" anchor="t" anchorCtr="0">
            <a:spAutoFit/>
          </a:bodyPr>
          <a:lstStyle/>
          <a:p>
            <a:pPr algn="l"/>
            <a:r>
              <a:rPr lang="zh-CN" sz="1050" b="1" dirty="0">
                <a:solidFill>
                  <a:srgbClr val="007583"/>
                </a:solidFill>
                <a:latin typeface="Plus Jakarta Sans"/>
                <a:ea typeface="Microsoft JhengHei"/>
                <a:cs typeface="Plus Jakarta Sans"/>
              </a:rPr>
              <a:t>APPENDIX 01: NOTION AI MEETING ASSISTANT</a:t>
            </a:r>
          </a:p>
        </p:txBody>
      </p:sp>
      <p:sp>
        <p:nvSpPr>
          <p:cNvPr id="4" name="TextBox 4"/>
          <p:cNvSpPr txBox="1"/>
          <p:nvPr/>
        </p:nvSpPr>
        <p:spPr>
          <a:xfrm>
            <a:off x="582930" y="916305"/>
            <a:ext cx="6522149" cy="426720"/>
          </a:xfrm>
          <a:prstGeom prst="rect">
            <a:avLst/>
          </a:prstGeom>
          <a:noFill/>
          <a:ln>
            <a:noFill/>
          </a:ln>
        </p:spPr>
        <p:txBody>
          <a:bodyPr wrap="none" lIns="0" tIns="0" rIns="0" bIns="0" anchor="t" anchorCtr="0">
            <a:spAutoFit/>
          </a:bodyPr>
          <a:lstStyle/>
          <a:p>
            <a:pPr algn="l"/>
            <a:r>
              <a:rPr lang="zh-CN" sz="2100" b="1" dirty="0">
                <a:solidFill>
                  <a:srgbClr val="171C24"/>
                </a:solidFill>
                <a:latin typeface="Plus Jakarta Sans"/>
                <a:ea typeface="Microsoft JhengHei"/>
                <a:cs typeface="Plus Jakarta Sans"/>
              </a:rPr>
              <a:t>成功定義：讓會議決議與任務分派無縫融入工作流</a:t>
            </a:r>
          </a:p>
        </p:txBody>
      </p:sp>
      <p:grpSp>
        <p:nvGrpSpPr>
          <p:cNvPr id="29" name="Group 29"/>
          <p:cNvGrpSpPr/>
          <p:nvPr/>
        </p:nvGrpSpPr>
        <p:grpSpPr>
          <a:xfrm>
            <a:off x="609600" y="1714500"/>
            <a:ext cx="10972800" cy="3619500"/>
            <a:chOff x="609600" y="1714500"/>
            <a:chExt cx="10972800" cy="3619500"/>
          </a:xfrm>
        </p:grpSpPr>
        <p:grpSp>
          <p:nvGrpSpPr>
            <p:cNvPr id="11" name="Group 11"/>
            <p:cNvGrpSpPr/>
            <p:nvPr/>
          </p:nvGrpSpPr>
          <p:grpSpPr>
            <a:xfrm>
              <a:off x="609600" y="1714500"/>
              <a:ext cx="3429000" cy="3619500"/>
              <a:chOff x="609600" y="1714500"/>
              <a:chExt cx="3429000" cy="3619500"/>
            </a:xfrm>
          </p:grpSpPr>
          <p:sp>
            <p:nvSpPr>
              <p:cNvPr id="5" name="Rectangle 5"/>
              <p:cNvSpPr/>
              <p:nvPr/>
            </p:nvSpPr>
            <p:spPr>
              <a:xfrm>
                <a:off x="609600" y="1714500"/>
                <a:ext cx="3429000" cy="3619500"/>
              </a:xfrm>
              <a:prstGeom prst="roundRect">
                <a:avLst>
                  <a:gd name="adj" fmla="val 4444"/>
                </a:avLst>
              </a:prstGeom>
              <a:solidFill>
                <a:srgbClr val="FFFFFF"/>
              </a:solidFill>
              <a:ln w="14288">
                <a:solidFill>
                  <a:srgbClr val="E5E3DE"/>
                </a:solidFill>
              </a:ln>
            </p:spPr>
          </p:sp>
          <p:sp>
            <p:nvSpPr>
              <p:cNvPr id="6" name="Rectangle 6"/>
              <p:cNvSpPr/>
              <p:nvPr/>
            </p:nvSpPr>
            <p:spPr>
              <a:xfrm>
                <a:off x="838200" y="1943100"/>
                <a:ext cx="762000" cy="266700"/>
              </a:xfrm>
              <a:prstGeom prst="roundRect">
                <a:avLst>
                  <a:gd name="adj" fmla="val 50000"/>
                </a:avLst>
              </a:prstGeom>
              <a:solidFill>
                <a:srgbClr val="F3F2ED"/>
              </a:solidFill>
              <a:ln>
                <a:noFill/>
              </a:ln>
            </p:spPr>
          </p:sp>
          <p:sp>
            <p:nvSpPr>
              <p:cNvPr id="7" name="TextBox 7"/>
              <p:cNvSpPr txBox="1"/>
              <p:nvPr/>
            </p:nvSpPr>
            <p:spPr>
              <a:xfrm>
                <a:off x="933783" y="2018824"/>
                <a:ext cx="570833" cy="198120"/>
              </a:xfrm>
              <a:prstGeom prst="rect">
                <a:avLst/>
              </a:prstGeom>
              <a:noFill/>
              <a:ln>
                <a:noFill/>
              </a:ln>
            </p:spPr>
            <p:txBody>
              <a:bodyPr wrap="none" lIns="0" tIns="0" rIns="0" bIns="0" anchor="t" anchorCtr="0">
                <a:spAutoFit/>
              </a:bodyPr>
              <a:lstStyle/>
              <a:p>
                <a:pPr algn="ctr"/>
                <a:r>
                  <a:rPr lang="zh-CN" sz="975" b="1" dirty="0">
                    <a:solidFill>
                      <a:srgbClr val="525864"/>
                    </a:solidFill>
                    <a:latin typeface="Manrope"/>
                    <a:ea typeface="Microsoft JhengHei"/>
                    <a:cs typeface="Manrope"/>
                  </a:rPr>
                  <a:t>目前狀態</a:t>
                </a:r>
              </a:p>
            </p:txBody>
          </p:sp>
          <p:sp>
            <p:nvSpPr>
              <p:cNvPr id="8" name="TextBox 8"/>
              <p:cNvSpPr txBox="1"/>
              <p:nvPr/>
            </p:nvSpPr>
            <p:spPr>
              <a:xfrm>
                <a:off x="1557656" y="3021806"/>
                <a:ext cx="1532888" cy="228600"/>
              </a:xfrm>
              <a:prstGeom prst="rect">
                <a:avLst/>
              </a:prstGeom>
              <a:noFill/>
              <a:ln>
                <a:noFill/>
              </a:ln>
            </p:spPr>
            <p:txBody>
              <a:bodyPr wrap="none" lIns="0" tIns="0" rIns="0" bIns="0" anchor="t" anchorCtr="0">
                <a:spAutoFit/>
              </a:bodyPr>
              <a:lstStyle/>
              <a:p>
                <a:pPr algn="ctr"/>
                <a:r>
                  <a:rPr lang="zh-CN" sz="1125" b="1" dirty="0">
                    <a:solidFill>
                      <a:srgbClr val="525864"/>
                    </a:solidFill>
                    <a:latin typeface="Manrope"/>
                    <a:ea typeface="Microsoft JhengHei"/>
                    <a:cs typeface="Manrope"/>
                  </a:rPr>
                  <a:t>2個工作天內團隊瀏覽</a:t>
                </a:r>
              </a:p>
            </p:txBody>
          </p:sp>
          <p:sp>
            <p:nvSpPr>
              <p:cNvPr id="9" name="TextBox 9"/>
              <p:cNvSpPr txBox="1"/>
              <p:nvPr/>
            </p:nvSpPr>
            <p:spPr>
              <a:xfrm>
                <a:off x="1470803" y="3448050"/>
                <a:ext cx="1706594" cy="1219200"/>
              </a:xfrm>
              <a:prstGeom prst="rect">
                <a:avLst/>
              </a:prstGeom>
              <a:noFill/>
              <a:ln>
                <a:noFill/>
              </a:ln>
            </p:spPr>
            <p:txBody>
              <a:bodyPr wrap="none" lIns="0" tIns="0" rIns="0" bIns="0" anchor="t" anchorCtr="0">
                <a:spAutoFit/>
              </a:bodyPr>
              <a:lstStyle/>
              <a:p>
                <a:pPr algn="ctr"/>
                <a:r>
                  <a:rPr lang="zh-CN" sz="6000" b="1" dirty="0">
                    <a:solidFill>
                      <a:srgbClr val="525864"/>
                    </a:solidFill>
                    <a:latin typeface="Plus Jakarta Sans"/>
                    <a:ea typeface="Microsoft JhengHei"/>
                    <a:cs typeface="Plus Jakarta Sans"/>
                  </a:rPr>
                  <a:t>60%</a:t>
                </a:r>
              </a:p>
            </p:txBody>
          </p:sp>
          <p:sp>
            <p:nvSpPr>
              <p:cNvPr id="10" name="TextBox 10"/>
              <p:cNvSpPr txBox="1"/>
              <p:nvPr/>
            </p:nvSpPr>
            <p:spPr>
              <a:xfrm>
                <a:off x="1390150" y="4458652"/>
                <a:ext cx="1867900" cy="213360"/>
              </a:xfrm>
              <a:prstGeom prst="rect">
                <a:avLst/>
              </a:prstGeom>
              <a:noFill/>
              <a:ln>
                <a:noFill/>
              </a:ln>
            </p:spPr>
            <p:txBody>
              <a:bodyPr wrap="none" lIns="0" tIns="0" rIns="0" bIns="0" anchor="t" anchorCtr="0">
                <a:spAutoFit/>
              </a:bodyPr>
              <a:lstStyle/>
              <a:p>
                <a:pPr algn="ctr"/>
                <a:r>
                  <a:rPr lang="zh-CN" sz="1050" dirty="0">
                    <a:solidFill>
                      <a:srgbClr val="525864"/>
                    </a:solidFill>
                    <a:latin typeface="Manrope"/>
                    <a:ea typeface="Microsoft JhengHei"/>
                    <a:cs typeface="Manrope"/>
                  </a:rPr>
                  <a:t>除建立者外，至少有 2 人瀏覽</a:t>
                </a:r>
              </a:p>
            </p:txBody>
          </p:sp>
        </p:grpSp>
        <p:grpSp>
          <p:nvGrpSpPr>
            <p:cNvPr id="14" name="Group 14"/>
            <p:cNvGrpSpPr/>
            <p:nvPr/>
          </p:nvGrpSpPr>
          <p:grpSpPr>
            <a:xfrm>
              <a:off x="4324350" y="3429000"/>
              <a:ext cx="619125" cy="190500"/>
              <a:chOff x="4324350" y="3429000"/>
              <a:chExt cx="619125" cy="190500"/>
            </a:xfrm>
          </p:grpSpPr>
          <p:sp>
            <p:nvSpPr>
              <p:cNvPr id="12" name="Freeform 12"/>
              <p:cNvSpPr/>
              <p:nvPr/>
            </p:nvSpPr>
            <p:spPr>
              <a:xfrm>
                <a:off x="4324350" y="3524250"/>
                <a:ext cx="571500" cy="9525"/>
              </a:xfrm>
              <a:custGeom>
                <a:avLst/>
                <a:gdLst/>
                <a:ahLst/>
                <a:cxnLst/>
                <a:rect l="l" t="t" r="r" b="b"/>
                <a:pathLst>
                  <a:path w="571500" h="9525">
                    <a:moveTo>
                      <a:pt x="0" y="0"/>
                    </a:moveTo>
                    <a:lnTo>
                      <a:pt x="571500" y="0"/>
                    </a:lnTo>
                  </a:path>
                </a:pathLst>
              </a:custGeom>
              <a:noFill/>
              <a:ln w="38100" cap="rnd">
                <a:solidFill>
                  <a:srgbClr val="00969D"/>
                </a:solidFill>
              </a:ln>
            </p:spPr>
          </p:sp>
          <p:sp>
            <p:nvSpPr>
              <p:cNvPr id="13" name="Freeform 13"/>
              <p:cNvSpPr/>
              <p:nvPr/>
            </p:nvSpPr>
            <p:spPr>
              <a:xfrm>
                <a:off x="4800600" y="3429000"/>
                <a:ext cx="142875" cy="190500"/>
              </a:xfrm>
              <a:custGeom>
                <a:avLst/>
                <a:gdLst/>
                <a:ahLst/>
                <a:cxnLst/>
                <a:rect l="l" t="t" r="r" b="b"/>
                <a:pathLst>
                  <a:path w="142875" h="190500">
                    <a:moveTo>
                      <a:pt x="0" y="0"/>
                    </a:moveTo>
                    <a:lnTo>
                      <a:pt x="142875" y="95250"/>
                    </a:lnTo>
                    <a:lnTo>
                      <a:pt x="0" y="190500"/>
                    </a:lnTo>
                  </a:path>
                </a:pathLst>
              </a:custGeom>
              <a:noFill/>
              <a:ln w="38100" cap="rnd">
                <a:solidFill>
                  <a:srgbClr val="00969D"/>
                </a:solidFill>
                <a:round/>
              </a:ln>
            </p:spPr>
          </p:sp>
        </p:grpSp>
        <p:grpSp>
          <p:nvGrpSpPr>
            <p:cNvPr id="21" name="Group 21"/>
            <p:cNvGrpSpPr/>
            <p:nvPr/>
          </p:nvGrpSpPr>
          <p:grpSpPr>
            <a:xfrm>
              <a:off x="5086350" y="1714500"/>
              <a:ext cx="3429000" cy="3619500"/>
              <a:chOff x="5086350" y="1714500"/>
              <a:chExt cx="3429000" cy="3619500"/>
            </a:xfrm>
          </p:grpSpPr>
          <p:sp>
            <p:nvSpPr>
              <p:cNvPr id="15" name="Rectangle 15"/>
              <p:cNvSpPr/>
              <p:nvPr/>
            </p:nvSpPr>
            <p:spPr>
              <a:xfrm>
                <a:off x="5086350" y="1714500"/>
                <a:ext cx="3429000" cy="3619500"/>
              </a:xfrm>
              <a:prstGeom prst="roundRect">
                <a:avLst>
                  <a:gd name="adj" fmla="val 4444"/>
                </a:avLst>
              </a:prstGeom>
              <a:solidFill>
                <a:srgbClr val="FFFFFF"/>
              </a:solidFill>
              <a:ln w="19050">
                <a:solidFill>
                  <a:srgbClr val="00969D"/>
                </a:solidFill>
              </a:ln>
            </p:spPr>
          </p:sp>
          <p:sp>
            <p:nvSpPr>
              <p:cNvPr id="16" name="Rectangle 16"/>
              <p:cNvSpPr/>
              <p:nvPr/>
            </p:nvSpPr>
            <p:spPr>
              <a:xfrm>
                <a:off x="5314950" y="1943100"/>
                <a:ext cx="762000" cy="266700"/>
              </a:xfrm>
              <a:prstGeom prst="roundRect">
                <a:avLst>
                  <a:gd name="adj" fmla="val 50000"/>
                </a:avLst>
              </a:prstGeom>
              <a:solidFill>
                <a:srgbClr val="00969D"/>
              </a:solidFill>
              <a:ln>
                <a:noFill/>
              </a:ln>
            </p:spPr>
          </p:sp>
          <p:sp>
            <p:nvSpPr>
              <p:cNvPr id="17" name="TextBox 17"/>
              <p:cNvSpPr txBox="1"/>
              <p:nvPr/>
            </p:nvSpPr>
            <p:spPr>
              <a:xfrm>
                <a:off x="5410533" y="2018824"/>
                <a:ext cx="570833"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Manrope"/>
                    <a:ea typeface="Microsoft JhengHei"/>
                    <a:cs typeface="Manrope"/>
                  </a:rPr>
                  <a:t>目標狀態</a:t>
                </a:r>
              </a:p>
            </p:txBody>
          </p:sp>
          <p:sp>
            <p:nvSpPr>
              <p:cNvPr id="18" name="TextBox 18"/>
              <p:cNvSpPr txBox="1"/>
              <p:nvPr/>
            </p:nvSpPr>
            <p:spPr>
              <a:xfrm>
                <a:off x="6034406" y="3021806"/>
                <a:ext cx="1532888" cy="228600"/>
              </a:xfrm>
              <a:prstGeom prst="rect">
                <a:avLst/>
              </a:prstGeom>
              <a:noFill/>
              <a:ln>
                <a:noFill/>
              </a:ln>
            </p:spPr>
            <p:txBody>
              <a:bodyPr wrap="none" lIns="0" tIns="0" rIns="0" bIns="0" anchor="t" anchorCtr="0">
                <a:spAutoFit/>
              </a:bodyPr>
              <a:lstStyle/>
              <a:p>
                <a:pPr algn="ctr"/>
                <a:r>
                  <a:rPr lang="zh-CN" sz="1125" b="1" dirty="0">
                    <a:solidFill>
                      <a:srgbClr val="153166"/>
                    </a:solidFill>
                    <a:latin typeface="Manrope"/>
                    <a:ea typeface="Microsoft JhengHei"/>
                    <a:cs typeface="Manrope"/>
                  </a:rPr>
                  <a:t>2個工作天內團隊瀏覽</a:t>
                </a:r>
              </a:p>
            </p:txBody>
          </p:sp>
          <p:sp>
            <p:nvSpPr>
              <p:cNvPr id="19" name="TextBox 19"/>
              <p:cNvSpPr txBox="1"/>
              <p:nvPr/>
            </p:nvSpPr>
            <p:spPr>
              <a:xfrm>
                <a:off x="5947553" y="3448050"/>
                <a:ext cx="1706594" cy="1219200"/>
              </a:xfrm>
              <a:prstGeom prst="rect">
                <a:avLst/>
              </a:prstGeom>
              <a:noFill/>
              <a:ln>
                <a:noFill/>
              </a:ln>
            </p:spPr>
            <p:txBody>
              <a:bodyPr wrap="none" lIns="0" tIns="0" rIns="0" bIns="0" anchor="t" anchorCtr="0">
                <a:spAutoFit/>
              </a:bodyPr>
              <a:lstStyle/>
              <a:p>
                <a:pPr algn="ctr"/>
                <a:r>
                  <a:rPr lang="zh-CN" sz="6000" b="1" dirty="0">
                    <a:solidFill>
                      <a:srgbClr val="00969D"/>
                    </a:solidFill>
                    <a:latin typeface="Plus Jakarta Sans"/>
                    <a:ea typeface="Microsoft JhengHei"/>
                    <a:cs typeface="Plus Jakarta Sans"/>
                  </a:rPr>
                  <a:t>85%</a:t>
                </a:r>
              </a:p>
            </p:txBody>
          </p:sp>
          <p:sp>
            <p:nvSpPr>
              <p:cNvPr id="20" name="TextBox 20"/>
              <p:cNvSpPr txBox="1"/>
              <p:nvPr/>
            </p:nvSpPr>
            <p:spPr>
              <a:xfrm>
                <a:off x="5820869" y="4458652"/>
                <a:ext cx="1959962" cy="213360"/>
              </a:xfrm>
              <a:prstGeom prst="rect">
                <a:avLst/>
              </a:prstGeom>
              <a:noFill/>
              <a:ln>
                <a:noFill/>
              </a:ln>
            </p:spPr>
            <p:txBody>
              <a:bodyPr wrap="none" lIns="0" tIns="0" rIns="0" bIns="0" anchor="t" anchorCtr="0">
                <a:spAutoFit/>
              </a:bodyPr>
              <a:lstStyle/>
              <a:p>
                <a:pPr algn="ctr"/>
                <a:r>
                  <a:rPr lang="zh-CN" sz="1050" b="1" dirty="0">
                    <a:solidFill>
                      <a:srgbClr val="153166"/>
                    </a:solidFill>
                    <a:latin typeface="Manrope"/>
                    <a:ea typeface="Microsoft JhengHei"/>
                    <a:cs typeface="Manrope"/>
                  </a:rPr>
                  <a:t>除建立者外，至少有 2 人瀏覽</a:t>
                </a:r>
              </a:p>
            </p:txBody>
          </p:sp>
        </p:grpSp>
        <p:grpSp>
          <p:nvGrpSpPr>
            <p:cNvPr id="28" name="Group 28"/>
            <p:cNvGrpSpPr/>
            <p:nvPr/>
          </p:nvGrpSpPr>
          <p:grpSpPr>
            <a:xfrm>
              <a:off x="8783955" y="1949768"/>
              <a:ext cx="2798445" cy="1864994"/>
              <a:chOff x="8783955" y="1949768"/>
              <a:chExt cx="2798445" cy="1864994"/>
            </a:xfrm>
          </p:grpSpPr>
          <p:sp>
            <p:nvSpPr>
              <p:cNvPr id="22" name="TextBox 22"/>
              <p:cNvSpPr txBox="1"/>
              <p:nvPr/>
            </p:nvSpPr>
            <p:spPr>
              <a:xfrm>
                <a:off x="8783955" y="1949768"/>
                <a:ext cx="1546479" cy="274320"/>
              </a:xfrm>
              <a:prstGeom prst="rect">
                <a:avLst/>
              </a:prstGeom>
              <a:noFill/>
              <a:ln>
                <a:noFill/>
              </a:ln>
            </p:spPr>
            <p:txBody>
              <a:bodyPr wrap="none" lIns="0" tIns="0" rIns="0" bIns="0" anchor="t" anchorCtr="0">
                <a:spAutoFit/>
              </a:bodyPr>
              <a:lstStyle/>
              <a:p>
                <a:pPr algn="l"/>
                <a:r>
                  <a:rPr lang="zh-CN" sz="1350" b="1" dirty="0">
                    <a:solidFill>
                      <a:srgbClr val="153166"/>
                    </a:solidFill>
                    <a:latin typeface="Plus Jakarta Sans"/>
                    <a:ea typeface="Microsoft JhengHei"/>
                    <a:cs typeface="Plus Jakarta Sans"/>
                  </a:rPr>
                  <a:t>核心成功定義說明</a:t>
                </a:r>
              </a:p>
            </p:txBody>
          </p:sp>
          <p:sp>
            <p:nvSpPr>
              <p:cNvPr id="23" name="Line 23"/>
              <p:cNvSpPr/>
              <p:nvPr/>
            </p:nvSpPr>
            <p:spPr>
              <a:xfrm>
                <a:off x="8801100" y="2286000"/>
                <a:ext cx="2781300" cy="9525"/>
              </a:xfrm>
              <a:custGeom>
                <a:avLst/>
                <a:gdLst/>
                <a:ahLst/>
                <a:cxnLst/>
                <a:rect l="l" t="t" r="r" b="b"/>
                <a:pathLst>
                  <a:path w="2781300" h="9525">
                    <a:moveTo>
                      <a:pt x="0" y="0"/>
                    </a:moveTo>
                    <a:lnTo>
                      <a:pt x="2781300" y="0"/>
                    </a:lnTo>
                  </a:path>
                </a:pathLst>
              </a:custGeom>
              <a:noFill/>
              <a:ln w="14288">
                <a:solidFill>
                  <a:srgbClr val="E5E3DE"/>
                </a:solidFill>
              </a:ln>
            </p:spPr>
          </p:sp>
          <p:grpSp>
            <p:nvGrpSpPr>
              <p:cNvPr id="27" name="Group 27"/>
              <p:cNvGrpSpPr/>
              <p:nvPr/>
            </p:nvGrpSpPr>
            <p:grpSpPr>
              <a:xfrm>
                <a:off x="8787765" y="2571750"/>
                <a:ext cx="1893570" cy="1243012"/>
                <a:chOff x="8787765" y="2571750"/>
                <a:chExt cx="1893570" cy="1243012"/>
              </a:xfrm>
            </p:grpSpPr>
            <p:sp>
              <p:nvSpPr>
                <p:cNvPr id="24" name="Freeform 24"/>
                <p:cNvSpPr/>
                <p:nvPr/>
              </p:nvSpPr>
              <p:spPr>
                <a:xfrm>
                  <a:off x="8829675" y="2571750"/>
                  <a:ext cx="171450" cy="228600"/>
                </a:xfrm>
                <a:custGeom>
                  <a:avLst/>
                  <a:gdLst/>
                  <a:ahLst/>
                  <a:cxnLst/>
                  <a:rect l="l" t="t" r="r" b="b"/>
                  <a:pathLst>
                    <a:path w="171450" h="228600">
                      <a:moveTo>
                        <a:pt x="42862" y="164306"/>
                      </a:moveTo>
                      <a:lnTo>
                        <a:pt x="42862" y="207169"/>
                      </a:lnTo>
                      <a:lnTo>
                        <a:pt x="64294" y="228600"/>
                      </a:lnTo>
                      <a:lnTo>
                        <a:pt x="107156" y="228600"/>
                      </a:lnTo>
                      <a:lnTo>
                        <a:pt x="128588" y="207169"/>
                      </a:lnTo>
                      <a:lnTo>
                        <a:pt x="128588" y="164306"/>
                      </a:lnTo>
                      <a:lnTo>
                        <a:pt x="146298" y="146595"/>
                      </a:lnTo>
                      <a:cubicBezTo>
                        <a:pt x="162403" y="130491"/>
                        <a:pt x="171450" y="108605"/>
                        <a:pt x="171450" y="85830"/>
                      </a:cubicBezTo>
                      <a:cubicBezTo>
                        <a:pt x="171450" y="38486"/>
                        <a:pt x="133069" y="0"/>
                        <a:pt x="85725" y="0"/>
                      </a:cubicBezTo>
                      <a:cubicBezTo>
                        <a:pt x="38380" y="0"/>
                        <a:pt x="0" y="38486"/>
                        <a:pt x="0" y="85830"/>
                      </a:cubicBezTo>
                      <a:cubicBezTo>
                        <a:pt x="0" y="108605"/>
                        <a:pt x="9047" y="130491"/>
                        <a:pt x="25152" y="146595"/>
                      </a:cubicBezTo>
                      <a:lnTo>
                        <a:pt x="42862" y="164306"/>
                      </a:lnTo>
                      <a:close/>
                      <a:moveTo>
                        <a:pt x="71438" y="141074"/>
                      </a:moveTo>
                      <a:lnTo>
                        <a:pt x="71438" y="85725"/>
                      </a:lnTo>
                      <a:lnTo>
                        <a:pt x="100012" y="85725"/>
                      </a:lnTo>
                      <a:lnTo>
                        <a:pt x="100012" y="141074"/>
                      </a:lnTo>
                      <a:cubicBezTo>
                        <a:pt x="124661" y="134730"/>
                        <a:pt x="142875" y="112355"/>
                        <a:pt x="142875" y="85725"/>
                      </a:cubicBezTo>
                      <a:cubicBezTo>
                        <a:pt x="142875" y="54162"/>
                        <a:pt x="117288" y="28575"/>
                        <a:pt x="85725" y="28575"/>
                      </a:cubicBezTo>
                      <a:cubicBezTo>
                        <a:pt x="54162" y="28575"/>
                        <a:pt x="28575" y="54162"/>
                        <a:pt x="28575" y="85725"/>
                      </a:cubicBezTo>
                      <a:cubicBezTo>
                        <a:pt x="28575" y="112355"/>
                        <a:pt x="46788" y="134730"/>
                        <a:pt x="71438" y="141074"/>
                      </a:cubicBezTo>
                      <a:close/>
                    </a:path>
                  </a:pathLst>
                </a:custGeom>
                <a:solidFill>
                  <a:srgbClr val="007583"/>
                </a:solidFill>
                <a:ln>
                  <a:noFill/>
                </a:ln>
              </p:spPr>
            </p:sp>
            <p:sp>
              <p:nvSpPr>
                <p:cNvPr id="25" name="TextBox 25"/>
                <p:cNvSpPr txBox="1"/>
                <p:nvPr/>
              </p:nvSpPr>
              <p:spPr>
                <a:xfrm>
                  <a:off x="9091612" y="2621756"/>
                  <a:ext cx="1446252" cy="228600"/>
                </a:xfrm>
                <a:prstGeom prst="rect">
                  <a:avLst/>
                </a:prstGeom>
                <a:noFill/>
                <a:ln>
                  <a:noFill/>
                </a:ln>
              </p:spPr>
              <p:txBody>
                <a:bodyPr wrap="none" lIns="0" tIns="0" rIns="0" bIns="0" anchor="t" anchorCtr="0">
                  <a:spAutoFit/>
                </a:bodyPr>
                <a:lstStyle/>
                <a:p>
                  <a:pPr algn="l"/>
                  <a:r>
                    <a:rPr lang="zh-CN" sz="1125" b="1" dirty="0">
                      <a:solidFill>
                        <a:srgbClr val="171C24"/>
                      </a:solidFill>
                      <a:latin typeface="Plus Jakarta Sans"/>
                      <a:ea typeface="Microsoft JhengHei"/>
                      <a:cs typeface="Plus Jakarta Sans"/>
                    </a:rPr>
                    <a:t>以任務通知拉動瀏覽</a:t>
                  </a:r>
                </a:p>
              </p:txBody>
            </p:sp>
            <p:sp>
              <p:nvSpPr>
                <p:cNvPr id="26" name="TextBox 26"/>
                <p:cNvSpPr txBox="1"/>
                <p:nvPr/>
              </p:nvSpPr>
              <p:spPr>
                <a:xfrm>
                  <a:off x="8787765" y="2915602"/>
                  <a:ext cx="1893570" cy="899160"/>
                </a:xfrm>
                <a:prstGeom prst="rect">
                  <a:avLst/>
                </a:prstGeom>
                <a:noFill/>
                <a:ln>
                  <a:noFill/>
                </a:ln>
              </p:spPr>
              <p:txBody>
                <a:bodyPr wrap="square" lIns="0" tIns="0" rIns="0" bIns="0" anchor="t" anchorCtr="0"/>
                <a:lstStyle/>
                <a:p>
                  <a:pPr algn="l">
                    <a:lnSpc>
                      <a:spcPts val="1800"/>
                    </a:lnSpc>
                  </a:pPr>
                  <a:r>
                    <a:rPr lang="zh-CN" sz="1050" dirty="0">
                      <a:solidFill>
                        <a:srgbClr val="525864"/>
                      </a:solidFill>
                      <a:latin typeface="Manrope"/>
                      <a:ea typeface="Microsoft JhengHei"/>
                      <a:cs typeface="Manrope"/>
                    </a:rPr>
                    <a:t>透過將決議轉為 Notion Tasks</a:t>
                  </a:r>
                  <a:r>
                    <a:rPr lang="zh-CN" sz="1050" dirty="0">
                      <a:solidFill>
                        <a:srgbClr val="525864"/>
                      </a:solidFill>
                      <a:latin typeface="Manrope"/>
                      <a:ea typeface="Microsoft JhengHei"/>
                      <a:cs typeface="Manrope"/>
                    </a:rPr>
                    <a:t>指派給負責人，系統會主動推送</a:t>
                  </a:r>
                  <a:r>
                    <a:rPr lang="zh-CN" sz="1050" dirty="0">
                      <a:solidFill>
                        <a:srgbClr val="525864"/>
                      </a:solidFill>
                      <a:latin typeface="Manrope"/>
                      <a:ea typeface="Microsoft JhengHei"/>
                      <a:cs typeface="Manrope"/>
                    </a:rPr>
                    <a:t>通知引流回會議紀錄中，形成</a:t>
                  </a:r>
                  <a:r>
                    <a:rPr lang="zh-CN" sz="1050" dirty="0">
                      <a:solidFill>
                        <a:srgbClr val="525864"/>
                      </a:solidFill>
                      <a:latin typeface="Manrope"/>
                      <a:ea typeface="Microsoft JhengHei"/>
                      <a:cs typeface="Manrope"/>
                    </a:rPr>
                    <a:t>「任務拉動瀏覽」的協作飛輪。</a:t>
                  </a:r>
                </a:p>
              </p:txBody>
            </p:sp>
          </p:grpSp>
        </p:grpSp>
      </p:grpSp>
      <p:grpSp>
        <p:nvGrpSpPr>
          <p:cNvPr id="33" name="Group 33"/>
          <p:cNvGrpSpPr/>
          <p:nvPr/>
        </p:nvGrpSpPr>
        <p:grpSpPr>
          <a:xfrm>
            <a:off x="609600" y="5619750"/>
            <a:ext cx="10972800" cy="571500"/>
            <a:chOff x="609600" y="5619750"/>
            <a:chExt cx="10972800" cy="571500"/>
          </a:xfrm>
        </p:grpSpPr>
        <p:sp>
          <p:nvSpPr>
            <p:cNvPr id="30" name="Rectangle 30"/>
            <p:cNvSpPr/>
            <p:nvPr/>
          </p:nvSpPr>
          <p:spPr>
            <a:xfrm>
              <a:off x="609600" y="5619750"/>
              <a:ext cx="10972800" cy="571500"/>
            </a:xfrm>
            <a:prstGeom prst="roundRect">
              <a:avLst>
                <a:gd name="adj" fmla="val 13333"/>
              </a:avLst>
            </a:prstGeom>
            <a:solidFill>
              <a:srgbClr val="F3F2ED"/>
            </a:solidFill>
            <a:ln>
              <a:noFill/>
            </a:ln>
          </p:spPr>
        </p:sp>
        <p:sp>
          <p:nvSpPr>
            <p:cNvPr id="31" name="Freeform 31"/>
            <p:cNvSpPr/>
            <p:nvPr/>
          </p:nvSpPr>
          <p:spPr>
            <a:xfrm>
              <a:off x="800100" y="5791200"/>
              <a:ext cx="228600" cy="228600"/>
            </a:xfrm>
            <a:custGeom>
              <a:avLst/>
              <a:gdLst/>
              <a:ahLst/>
              <a:cxnLst/>
              <a:rect l="l" t="t" r="r" b="b"/>
              <a:pathLst>
                <a:path w="228600" h="228600">
                  <a:moveTo>
                    <a:pt x="228600" y="114300"/>
                  </a:moveTo>
                  <a:cubicBezTo>
                    <a:pt x="228600" y="177426"/>
                    <a:pt x="177426" y="228600"/>
                    <a:pt x="114300" y="228600"/>
                  </a:cubicBezTo>
                  <a:cubicBezTo>
                    <a:pt x="51174" y="228600"/>
                    <a:pt x="0" y="177426"/>
                    <a:pt x="0" y="114300"/>
                  </a:cubicBezTo>
                  <a:cubicBezTo>
                    <a:pt x="0" y="51174"/>
                    <a:pt x="51174" y="0"/>
                    <a:pt x="114300" y="0"/>
                  </a:cubicBezTo>
                  <a:cubicBezTo>
                    <a:pt x="177426" y="0"/>
                    <a:pt x="228600" y="51174"/>
                    <a:pt x="228600" y="114300"/>
                  </a:cubicBezTo>
                  <a:close/>
                  <a:moveTo>
                    <a:pt x="100012" y="114300"/>
                  </a:moveTo>
                  <a:lnTo>
                    <a:pt x="85725" y="114300"/>
                  </a:lnTo>
                  <a:lnTo>
                    <a:pt x="85725" y="85725"/>
                  </a:lnTo>
                  <a:lnTo>
                    <a:pt x="128588" y="85725"/>
                  </a:lnTo>
                  <a:lnTo>
                    <a:pt x="128588" y="157162"/>
                  </a:lnTo>
                  <a:lnTo>
                    <a:pt x="142875" y="157162"/>
                  </a:lnTo>
                  <a:lnTo>
                    <a:pt x="142875" y="185738"/>
                  </a:lnTo>
                  <a:lnTo>
                    <a:pt x="100012" y="185738"/>
                  </a:lnTo>
                  <a:lnTo>
                    <a:pt x="100012" y="114300"/>
                  </a:lnTo>
                  <a:close/>
                  <a:moveTo>
                    <a:pt x="128588" y="71438"/>
                  </a:moveTo>
                  <a:lnTo>
                    <a:pt x="128588" y="42862"/>
                  </a:lnTo>
                  <a:lnTo>
                    <a:pt x="100012" y="42862"/>
                  </a:lnTo>
                  <a:lnTo>
                    <a:pt x="100012" y="71438"/>
                  </a:lnTo>
                  <a:lnTo>
                    <a:pt x="128588" y="71438"/>
                  </a:lnTo>
                  <a:close/>
                </a:path>
              </a:pathLst>
            </a:custGeom>
            <a:solidFill>
              <a:srgbClr val="007583"/>
            </a:solidFill>
            <a:ln>
              <a:noFill/>
            </a:ln>
          </p:spPr>
        </p:sp>
        <p:sp>
          <p:nvSpPr>
            <p:cNvPr id="32" name="TextBox 32"/>
            <p:cNvSpPr txBox="1"/>
            <p:nvPr/>
          </p:nvSpPr>
          <p:spPr>
            <a:xfrm>
              <a:off x="1128712" y="5831681"/>
              <a:ext cx="6029325" cy="228600"/>
            </a:xfrm>
            <a:prstGeom prst="rect">
              <a:avLst/>
            </a:prstGeom>
            <a:noFill/>
            <a:ln>
              <a:noFill/>
            </a:ln>
          </p:spPr>
          <p:txBody>
            <a:bodyPr wrap="none" lIns="0" tIns="0" rIns="0" bIns="0" anchor="t" anchorCtr="0">
              <a:spAutoFit/>
            </a:bodyPr>
            <a:lstStyle/>
            <a:p>
              <a:pPr algn="l"/>
              <a:r>
                <a:rPr lang="zh-CN" sz="1125" b="1" dirty="0">
                  <a:solidFill>
                    <a:srgbClr val="007583"/>
                  </a:solidFill>
                  <a:latin typeface="Manrope"/>
                  <a:ea typeface="Microsoft JhengHei"/>
                  <a:cs typeface="Manrope"/>
                </a:rPr>
                <a:t>主管視角說明：</a:t>
              </a:r>
              <a:r>
                <a:rPr lang="zh-CN" sz="1125" dirty="0">
                  <a:solidFill>
                    <a:srgbClr val="171C24"/>
                  </a:solidFill>
                  <a:latin typeface="Manrope"/>
                  <a:ea typeface="Microsoft JhengHei"/>
                  <a:cs typeface="Manrope"/>
                </a:rPr>
                <a:t>不以「摘要生成次數」為成功，而以「團隊瀏覽」為成功的行動代理訊號。</a:t>
              </a:r>
            </a:p>
          </p:txBody>
        </p:sp>
      </p:grpSp>
      <p:sp>
        <p:nvSpPr>
          <p:cNvPr id="34" name="TextBox 34"/>
          <p:cNvSpPr txBox="1"/>
          <p:nvPr/>
        </p:nvSpPr>
        <p:spPr>
          <a:xfrm>
            <a:off x="598170" y="6475095"/>
            <a:ext cx="2579179" cy="182880"/>
          </a:xfrm>
          <a:prstGeom prst="rect">
            <a:avLst/>
          </a:prstGeom>
          <a:noFill/>
          <a:ln>
            <a:noFill/>
          </a:ln>
        </p:spPr>
        <p:txBody>
          <a:bodyPr wrap="none" lIns="0" tIns="0" rIns="0" bIns="0" anchor="t" anchorCtr="0">
            <a:spAutoFit/>
          </a:bodyPr>
          <a:lstStyle/>
          <a:p>
            <a:pPr algn="l"/>
            <a:r>
              <a:rPr lang="zh-CN" sz="900" dirty="0">
                <a:solidFill>
                  <a:srgbClr val="525864"/>
                </a:solidFill>
                <a:latin typeface="Manrope"/>
                <a:ea typeface="Microsoft JhengHei"/>
                <a:cs typeface="Manrope"/>
              </a:rPr>
              <a:t>PM PROPOSAL &amp; METRICS EDUCATION · PAGE 14</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400"/>
                                        <p:tgtEl>
                                          <p:spTgt spid="2"/>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slide(fromBottom)">
                                      <p:cBhvr>
                                        <p:cTn id="11" dur="400"/>
                                        <p:tgtEl>
                                          <p:spTgt spid="3"/>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image">
                                      <p:cBhvr>
                                        <p:cTn id="15" dur="400"/>
                                        <p:tgtEl>
                                          <p:spTgt spid="4"/>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400"/>
                                        <p:tgtEl>
                                          <p:spTgt spid="29"/>
                                        </p:tgtEl>
                                      </p:cBhvr>
                                    </p:animEffect>
                                  </p:childTnLst>
                                </p:cTn>
                              </p:par>
                            </p:childTnLst>
                          </p:cTn>
                        </p:par>
                        <p:par>
                          <p:cTn id="20" fill="hold">
                            <p:stCondLst>
                              <p:cond delay="3600"/>
                            </p:stCondLst>
                            <p:childTnLst>
                              <p:par>
                                <p:cTn id="21" presetID="22" presetClass="entr" presetSubtype="1" fill="hold" nodeType="after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wipe(left)">
                                      <p:cBhvr>
                                        <p:cTn id="23" dur="400"/>
                                        <p:tgtEl>
                                          <p:spTgt spid="33"/>
                                        </p:tgtEl>
                                      </p:cBhvr>
                                    </p:animEffect>
                                  </p:childTnLst>
                                </p:cTn>
                              </p:par>
                            </p:childTnLst>
                          </p:cTn>
                        </p:par>
                        <p:par>
                          <p:cTn id="24" fill="hold">
                            <p:stCondLst>
                              <p:cond delay="4500"/>
                            </p:stCondLst>
                            <p:childTnLst>
                              <p:par>
                                <p:cTn id="25" presetID="2" presetClass="entr" presetSubtype="4" fill="hold" nodeType="after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slide(fromBottom)">
                                      <p:cBhvr>
                                        <p:cTn id="27"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29" grpId="0"/>
      <p:bldP spid="33" grpId="0"/>
      <p:bldP spid="3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DFCF9"/>
          </a:solidFill>
          <a:ln>
            <a:noFill/>
          </a:ln>
        </p:spPr>
      </p:sp>
      <p:sp>
        <p:nvSpPr>
          <p:cNvPr id="3" name="TextBox 3"/>
          <p:cNvSpPr txBox="1"/>
          <p:nvPr/>
        </p:nvSpPr>
        <p:spPr>
          <a:xfrm>
            <a:off x="596265" y="648652"/>
            <a:ext cx="2981739" cy="213360"/>
          </a:xfrm>
          <a:prstGeom prst="rect">
            <a:avLst/>
          </a:prstGeom>
          <a:noFill/>
          <a:ln>
            <a:noFill/>
          </a:ln>
        </p:spPr>
        <p:txBody>
          <a:bodyPr wrap="none" lIns="0" tIns="0" rIns="0" bIns="0" anchor="t" anchorCtr="0">
            <a:spAutoFit/>
          </a:bodyPr>
          <a:lstStyle/>
          <a:p>
            <a:pPr algn="l"/>
            <a:r>
              <a:rPr lang="zh-CN" sz="1050" b="1" dirty="0">
                <a:solidFill>
                  <a:srgbClr val="007583"/>
                </a:solidFill>
                <a:latin typeface="Plus Jakarta Sans"/>
                <a:ea typeface="Microsoft JhengHei"/>
                <a:cs typeface="Plus Jakarta Sans"/>
              </a:rPr>
              <a:t>APPENDIX 01: NOTION AI MEETING ASSISTANT</a:t>
            </a:r>
          </a:p>
        </p:txBody>
      </p:sp>
      <p:sp>
        <p:nvSpPr>
          <p:cNvPr id="4" name="TextBox 4"/>
          <p:cNvSpPr txBox="1"/>
          <p:nvPr/>
        </p:nvSpPr>
        <p:spPr>
          <a:xfrm>
            <a:off x="582930" y="916305"/>
            <a:ext cx="9344901" cy="426720"/>
          </a:xfrm>
          <a:prstGeom prst="rect">
            <a:avLst/>
          </a:prstGeom>
          <a:noFill/>
          <a:ln>
            <a:noFill/>
          </a:ln>
        </p:spPr>
        <p:txBody>
          <a:bodyPr wrap="none" lIns="0" tIns="0" rIns="0" bIns="0" anchor="t" anchorCtr="0">
            <a:spAutoFit/>
          </a:bodyPr>
          <a:lstStyle/>
          <a:p>
            <a:pPr algn="l"/>
            <a:r>
              <a:rPr lang="zh-CN" sz="2100" b="1" dirty="0">
                <a:solidFill>
                  <a:srgbClr val="171C24"/>
                </a:solidFill>
                <a:latin typeface="Plus Jakarta Sans"/>
                <a:ea typeface="Microsoft JhengHei"/>
                <a:cs typeface="Plus Jakarta Sans"/>
              </a:rPr>
              <a:t>透過一鍵 AI 會議記錄彙整功能將語音紀錄自動轉為決議事項 &amp; 行動清單</a:t>
            </a:r>
          </a:p>
        </p:txBody>
      </p:sp>
      <p:grpSp>
        <p:nvGrpSpPr>
          <p:cNvPr id="29" name="Group 29"/>
          <p:cNvGrpSpPr/>
          <p:nvPr/>
        </p:nvGrpSpPr>
        <p:grpSpPr>
          <a:xfrm>
            <a:off x="609600" y="1714500"/>
            <a:ext cx="10972800" cy="3619500"/>
            <a:chOff x="609600" y="1714500"/>
            <a:chExt cx="10972800" cy="3619500"/>
          </a:xfrm>
        </p:grpSpPr>
        <p:grpSp>
          <p:nvGrpSpPr>
            <p:cNvPr id="10" name="Group 10"/>
            <p:cNvGrpSpPr/>
            <p:nvPr/>
          </p:nvGrpSpPr>
          <p:grpSpPr>
            <a:xfrm>
              <a:off x="609600" y="1714500"/>
              <a:ext cx="3238500" cy="3619500"/>
              <a:chOff x="609600" y="1714500"/>
              <a:chExt cx="3238500" cy="3619500"/>
            </a:xfrm>
          </p:grpSpPr>
          <p:sp>
            <p:nvSpPr>
              <p:cNvPr id="5" name="Rectangle 5"/>
              <p:cNvSpPr/>
              <p:nvPr/>
            </p:nvSpPr>
            <p:spPr>
              <a:xfrm>
                <a:off x="609600" y="1714500"/>
                <a:ext cx="3238500" cy="3619500"/>
              </a:xfrm>
              <a:prstGeom prst="roundRect">
                <a:avLst>
                  <a:gd name="adj" fmla="val 4706"/>
                </a:avLst>
              </a:prstGeom>
              <a:solidFill>
                <a:srgbClr val="FFFFFF"/>
              </a:solidFill>
              <a:ln w="14288">
                <a:solidFill>
                  <a:srgbClr val="E5E3DE"/>
                </a:solidFill>
              </a:ln>
            </p:spPr>
          </p:sp>
          <p:sp>
            <p:nvSpPr>
              <p:cNvPr id="6" name="Ellipse 6"/>
              <p:cNvSpPr/>
              <p:nvPr/>
            </p:nvSpPr>
            <p:spPr>
              <a:xfrm>
                <a:off x="914400" y="2019300"/>
                <a:ext cx="457200" cy="457200"/>
              </a:xfrm>
              <a:prstGeom prst="ellipse">
                <a:avLst/>
              </a:prstGeom>
              <a:solidFill>
                <a:srgbClr val="F3F2ED"/>
              </a:solidFill>
              <a:ln>
                <a:noFill/>
              </a:ln>
            </p:spPr>
          </p:sp>
          <p:sp>
            <p:nvSpPr>
              <p:cNvPr id="7" name="TextBox 7"/>
              <p:cNvSpPr txBox="1"/>
              <p:nvPr/>
            </p:nvSpPr>
            <p:spPr>
              <a:xfrm>
                <a:off x="1058512" y="2145982"/>
                <a:ext cx="168976" cy="335280"/>
              </a:xfrm>
              <a:prstGeom prst="rect">
                <a:avLst/>
              </a:prstGeom>
              <a:noFill/>
              <a:ln>
                <a:noFill/>
              </a:ln>
            </p:spPr>
            <p:txBody>
              <a:bodyPr wrap="none" lIns="0" tIns="0" rIns="0" bIns="0" anchor="t" anchorCtr="0">
                <a:spAutoFit/>
              </a:bodyPr>
              <a:lstStyle/>
              <a:p>
                <a:pPr algn="ctr"/>
                <a:r>
                  <a:rPr lang="zh-CN" sz="1650" b="1" dirty="0">
                    <a:solidFill>
                      <a:srgbClr val="153166"/>
                    </a:solidFill>
                    <a:latin typeface="Plus Jakarta Sans"/>
                    <a:ea typeface="Microsoft YaHei"/>
                    <a:cs typeface="Plus Jakarta Sans"/>
                  </a:rPr>
                  <a:t>1</a:t>
                </a:r>
              </a:p>
            </p:txBody>
          </p:sp>
          <p:sp>
            <p:nvSpPr>
              <p:cNvPr id="8" name="TextBox 8"/>
              <p:cNvSpPr txBox="1"/>
              <p:nvPr/>
            </p:nvSpPr>
            <p:spPr>
              <a:xfrm>
                <a:off x="897255" y="2711768"/>
                <a:ext cx="979408" cy="274320"/>
              </a:xfrm>
              <a:prstGeom prst="rect">
                <a:avLst/>
              </a:prstGeom>
              <a:noFill/>
              <a:ln>
                <a:noFill/>
              </a:ln>
            </p:spPr>
            <p:txBody>
              <a:bodyPr wrap="none" lIns="0" tIns="0" rIns="0" bIns="0" anchor="t" anchorCtr="0">
                <a:spAutoFit/>
              </a:bodyPr>
              <a:lstStyle/>
              <a:p>
                <a:pPr algn="l"/>
                <a:r>
                  <a:rPr lang="zh-CN" sz="1350" b="1" dirty="0">
                    <a:solidFill>
                      <a:srgbClr val="153166"/>
                    </a:solidFill>
                    <a:latin typeface="Plus Jakarta Sans"/>
                    <a:ea typeface="Microsoft JhengHei"/>
                    <a:cs typeface="Plus Jakarta Sans"/>
                  </a:rPr>
                  <a:t>語音轉文字</a:t>
                </a:r>
              </a:p>
            </p:txBody>
          </p:sp>
          <p:sp>
            <p:nvSpPr>
              <p:cNvPr id="9" name="TextBox 9"/>
              <p:cNvSpPr txBox="1"/>
              <p:nvPr/>
            </p:nvSpPr>
            <p:spPr>
              <a:xfrm>
                <a:off x="899160" y="3108960"/>
                <a:ext cx="2034540" cy="777240"/>
              </a:xfrm>
              <a:prstGeom prst="rect">
                <a:avLst/>
              </a:prstGeom>
              <a:noFill/>
              <a:ln>
                <a:noFill/>
              </a:ln>
            </p:spPr>
            <p:txBody>
              <a:bodyPr wrap="square" lIns="0" tIns="0" rIns="0" bIns="0" anchor="t" anchorCtr="0"/>
              <a:lstStyle/>
              <a:p>
                <a:pPr algn="l">
                  <a:lnSpc>
                    <a:spcPts val="2100"/>
                  </a:lnSpc>
                </a:pPr>
                <a:r>
                  <a:rPr lang="zh-CN" sz="1200" dirty="0">
                    <a:solidFill>
                      <a:srgbClr val="525864"/>
                    </a:solidFill>
                    <a:latin typeface="Manrope"/>
                    <a:ea typeface="Microsoft JhengHei"/>
                    <a:cs typeface="Manrope"/>
                  </a:rPr>
                  <a:t>會議結束後，</a:t>
                </a:r>
                <a:r>
                  <a:rPr lang="zh-CN" sz="1200" dirty="0">
                    <a:solidFill>
                      <a:srgbClr val="525864"/>
                    </a:solidFill>
                    <a:latin typeface="Manrope"/>
                    <a:ea typeface="Microsoft JhengHei"/>
                    <a:cs typeface="Manrope"/>
                  </a:rPr>
                  <a:t>AI 自動將音訊轉為文字紀錄，</a:t>
                </a:r>
                <a:r>
                  <a:rPr lang="zh-CN" sz="1200" dirty="0">
                    <a:solidFill>
                      <a:srgbClr val="525864"/>
                    </a:solidFill>
                    <a:latin typeface="Manrope"/>
                    <a:ea typeface="Microsoft JhengHei"/>
                    <a:cs typeface="Manrope"/>
                  </a:rPr>
                  <a:t>省去人工輸入與聽寫成本。</a:t>
                </a:r>
              </a:p>
            </p:txBody>
          </p:sp>
        </p:grpSp>
        <p:grpSp>
          <p:nvGrpSpPr>
            <p:cNvPr id="13" name="Group 13"/>
            <p:cNvGrpSpPr/>
            <p:nvPr/>
          </p:nvGrpSpPr>
          <p:grpSpPr>
            <a:xfrm>
              <a:off x="3990975" y="3476625"/>
              <a:ext cx="381000" cy="95250"/>
              <a:chOff x="3990975" y="3476625"/>
              <a:chExt cx="381000" cy="95250"/>
            </a:xfrm>
          </p:grpSpPr>
          <p:sp>
            <p:nvSpPr>
              <p:cNvPr id="11" name="Line 11"/>
              <p:cNvSpPr/>
              <p:nvPr/>
            </p:nvSpPr>
            <p:spPr>
              <a:xfrm>
                <a:off x="3990975" y="3524250"/>
                <a:ext cx="333375" cy="9525"/>
              </a:xfrm>
              <a:custGeom>
                <a:avLst/>
                <a:gdLst/>
                <a:ahLst/>
                <a:cxnLst/>
                <a:rect l="l" t="t" r="r" b="b"/>
                <a:pathLst>
                  <a:path w="333375" h="9525">
                    <a:moveTo>
                      <a:pt x="0" y="0"/>
                    </a:moveTo>
                    <a:lnTo>
                      <a:pt x="333375" y="0"/>
                    </a:lnTo>
                  </a:path>
                </a:pathLst>
              </a:custGeom>
              <a:noFill/>
              <a:ln w="28575">
                <a:solidFill>
                  <a:srgbClr val="00969D"/>
                </a:solidFill>
              </a:ln>
            </p:spPr>
          </p:sp>
          <p:sp>
            <p:nvSpPr>
              <p:cNvPr id="12" name="Polygon 12"/>
              <p:cNvSpPr/>
              <p:nvPr/>
            </p:nvSpPr>
            <p:spPr>
              <a:xfrm>
                <a:off x="4295775" y="3476625"/>
                <a:ext cx="76200" cy="95250"/>
              </a:xfrm>
              <a:custGeom>
                <a:avLst/>
                <a:gdLst/>
                <a:ahLst/>
                <a:cxnLst/>
                <a:rect l="l" t="t" r="r" b="b"/>
                <a:pathLst>
                  <a:path w="76200" h="95250">
                    <a:moveTo>
                      <a:pt x="76200" y="47625"/>
                    </a:moveTo>
                    <a:lnTo>
                      <a:pt x="0" y="0"/>
                    </a:lnTo>
                    <a:lnTo>
                      <a:pt x="0" y="95250"/>
                    </a:lnTo>
                    <a:close/>
                  </a:path>
                </a:pathLst>
              </a:custGeom>
              <a:solidFill>
                <a:srgbClr val="00969D"/>
              </a:solidFill>
              <a:ln>
                <a:noFill/>
              </a:ln>
            </p:spPr>
          </p:sp>
        </p:grpSp>
        <p:grpSp>
          <p:nvGrpSpPr>
            <p:cNvPr id="19" name="Group 19"/>
            <p:cNvGrpSpPr/>
            <p:nvPr/>
          </p:nvGrpSpPr>
          <p:grpSpPr>
            <a:xfrm>
              <a:off x="4476750" y="1714500"/>
              <a:ext cx="3238500" cy="3619500"/>
              <a:chOff x="4476750" y="1714500"/>
              <a:chExt cx="3238500" cy="3619500"/>
            </a:xfrm>
          </p:grpSpPr>
          <p:sp>
            <p:nvSpPr>
              <p:cNvPr id="14" name="Rectangle 14"/>
              <p:cNvSpPr/>
              <p:nvPr/>
            </p:nvSpPr>
            <p:spPr>
              <a:xfrm>
                <a:off x="4476750" y="1714500"/>
                <a:ext cx="3238500" cy="3619500"/>
              </a:xfrm>
              <a:prstGeom prst="roundRect">
                <a:avLst>
                  <a:gd name="adj" fmla="val 4706"/>
                </a:avLst>
              </a:prstGeom>
              <a:solidFill>
                <a:srgbClr val="FFFFFF"/>
              </a:solidFill>
              <a:ln w="14288">
                <a:solidFill>
                  <a:srgbClr val="E5E3DE"/>
                </a:solidFill>
              </a:ln>
            </p:spPr>
          </p:sp>
          <p:sp>
            <p:nvSpPr>
              <p:cNvPr id="15" name="Ellipse 15"/>
              <p:cNvSpPr/>
              <p:nvPr/>
            </p:nvSpPr>
            <p:spPr>
              <a:xfrm>
                <a:off x="4781550" y="2019300"/>
                <a:ext cx="457200" cy="457200"/>
              </a:xfrm>
              <a:prstGeom prst="ellipse">
                <a:avLst/>
              </a:prstGeom>
              <a:solidFill>
                <a:srgbClr val="F3F2ED"/>
              </a:solidFill>
              <a:ln>
                <a:noFill/>
              </a:ln>
            </p:spPr>
          </p:sp>
          <p:sp>
            <p:nvSpPr>
              <p:cNvPr id="16" name="TextBox 16"/>
              <p:cNvSpPr txBox="1"/>
              <p:nvPr/>
            </p:nvSpPr>
            <p:spPr>
              <a:xfrm>
                <a:off x="4925662" y="2145982"/>
                <a:ext cx="168976" cy="335280"/>
              </a:xfrm>
              <a:prstGeom prst="rect">
                <a:avLst/>
              </a:prstGeom>
              <a:noFill/>
              <a:ln>
                <a:noFill/>
              </a:ln>
            </p:spPr>
            <p:txBody>
              <a:bodyPr wrap="none" lIns="0" tIns="0" rIns="0" bIns="0" anchor="t" anchorCtr="0">
                <a:spAutoFit/>
              </a:bodyPr>
              <a:lstStyle/>
              <a:p>
                <a:pPr algn="ctr"/>
                <a:r>
                  <a:rPr lang="zh-CN" sz="1650" b="1" dirty="0">
                    <a:solidFill>
                      <a:srgbClr val="00969D"/>
                    </a:solidFill>
                    <a:latin typeface="Plus Jakarta Sans"/>
                    <a:ea typeface="Microsoft YaHei"/>
                    <a:cs typeface="Plus Jakarta Sans"/>
                  </a:rPr>
                  <a:t>2</a:t>
                </a:r>
              </a:p>
            </p:txBody>
          </p:sp>
          <p:sp>
            <p:nvSpPr>
              <p:cNvPr id="17" name="TextBox 17"/>
              <p:cNvSpPr txBox="1"/>
              <p:nvPr/>
            </p:nvSpPr>
            <p:spPr>
              <a:xfrm>
                <a:off x="4764405" y="2711768"/>
                <a:ext cx="790384" cy="274320"/>
              </a:xfrm>
              <a:prstGeom prst="rect">
                <a:avLst/>
              </a:prstGeom>
              <a:noFill/>
              <a:ln>
                <a:noFill/>
              </a:ln>
            </p:spPr>
            <p:txBody>
              <a:bodyPr wrap="none" lIns="0" tIns="0" rIns="0" bIns="0" anchor="t" anchorCtr="0">
                <a:spAutoFit/>
              </a:bodyPr>
              <a:lstStyle/>
              <a:p>
                <a:pPr algn="l"/>
                <a:r>
                  <a:rPr lang="zh-CN" sz="1350" b="1" dirty="0">
                    <a:solidFill>
                      <a:srgbClr val="00969D"/>
                    </a:solidFill>
                    <a:latin typeface="Plus Jakarta Sans"/>
                    <a:ea typeface="Microsoft JhengHei"/>
                    <a:cs typeface="Plus Jakarta Sans"/>
                  </a:rPr>
                  <a:t>語意提煉</a:t>
                </a:r>
              </a:p>
            </p:txBody>
          </p:sp>
          <p:sp>
            <p:nvSpPr>
              <p:cNvPr id="18" name="TextBox 18"/>
              <p:cNvSpPr txBox="1"/>
              <p:nvPr/>
            </p:nvSpPr>
            <p:spPr>
              <a:xfrm>
                <a:off x="4766310" y="3108960"/>
                <a:ext cx="1706880" cy="777240"/>
              </a:xfrm>
              <a:prstGeom prst="rect">
                <a:avLst/>
              </a:prstGeom>
              <a:noFill/>
              <a:ln>
                <a:noFill/>
              </a:ln>
            </p:spPr>
            <p:txBody>
              <a:bodyPr wrap="square" lIns="0" tIns="0" rIns="0" bIns="0" anchor="t" anchorCtr="0"/>
              <a:lstStyle/>
              <a:p>
                <a:pPr algn="l">
                  <a:lnSpc>
                    <a:spcPts val="2100"/>
                  </a:lnSpc>
                </a:pPr>
                <a:r>
                  <a:rPr lang="zh-CN" sz="1200" dirty="0">
                    <a:solidFill>
                      <a:srgbClr val="525864"/>
                    </a:solidFill>
                    <a:latin typeface="Manrope"/>
                    <a:ea typeface="Microsoft JhengHei"/>
                    <a:cs typeface="Manrope"/>
                  </a:rPr>
                  <a:t>AI 自動提煉出</a:t>
                </a:r>
                <a:r>
                  <a:rPr lang="zh-CN" sz="1200" dirty="0">
                    <a:solidFill>
                      <a:srgbClr val="525864"/>
                    </a:solidFill>
                    <a:latin typeface="Manrope"/>
                    <a:ea typeface="Microsoft JhengHei"/>
                    <a:cs typeface="Manrope"/>
                  </a:rPr>
                  <a:t>會議的「決議事項」</a:t>
                </a:r>
                <a:r>
                  <a:rPr lang="zh-CN" sz="1200" dirty="0">
                    <a:solidFill>
                      <a:srgbClr val="525864"/>
                    </a:solidFill>
                    <a:latin typeface="Manrope"/>
                    <a:ea typeface="Microsoft JhengHei"/>
                    <a:cs typeface="Manrope"/>
                  </a:rPr>
                  <a:t>與關鍵的「待辦清單」。</a:t>
                </a:r>
              </a:p>
            </p:txBody>
          </p:sp>
        </p:grpSp>
        <p:grpSp>
          <p:nvGrpSpPr>
            <p:cNvPr id="22" name="Group 22"/>
            <p:cNvGrpSpPr/>
            <p:nvPr/>
          </p:nvGrpSpPr>
          <p:grpSpPr>
            <a:xfrm>
              <a:off x="7858125" y="3476625"/>
              <a:ext cx="381000" cy="95250"/>
              <a:chOff x="7858125" y="3476625"/>
              <a:chExt cx="381000" cy="95250"/>
            </a:xfrm>
          </p:grpSpPr>
          <p:sp>
            <p:nvSpPr>
              <p:cNvPr id="20" name="Line 20"/>
              <p:cNvSpPr/>
              <p:nvPr/>
            </p:nvSpPr>
            <p:spPr>
              <a:xfrm>
                <a:off x="7858125" y="3524250"/>
                <a:ext cx="333375" cy="9525"/>
              </a:xfrm>
              <a:custGeom>
                <a:avLst/>
                <a:gdLst/>
                <a:ahLst/>
                <a:cxnLst/>
                <a:rect l="l" t="t" r="r" b="b"/>
                <a:pathLst>
                  <a:path w="333375" h="9525">
                    <a:moveTo>
                      <a:pt x="0" y="0"/>
                    </a:moveTo>
                    <a:lnTo>
                      <a:pt x="333375" y="0"/>
                    </a:lnTo>
                  </a:path>
                </a:pathLst>
              </a:custGeom>
              <a:noFill/>
              <a:ln w="28575">
                <a:solidFill>
                  <a:srgbClr val="00969D"/>
                </a:solidFill>
              </a:ln>
            </p:spPr>
          </p:sp>
          <p:sp>
            <p:nvSpPr>
              <p:cNvPr id="21" name="Polygon 21"/>
              <p:cNvSpPr/>
              <p:nvPr/>
            </p:nvSpPr>
            <p:spPr>
              <a:xfrm>
                <a:off x="8162925" y="3476625"/>
                <a:ext cx="76200" cy="95250"/>
              </a:xfrm>
              <a:custGeom>
                <a:avLst/>
                <a:gdLst/>
                <a:ahLst/>
                <a:cxnLst/>
                <a:rect l="l" t="t" r="r" b="b"/>
                <a:pathLst>
                  <a:path w="76200" h="95250">
                    <a:moveTo>
                      <a:pt x="76200" y="47625"/>
                    </a:moveTo>
                    <a:lnTo>
                      <a:pt x="0" y="0"/>
                    </a:lnTo>
                    <a:lnTo>
                      <a:pt x="0" y="95250"/>
                    </a:lnTo>
                    <a:close/>
                  </a:path>
                </a:pathLst>
              </a:custGeom>
              <a:solidFill>
                <a:srgbClr val="00969D"/>
              </a:solidFill>
              <a:ln>
                <a:noFill/>
              </a:ln>
            </p:spPr>
          </p:sp>
        </p:grpSp>
        <p:grpSp>
          <p:nvGrpSpPr>
            <p:cNvPr id="28" name="Group 28"/>
            <p:cNvGrpSpPr/>
            <p:nvPr/>
          </p:nvGrpSpPr>
          <p:grpSpPr>
            <a:xfrm>
              <a:off x="8343900" y="1714500"/>
              <a:ext cx="3238500" cy="3619500"/>
              <a:chOff x="8343900" y="1714500"/>
              <a:chExt cx="3238500" cy="3619500"/>
            </a:xfrm>
          </p:grpSpPr>
          <p:sp>
            <p:nvSpPr>
              <p:cNvPr id="23" name="Rectangle 23"/>
              <p:cNvSpPr/>
              <p:nvPr/>
            </p:nvSpPr>
            <p:spPr>
              <a:xfrm>
                <a:off x="8343900" y="1714500"/>
                <a:ext cx="3238500" cy="3619500"/>
              </a:xfrm>
              <a:prstGeom prst="roundRect">
                <a:avLst>
                  <a:gd name="adj" fmla="val 4706"/>
                </a:avLst>
              </a:prstGeom>
              <a:solidFill>
                <a:srgbClr val="FFFFFF"/>
              </a:solidFill>
              <a:ln w="14288">
                <a:solidFill>
                  <a:srgbClr val="E5E3DE"/>
                </a:solidFill>
              </a:ln>
            </p:spPr>
          </p:sp>
          <p:sp>
            <p:nvSpPr>
              <p:cNvPr id="24" name="Ellipse 24"/>
              <p:cNvSpPr/>
              <p:nvPr/>
            </p:nvSpPr>
            <p:spPr>
              <a:xfrm>
                <a:off x="8648700" y="2019300"/>
                <a:ext cx="457200" cy="457200"/>
              </a:xfrm>
              <a:prstGeom prst="ellipse">
                <a:avLst/>
              </a:prstGeom>
              <a:solidFill>
                <a:srgbClr val="F3F2ED"/>
              </a:solidFill>
              <a:ln>
                <a:noFill/>
              </a:ln>
            </p:spPr>
          </p:sp>
          <p:sp>
            <p:nvSpPr>
              <p:cNvPr id="25" name="TextBox 25"/>
              <p:cNvSpPr txBox="1"/>
              <p:nvPr/>
            </p:nvSpPr>
            <p:spPr>
              <a:xfrm>
                <a:off x="8792812" y="2145982"/>
                <a:ext cx="168976" cy="335280"/>
              </a:xfrm>
              <a:prstGeom prst="rect">
                <a:avLst/>
              </a:prstGeom>
              <a:noFill/>
              <a:ln>
                <a:noFill/>
              </a:ln>
            </p:spPr>
            <p:txBody>
              <a:bodyPr wrap="none" lIns="0" tIns="0" rIns="0" bIns="0" anchor="t" anchorCtr="0">
                <a:spAutoFit/>
              </a:bodyPr>
              <a:lstStyle/>
              <a:p>
                <a:pPr algn="ctr"/>
                <a:r>
                  <a:rPr lang="zh-CN" sz="1650" b="1" dirty="0">
                    <a:solidFill>
                      <a:srgbClr val="007583"/>
                    </a:solidFill>
                    <a:latin typeface="Plus Jakarta Sans"/>
                    <a:ea typeface="Microsoft YaHei"/>
                    <a:cs typeface="Plus Jakarta Sans"/>
                  </a:rPr>
                  <a:t>3</a:t>
                </a:r>
              </a:p>
            </p:txBody>
          </p:sp>
          <p:sp>
            <p:nvSpPr>
              <p:cNvPr id="26" name="TextBox 26"/>
              <p:cNvSpPr txBox="1"/>
              <p:nvPr/>
            </p:nvSpPr>
            <p:spPr>
              <a:xfrm>
                <a:off x="8631555" y="2711768"/>
                <a:ext cx="790384" cy="274320"/>
              </a:xfrm>
              <a:prstGeom prst="rect">
                <a:avLst/>
              </a:prstGeom>
              <a:noFill/>
              <a:ln>
                <a:noFill/>
              </a:ln>
            </p:spPr>
            <p:txBody>
              <a:bodyPr wrap="none" lIns="0" tIns="0" rIns="0" bIns="0" anchor="t" anchorCtr="0">
                <a:spAutoFit/>
              </a:bodyPr>
              <a:lstStyle/>
              <a:p>
                <a:pPr algn="l"/>
                <a:r>
                  <a:rPr lang="zh-CN" sz="1350" b="1" dirty="0">
                    <a:solidFill>
                      <a:srgbClr val="007583"/>
                    </a:solidFill>
                    <a:latin typeface="Plus Jakarta Sans"/>
                    <a:ea typeface="Microsoft JhengHei"/>
                    <a:cs typeface="Plus Jakarta Sans"/>
                  </a:rPr>
                  <a:t>一鍵派發</a:t>
                </a:r>
              </a:p>
            </p:txBody>
          </p:sp>
          <p:sp>
            <p:nvSpPr>
              <p:cNvPr id="27" name="TextBox 27"/>
              <p:cNvSpPr txBox="1"/>
              <p:nvPr/>
            </p:nvSpPr>
            <p:spPr>
              <a:xfrm>
                <a:off x="8633460" y="3108960"/>
                <a:ext cx="2164080" cy="777240"/>
              </a:xfrm>
              <a:prstGeom prst="rect">
                <a:avLst/>
              </a:prstGeom>
              <a:noFill/>
              <a:ln>
                <a:noFill/>
              </a:ln>
            </p:spPr>
            <p:txBody>
              <a:bodyPr wrap="square" lIns="0" tIns="0" rIns="0" bIns="0" anchor="t" anchorCtr="0"/>
              <a:lstStyle/>
              <a:p>
                <a:pPr algn="l">
                  <a:lnSpc>
                    <a:spcPts val="2100"/>
                  </a:lnSpc>
                </a:pPr>
                <a:r>
                  <a:rPr lang="zh-CN" sz="1200" dirty="0">
                    <a:solidFill>
                      <a:srgbClr val="525864"/>
                    </a:solidFill>
                    <a:latin typeface="Manrope"/>
                    <a:ea typeface="Microsoft JhengHei"/>
                    <a:cs typeface="Manrope"/>
                  </a:rPr>
                  <a:t>PM 確認內容後，透過</a:t>
                </a:r>
                <a:r>
                  <a:rPr lang="zh-CN" sz="1200" b="1" dirty="0">
                    <a:solidFill>
                      <a:srgbClr val="007583"/>
                    </a:solidFill>
                    <a:latin typeface="Manrope"/>
                    <a:ea typeface="Microsoft JhengHei"/>
                    <a:cs typeface="Manrope"/>
                  </a:rPr>
                  <a:t>AI 主動推送行動清單</a:t>
                </a:r>
                <a:r>
                  <a:rPr lang="zh-CN" sz="1200" dirty="0">
                    <a:solidFill>
                      <a:srgbClr val="525864"/>
                    </a:solidFill>
                    <a:latin typeface="Manrope"/>
                    <a:ea typeface="Microsoft JhengHei"/>
                    <a:cs typeface="Manrope"/>
                  </a:rPr>
                  <a:t>至成員任務中，開啟主動協作。</a:t>
                </a:r>
              </a:p>
            </p:txBody>
          </p:sp>
        </p:grpSp>
      </p:grpSp>
      <p:grpSp>
        <p:nvGrpSpPr>
          <p:cNvPr id="33" name="Group 33"/>
          <p:cNvGrpSpPr/>
          <p:nvPr/>
        </p:nvGrpSpPr>
        <p:grpSpPr>
          <a:xfrm>
            <a:off x="609600" y="5619750"/>
            <a:ext cx="10972800" cy="571500"/>
            <a:chOff x="609600" y="5619750"/>
            <a:chExt cx="10972800" cy="571500"/>
          </a:xfrm>
        </p:grpSpPr>
        <p:sp>
          <p:nvSpPr>
            <p:cNvPr id="30" name="Rectangle 30"/>
            <p:cNvSpPr/>
            <p:nvPr/>
          </p:nvSpPr>
          <p:spPr>
            <a:xfrm>
              <a:off x="609600" y="5619750"/>
              <a:ext cx="10972800" cy="571500"/>
            </a:xfrm>
            <a:prstGeom prst="roundRect">
              <a:avLst>
                <a:gd name="adj" fmla="val 13333"/>
              </a:avLst>
            </a:prstGeom>
            <a:solidFill>
              <a:srgbClr val="F3F2ED"/>
            </a:solidFill>
            <a:ln>
              <a:noFill/>
            </a:ln>
          </p:spPr>
        </p:sp>
        <p:sp>
          <p:nvSpPr>
            <p:cNvPr id="31" name="Freeform 31"/>
            <p:cNvSpPr/>
            <p:nvPr/>
          </p:nvSpPr>
          <p:spPr>
            <a:xfrm>
              <a:off x="800100" y="5791200"/>
              <a:ext cx="228600" cy="228600"/>
            </a:xfrm>
            <a:custGeom>
              <a:avLst/>
              <a:gdLst/>
              <a:ahLst/>
              <a:cxnLst/>
              <a:rect l="l" t="t" r="r" b="b"/>
              <a:pathLst>
                <a:path w="228600" h="228600">
                  <a:moveTo>
                    <a:pt x="228600" y="114300"/>
                  </a:moveTo>
                  <a:cubicBezTo>
                    <a:pt x="228600" y="177426"/>
                    <a:pt x="177426" y="228600"/>
                    <a:pt x="114300" y="228600"/>
                  </a:cubicBezTo>
                  <a:cubicBezTo>
                    <a:pt x="51174" y="228600"/>
                    <a:pt x="0" y="177426"/>
                    <a:pt x="0" y="114300"/>
                  </a:cubicBezTo>
                  <a:cubicBezTo>
                    <a:pt x="0" y="51174"/>
                    <a:pt x="51174" y="0"/>
                    <a:pt x="114300" y="0"/>
                  </a:cubicBezTo>
                  <a:cubicBezTo>
                    <a:pt x="177426" y="0"/>
                    <a:pt x="228600" y="51174"/>
                    <a:pt x="228600" y="114300"/>
                  </a:cubicBezTo>
                  <a:close/>
                  <a:moveTo>
                    <a:pt x="100012" y="114300"/>
                  </a:moveTo>
                  <a:lnTo>
                    <a:pt x="85725" y="114300"/>
                  </a:lnTo>
                  <a:lnTo>
                    <a:pt x="85725" y="85725"/>
                  </a:lnTo>
                  <a:lnTo>
                    <a:pt x="128588" y="85725"/>
                  </a:lnTo>
                  <a:lnTo>
                    <a:pt x="128588" y="157162"/>
                  </a:lnTo>
                  <a:lnTo>
                    <a:pt x="142875" y="157162"/>
                  </a:lnTo>
                  <a:lnTo>
                    <a:pt x="142875" y="185738"/>
                  </a:lnTo>
                  <a:lnTo>
                    <a:pt x="100012" y="185738"/>
                  </a:lnTo>
                  <a:lnTo>
                    <a:pt x="100012" y="114300"/>
                  </a:lnTo>
                  <a:close/>
                  <a:moveTo>
                    <a:pt x="128588" y="71438"/>
                  </a:moveTo>
                  <a:lnTo>
                    <a:pt x="128588" y="42862"/>
                  </a:lnTo>
                  <a:lnTo>
                    <a:pt x="100012" y="42862"/>
                  </a:lnTo>
                  <a:lnTo>
                    <a:pt x="100012" y="71438"/>
                  </a:lnTo>
                  <a:lnTo>
                    <a:pt x="128588" y="71438"/>
                  </a:lnTo>
                  <a:close/>
                </a:path>
              </a:pathLst>
            </a:custGeom>
            <a:solidFill>
              <a:srgbClr val="007583"/>
            </a:solidFill>
            <a:ln>
              <a:noFill/>
            </a:ln>
          </p:spPr>
        </p:sp>
        <p:sp>
          <p:nvSpPr>
            <p:cNvPr id="32" name="TextBox 32"/>
            <p:cNvSpPr txBox="1"/>
            <p:nvPr/>
          </p:nvSpPr>
          <p:spPr>
            <a:xfrm>
              <a:off x="1128712" y="5831681"/>
              <a:ext cx="6156841" cy="228600"/>
            </a:xfrm>
            <a:prstGeom prst="rect">
              <a:avLst/>
            </a:prstGeom>
            <a:noFill/>
            <a:ln>
              <a:noFill/>
            </a:ln>
          </p:spPr>
          <p:txBody>
            <a:bodyPr wrap="none" lIns="0" tIns="0" rIns="0" bIns="0" anchor="t" anchorCtr="0">
              <a:spAutoFit/>
            </a:bodyPr>
            <a:lstStyle/>
            <a:p>
              <a:pPr algn="l"/>
              <a:r>
                <a:rPr lang="zh-CN" sz="1125" b="1" dirty="0">
                  <a:solidFill>
                    <a:srgbClr val="007583"/>
                  </a:solidFill>
                  <a:latin typeface="Manrope"/>
                  <a:ea typeface="Microsoft JhengHei"/>
                  <a:cs typeface="Manrope"/>
                </a:rPr>
                <a:t>主管視角說明：</a:t>
              </a:r>
              <a:r>
                <a:rPr lang="zh-CN" sz="1125" dirty="0">
                  <a:solidFill>
                    <a:srgbClr val="171C24"/>
                  </a:solidFill>
                  <a:latin typeface="Manrope"/>
                  <a:ea typeface="Microsoft JhengHei"/>
                  <a:cs typeface="Manrope"/>
                </a:rPr>
                <a:t>聯動 Notion Task，將靜態的「會議紀錄存檔」轉化為「主動協作的起點」。</a:t>
              </a:r>
            </a:p>
          </p:txBody>
        </p:sp>
      </p:grpSp>
      <p:sp>
        <p:nvSpPr>
          <p:cNvPr id="34" name="TextBox 34"/>
          <p:cNvSpPr txBox="1"/>
          <p:nvPr/>
        </p:nvSpPr>
        <p:spPr>
          <a:xfrm>
            <a:off x="598170" y="6475095"/>
            <a:ext cx="2579179" cy="182880"/>
          </a:xfrm>
          <a:prstGeom prst="rect">
            <a:avLst/>
          </a:prstGeom>
          <a:noFill/>
          <a:ln>
            <a:noFill/>
          </a:ln>
        </p:spPr>
        <p:txBody>
          <a:bodyPr wrap="none" lIns="0" tIns="0" rIns="0" bIns="0" anchor="t" anchorCtr="0">
            <a:spAutoFit/>
          </a:bodyPr>
          <a:lstStyle/>
          <a:p>
            <a:pPr algn="l"/>
            <a:r>
              <a:rPr lang="zh-CN" sz="900" dirty="0">
                <a:solidFill>
                  <a:srgbClr val="525864"/>
                </a:solidFill>
                <a:latin typeface="Manrope"/>
                <a:ea typeface="Microsoft JhengHei"/>
                <a:cs typeface="Manrope"/>
              </a:rPr>
              <a:t>PM PROPOSAL &amp; METRICS EDUCATION · PAGE 15</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image">
                                      <p:cBhvr>
                                        <p:cTn id="7" dur="400"/>
                                        <p:tgtEl>
                                          <p:spTgt spid="2"/>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400"/>
                                        <p:tgtEl>
                                          <p:spTgt spid="3"/>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400"/>
                                        <p:tgtEl>
                                          <p:spTgt spid="4"/>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slide(fromBottom)">
                                      <p:cBhvr>
                                        <p:cTn id="19" dur="400"/>
                                        <p:tgtEl>
                                          <p:spTgt spid="29"/>
                                        </p:tgtEl>
                                      </p:cBhvr>
                                    </p:animEffect>
                                  </p:childTnLst>
                                </p:cTn>
                              </p:par>
                            </p:childTnLst>
                          </p:cTn>
                        </p:par>
                        <p:par>
                          <p:cTn id="20" fill="hold">
                            <p:stCondLst>
                              <p:cond delay="3600"/>
                            </p:stCondLst>
                            <p:childTnLst>
                              <p:par>
                                <p:cTn id="21" presetID="23" presetClass="entr" presetSubtype="0" fill="hold" nodeType="after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image">
                                      <p:cBhvr>
                                        <p:cTn id="23" dur="400"/>
                                        <p:tgtEl>
                                          <p:spTgt spid="33"/>
                                        </p:tgtEl>
                                      </p:cBhvr>
                                    </p:animEffect>
                                  </p:childTnLst>
                                </p:cTn>
                              </p:par>
                            </p:childTnLst>
                          </p:cTn>
                        </p:par>
                        <p:par>
                          <p:cTn id="24" fill="hold">
                            <p:stCondLst>
                              <p:cond delay="4500"/>
                            </p:stCondLst>
                            <p:childTnLst>
                              <p:par>
                                <p:cTn id="25" presetID="10" presetClass="entr" presetSubtype="0" fill="hold" nodeType="after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29" grpId="0"/>
      <p:bldP spid="33" grpId="0"/>
      <p:bldP spid="3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DFCF9"/>
          </a:solidFill>
          <a:ln>
            <a:noFill/>
          </a:ln>
        </p:spPr>
      </p:sp>
      <p:sp>
        <p:nvSpPr>
          <p:cNvPr id="3" name="TextBox 3"/>
          <p:cNvSpPr txBox="1"/>
          <p:nvPr/>
        </p:nvSpPr>
        <p:spPr>
          <a:xfrm>
            <a:off x="596265" y="648652"/>
            <a:ext cx="2981739" cy="213360"/>
          </a:xfrm>
          <a:prstGeom prst="rect">
            <a:avLst/>
          </a:prstGeom>
          <a:noFill/>
          <a:ln>
            <a:noFill/>
          </a:ln>
        </p:spPr>
        <p:txBody>
          <a:bodyPr wrap="none" lIns="0" tIns="0" rIns="0" bIns="0" anchor="t" anchorCtr="0">
            <a:spAutoFit/>
          </a:bodyPr>
          <a:lstStyle/>
          <a:p>
            <a:pPr algn="l"/>
            <a:r>
              <a:rPr lang="zh-CN" sz="1050" b="1" dirty="0">
                <a:solidFill>
                  <a:srgbClr val="007583"/>
                </a:solidFill>
                <a:latin typeface="Plus Jakarta Sans"/>
                <a:ea typeface="Microsoft JhengHei"/>
                <a:cs typeface="Plus Jakarta Sans"/>
              </a:rPr>
              <a:t>APPENDIX 01: NOTION AI MEETING ASSISTANT</a:t>
            </a:r>
          </a:p>
        </p:txBody>
      </p:sp>
      <p:sp>
        <p:nvSpPr>
          <p:cNvPr id="4" name="TextBox 4"/>
          <p:cNvSpPr txBox="1"/>
          <p:nvPr/>
        </p:nvSpPr>
        <p:spPr>
          <a:xfrm>
            <a:off x="582930" y="916305"/>
            <a:ext cx="4802034" cy="426720"/>
          </a:xfrm>
          <a:prstGeom prst="rect">
            <a:avLst/>
          </a:prstGeom>
          <a:noFill/>
          <a:ln>
            <a:noFill/>
          </a:ln>
        </p:spPr>
        <p:txBody>
          <a:bodyPr wrap="none" lIns="0" tIns="0" rIns="0" bIns="0" anchor="t" anchorCtr="0">
            <a:spAutoFit/>
          </a:bodyPr>
          <a:lstStyle/>
          <a:p>
            <a:pPr algn="l"/>
            <a:r>
              <a:rPr lang="zh-CN" sz="2100" b="1" dirty="0">
                <a:solidFill>
                  <a:srgbClr val="171C24"/>
                </a:solidFill>
                <a:latin typeface="Plus Jakarta Sans"/>
                <a:ea typeface="Microsoft JhengHei"/>
                <a:cs typeface="Plus Jakarta Sans"/>
              </a:rPr>
              <a:t>AI 會議記錄助理功能介面與流程設計</a:t>
            </a:r>
          </a:p>
        </p:txBody>
      </p:sp>
      <p:grpSp>
        <p:nvGrpSpPr>
          <p:cNvPr id="48" name="Group 48"/>
          <p:cNvGrpSpPr/>
          <p:nvPr/>
        </p:nvGrpSpPr>
        <p:grpSpPr>
          <a:xfrm>
            <a:off x="609600" y="1619250"/>
            <a:ext cx="10972800" cy="3810000"/>
            <a:chOff x="609600" y="1619250"/>
            <a:chExt cx="10972800" cy="3810000"/>
          </a:xfrm>
        </p:grpSpPr>
        <p:grpSp>
          <p:nvGrpSpPr>
            <p:cNvPr id="20" name="Group 20"/>
            <p:cNvGrpSpPr/>
            <p:nvPr/>
          </p:nvGrpSpPr>
          <p:grpSpPr>
            <a:xfrm>
              <a:off x="609600" y="1619250"/>
              <a:ext cx="4572000" cy="3810000"/>
              <a:chOff x="609600" y="1619250"/>
              <a:chExt cx="4572000" cy="3810000"/>
            </a:xfrm>
          </p:grpSpPr>
          <p:sp>
            <p:nvSpPr>
              <p:cNvPr id="5" name="Rectangle 5"/>
              <p:cNvSpPr/>
              <p:nvPr/>
            </p:nvSpPr>
            <p:spPr>
              <a:xfrm>
                <a:off x="609600" y="1619250"/>
                <a:ext cx="4572000" cy="3810000"/>
              </a:xfrm>
              <a:prstGeom prst="roundRect">
                <a:avLst>
                  <a:gd name="adj" fmla="val 4000"/>
                </a:avLst>
              </a:prstGeom>
              <a:solidFill>
                <a:srgbClr val="FFFFFF"/>
              </a:solidFill>
              <a:ln w="14288">
                <a:solidFill>
                  <a:srgbClr val="E5E3DE"/>
                </a:solidFill>
              </a:ln>
            </p:spPr>
          </p:sp>
          <p:sp>
            <p:nvSpPr>
              <p:cNvPr id="6" name="Rectangle 6"/>
              <p:cNvSpPr/>
              <p:nvPr/>
            </p:nvSpPr>
            <p:spPr>
              <a:xfrm>
                <a:off x="609600" y="1619250"/>
                <a:ext cx="4572000" cy="38100"/>
              </a:xfrm>
              <a:prstGeom prst="roundRect">
                <a:avLst>
                  <a:gd name="adj" fmla="val 50000"/>
                </a:avLst>
              </a:prstGeom>
              <a:solidFill>
                <a:srgbClr val="153166"/>
              </a:solidFill>
              <a:ln>
                <a:noFill/>
              </a:ln>
            </p:spPr>
          </p:sp>
          <p:grpSp>
            <p:nvGrpSpPr>
              <p:cNvPr id="10" name="Group 10"/>
              <p:cNvGrpSpPr/>
              <p:nvPr/>
            </p:nvGrpSpPr>
            <p:grpSpPr>
              <a:xfrm>
                <a:off x="852488" y="1847850"/>
                <a:ext cx="200025" cy="228600"/>
                <a:chOff x="852488" y="1847850"/>
                <a:chExt cx="200025" cy="228600"/>
              </a:xfrm>
            </p:grpSpPr>
            <p:sp>
              <p:nvSpPr>
                <p:cNvPr id="7" name="Freeform 7"/>
                <p:cNvSpPr/>
                <p:nvPr/>
              </p:nvSpPr>
              <p:spPr>
                <a:xfrm>
                  <a:off x="852488" y="1847850"/>
                  <a:ext cx="200025" cy="114300"/>
                </a:xfrm>
                <a:custGeom>
                  <a:avLst/>
                  <a:gdLst/>
                  <a:ahLst/>
                  <a:cxnLst/>
                  <a:rect l="l" t="t" r="r" b="b"/>
                  <a:pathLst>
                    <a:path w="200025" h="114300">
                      <a:moveTo>
                        <a:pt x="0" y="71438"/>
                      </a:moveTo>
                      <a:lnTo>
                        <a:pt x="0" y="42862"/>
                      </a:lnTo>
                      <a:lnTo>
                        <a:pt x="100012" y="0"/>
                      </a:lnTo>
                      <a:lnTo>
                        <a:pt x="200025" y="42862"/>
                      </a:lnTo>
                      <a:lnTo>
                        <a:pt x="200025" y="71438"/>
                      </a:lnTo>
                      <a:lnTo>
                        <a:pt x="100012" y="114300"/>
                      </a:lnTo>
                      <a:lnTo>
                        <a:pt x="0" y="71438"/>
                      </a:lnTo>
                      <a:close/>
                    </a:path>
                  </a:pathLst>
                </a:custGeom>
                <a:solidFill>
                  <a:srgbClr val="153166"/>
                </a:solidFill>
                <a:ln>
                  <a:noFill/>
                </a:ln>
              </p:spPr>
            </p:sp>
            <p:sp>
              <p:nvSpPr>
                <p:cNvPr id="8" name="Freeform 8"/>
                <p:cNvSpPr/>
                <p:nvPr/>
              </p:nvSpPr>
              <p:spPr>
                <a:xfrm>
                  <a:off x="852488" y="2005012"/>
                  <a:ext cx="200025" cy="71438"/>
                </a:xfrm>
                <a:custGeom>
                  <a:avLst/>
                  <a:gdLst/>
                  <a:ahLst/>
                  <a:cxnLst/>
                  <a:rect l="l" t="t" r="r" b="b"/>
                  <a:pathLst>
                    <a:path w="200025" h="71438">
                      <a:moveTo>
                        <a:pt x="100012" y="71438"/>
                      </a:moveTo>
                      <a:lnTo>
                        <a:pt x="0" y="28575"/>
                      </a:lnTo>
                      <a:lnTo>
                        <a:pt x="0" y="0"/>
                      </a:lnTo>
                      <a:lnTo>
                        <a:pt x="100012" y="42862"/>
                      </a:lnTo>
                      <a:lnTo>
                        <a:pt x="200025" y="0"/>
                      </a:lnTo>
                      <a:lnTo>
                        <a:pt x="200025" y="28575"/>
                      </a:lnTo>
                      <a:lnTo>
                        <a:pt x="100012" y="71438"/>
                      </a:lnTo>
                      <a:close/>
                    </a:path>
                  </a:pathLst>
                </a:custGeom>
                <a:solidFill>
                  <a:srgbClr val="153166"/>
                </a:solidFill>
                <a:ln>
                  <a:noFill/>
                </a:ln>
              </p:spPr>
            </p:sp>
            <p:sp>
              <p:nvSpPr>
                <p:cNvPr id="9" name="Freeform 9"/>
                <p:cNvSpPr/>
                <p:nvPr/>
              </p:nvSpPr>
              <p:spPr>
                <a:xfrm>
                  <a:off x="852488" y="1947862"/>
                  <a:ext cx="200025" cy="71438"/>
                </a:xfrm>
                <a:custGeom>
                  <a:avLst/>
                  <a:gdLst/>
                  <a:ahLst/>
                  <a:cxnLst/>
                  <a:rect l="l" t="t" r="r" b="b"/>
                  <a:pathLst>
                    <a:path w="200025" h="71438">
                      <a:moveTo>
                        <a:pt x="0" y="28575"/>
                      </a:moveTo>
                      <a:lnTo>
                        <a:pt x="100012" y="71438"/>
                      </a:lnTo>
                      <a:lnTo>
                        <a:pt x="200025" y="28575"/>
                      </a:lnTo>
                      <a:lnTo>
                        <a:pt x="200025" y="0"/>
                      </a:lnTo>
                      <a:lnTo>
                        <a:pt x="100012" y="42862"/>
                      </a:lnTo>
                      <a:lnTo>
                        <a:pt x="0" y="0"/>
                      </a:lnTo>
                      <a:lnTo>
                        <a:pt x="0" y="28575"/>
                      </a:lnTo>
                      <a:close/>
                    </a:path>
                  </a:pathLst>
                </a:custGeom>
                <a:solidFill>
                  <a:srgbClr val="153166"/>
                </a:solidFill>
                <a:ln>
                  <a:noFill/>
                </a:ln>
              </p:spPr>
            </p:sp>
          </p:grpSp>
          <p:sp>
            <p:nvSpPr>
              <p:cNvPr id="11" name="TextBox 11"/>
              <p:cNvSpPr txBox="1"/>
              <p:nvPr/>
            </p:nvSpPr>
            <p:spPr>
              <a:xfrm>
                <a:off x="1163955" y="1873568"/>
                <a:ext cx="1735503" cy="274320"/>
              </a:xfrm>
              <a:prstGeom prst="rect">
                <a:avLst/>
              </a:prstGeom>
              <a:noFill/>
              <a:ln>
                <a:noFill/>
              </a:ln>
            </p:spPr>
            <p:txBody>
              <a:bodyPr wrap="none" lIns="0" tIns="0" rIns="0" bIns="0" anchor="t" anchorCtr="0">
                <a:spAutoFit/>
              </a:bodyPr>
              <a:lstStyle/>
              <a:p>
                <a:pPr algn="l"/>
                <a:r>
                  <a:rPr lang="zh-CN" sz="1350" b="1" dirty="0">
                    <a:solidFill>
                      <a:srgbClr val="171C24"/>
                    </a:solidFill>
                    <a:latin typeface="Plus Jakarta Sans"/>
                    <a:ea typeface="Microsoft JhengHei"/>
                    <a:cs typeface="Plus Jakarta Sans"/>
                  </a:rPr>
                  <a:t>版面規劃與介面設計</a:t>
                </a:r>
              </a:p>
            </p:txBody>
          </p:sp>
          <p:grpSp>
            <p:nvGrpSpPr>
              <p:cNvPr id="15" name="Group 15"/>
              <p:cNvGrpSpPr/>
              <p:nvPr/>
            </p:nvGrpSpPr>
            <p:grpSpPr>
              <a:xfrm>
                <a:off x="838200" y="2381250"/>
                <a:ext cx="4114800" cy="1143000"/>
                <a:chOff x="838200" y="2381250"/>
                <a:chExt cx="4114800" cy="1143000"/>
              </a:xfrm>
            </p:grpSpPr>
            <p:sp>
              <p:nvSpPr>
                <p:cNvPr id="12" name="Rectangle 12"/>
                <p:cNvSpPr/>
                <p:nvPr/>
              </p:nvSpPr>
              <p:spPr>
                <a:xfrm>
                  <a:off x="838200" y="2381250"/>
                  <a:ext cx="4114800" cy="1143000"/>
                </a:xfrm>
                <a:prstGeom prst="roundRect">
                  <a:avLst>
                    <a:gd name="adj" fmla="val 6667"/>
                  </a:avLst>
                </a:prstGeom>
                <a:solidFill>
                  <a:srgbClr val="F3F2ED"/>
                </a:solidFill>
                <a:ln w="9525">
                  <a:solidFill>
                    <a:srgbClr val="E5E3DE"/>
                  </a:solidFill>
                </a:ln>
              </p:spPr>
            </p:sp>
            <p:sp>
              <p:nvSpPr>
                <p:cNvPr id="13" name="TextBox 13"/>
                <p:cNvSpPr txBox="1"/>
                <p:nvPr/>
              </p:nvSpPr>
              <p:spPr>
                <a:xfrm>
                  <a:off x="976312" y="2564606"/>
                  <a:ext cx="973693" cy="228600"/>
                </a:xfrm>
                <a:prstGeom prst="rect">
                  <a:avLst/>
                </a:prstGeom>
                <a:noFill/>
                <a:ln>
                  <a:noFill/>
                </a:ln>
              </p:spPr>
              <p:txBody>
                <a:bodyPr wrap="none" lIns="0" tIns="0" rIns="0" bIns="0" anchor="t" anchorCtr="0">
                  <a:spAutoFit/>
                </a:bodyPr>
                <a:lstStyle/>
                <a:p>
                  <a:pPr algn="l"/>
                  <a:r>
                    <a:rPr lang="zh-CN" sz="1125" b="1" dirty="0">
                      <a:solidFill>
                        <a:srgbClr val="153166"/>
                      </a:solidFill>
                      <a:latin typeface="Plus Jakarta Sans"/>
                      <a:ea typeface="Microsoft JhengHei"/>
                      <a:cs typeface="Plus Jakarta Sans"/>
                    </a:rPr>
                    <a:t>左側展示區塊</a:t>
                  </a:r>
                </a:p>
              </p:txBody>
            </p:sp>
            <p:sp>
              <p:nvSpPr>
                <p:cNvPr id="14" name="TextBox 14"/>
                <p:cNvSpPr txBox="1"/>
                <p:nvPr/>
              </p:nvSpPr>
              <p:spPr>
                <a:xfrm>
                  <a:off x="976312" y="2831306"/>
                  <a:ext cx="3171825" cy="457200"/>
                </a:xfrm>
                <a:prstGeom prst="rect">
                  <a:avLst/>
                </a:prstGeom>
                <a:noFill/>
                <a:ln>
                  <a:noFill/>
                </a:ln>
              </p:spPr>
              <p:txBody>
                <a:bodyPr wrap="square" lIns="0" tIns="0" rIns="0" bIns="0" anchor="t" anchorCtr="0"/>
                <a:lstStyle/>
                <a:p>
                  <a:pPr algn="l">
                    <a:lnSpc>
                      <a:spcPts val="1800"/>
                    </a:lnSpc>
                  </a:pPr>
                  <a:r>
                    <a:rPr lang="zh-CN" sz="1125" dirty="0">
                      <a:solidFill>
                        <a:srgbClr val="171C24"/>
                      </a:solidFill>
                      <a:latin typeface="Manrope"/>
                      <a:ea typeface="Microsoft JhengHei"/>
                      <a:cs typeface="Manrope"/>
                    </a:rPr>
                    <a:t>會議文件中的 AI 摘要卡片</a:t>
                  </a:r>
                  <a:r>
                    <a:rPr lang="zh-CN" sz="975" dirty="0">
                      <a:solidFill>
                        <a:srgbClr val="525864"/>
                      </a:solidFill>
                      <a:latin typeface="Manrope"/>
                      <a:ea typeface="Microsoft JhengHei"/>
                      <a:cs typeface="Manrope"/>
                    </a:rPr>
                    <a:t>自動結構化呈現會議大綱、關鍵討論點與待辦清單</a:t>
                  </a:r>
                </a:p>
              </p:txBody>
            </p:sp>
          </p:grpSp>
          <p:grpSp>
            <p:nvGrpSpPr>
              <p:cNvPr id="19" name="Group 19"/>
              <p:cNvGrpSpPr/>
              <p:nvPr/>
            </p:nvGrpSpPr>
            <p:grpSpPr>
              <a:xfrm>
                <a:off x="838200" y="3714750"/>
                <a:ext cx="4114800" cy="1143000"/>
                <a:chOff x="838200" y="3714750"/>
                <a:chExt cx="4114800" cy="1143000"/>
              </a:xfrm>
            </p:grpSpPr>
            <p:sp>
              <p:nvSpPr>
                <p:cNvPr id="16" name="Rectangle 16"/>
                <p:cNvSpPr/>
                <p:nvPr/>
              </p:nvSpPr>
              <p:spPr>
                <a:xfrm>
                  <a:off x="838200" y="3714750"/>
                  <a:ext cx="4114800" cy="1143000"/>
                </a:xfrm>
                <a:prstGeom prst="roundRect">
                  <a:avLst>
                    <a:gd name="adj" fmla="val 6667"/>
                  </a:avLst>
                </a:prstGeom>
                <a:solidFill>
                  <a:srgbClr val="F3F2ED"/>
                </a:solidFill>
                <a:ln w="9525">
                  <a:solidFill>
                    <a:srgbClr val="E5E3DE"/>
                  </a:solidFill>
                </a:ln>
              </p:spPr>
            </p:sp>
            <p:sp>
              <p:nvSpPr>
                <p:cNvPr id="17" name="TextBox 17"/>
                <p:cNvSpPr txBox="1"/>
                <p:nvPr/>
              </p:nvSpPr>
              <p:spPr>
                <a:xfrm>
                  <a:off x="976312" y="3898106"/>
                  <a:ext cx="973693" cy="228600"/>
                </a:xfrm>
                <a:prstGeom prst="rect">
                  <a:avLst/>
                </a:prstGeom>
                <a:noFill/>
                <a:ln>
                  <a:noFill/>
                </a:ln>
              </p:spPr>
              <p:txBody>
                <a:bodyPr wrap="none" lIns="0" tIns="0" rIns="0" bIns="0" anchor="t" anchorCtr="0">
                  <a:spAutoFit/>
                </a:bodyPr>
                <a:lstStyle/>
                <a:p>
                  <a:pPr algn="l"/>
                  <a:r>
                    <a:rPr lang="zh-CN" sz="1125" b="1" dirty="0">
                      <a:solidFill>
                        <a:srgbClr val="00969D"/>
                      </a:solidFill>
                      <a:latin typeface="Plus Jakarta Sans"/>
                      <a:ea typeface="Microsoft JhengHei"/>
                      <a:cs typeface="Plus Jakarta Sans"/>
                    </a:rPr>
                    <a:t>右側展示區塊</a:t>
                  </a:r>
                </a:p>
              </p:txBody>
            </p:sp>
            <p:sp>
              <p:nvSpPr>
                <p:cNvPr id="18" name="TextBox 18"/>
                <p:cNvSpPr txBox="1"/>
                <p:nvPr/>
              </p:nvSpPr>
              <p:spPr>
                <a:xfrm>
                  <a:off x="976312" y="4164806"/>
                  <a:ext cx="3550444" cy="457200"/>
                </a:xfrm>
                <a:prstGeom prst="rect">
                  <a:avLst/>
                </a:prstGeom>
                <a:noFill/>
                <a:ln>
                  <a:noFill/>
                </a:ln>
              </p:spPr>
              <p:txBody>
                <a:bodyPr wrap="square" lIns="0" tIns="0" rIns="0" bIns="0" anchor="t" anchorCtr="0"/>
                <a:lstStyle/>
                <a:p>
                  <a:pPr algn="l">
                    <a:lnSpc>
                      <a:spcPts val="1800"/>
                    </a:lnSpc>
                  </a:pPr>
                  <a:r>
                    <a:rPr lang="zh-CN" sz="1125" dirty="0">
                      <a:solidFill>
                        <a:srgbClr val="171C24"/>
                      </a:solidFill>
                      <a:latin typeface="Manrope"/>
                      <a:ea typeface="Microsoft JhengHei"/>
                      <a:cs typeface="Manrope"/>
                    </a:rPr>
                    <a:t>一鍵同步至 Notion Task 的交互介面</a:t>
                  </a:r>
                  <a:r>
                    <a:rPr lang="zh-CN" sz="975" dirty="0">
                      <a:solidFill>
                        <a:srgbClr val="525864"/>
                      </a:solidFill>
                      <a:latin typeface="Manrope"/>
                      <a:ea typeface="Microsoft JhengHei"/>
                      <a:cs typeface="Manrope"/>
                    </a:rPr>
                    <a:t>與 Notion 原生任務多維數據庫整合，實現無縫任務派發</a:t>
                  </a:r>
                </a:p>
              </p:txBody>
            </p:sp>
          </p:grpSp>
        </p:grpSp>
        <p:grpSp>
          <p:nvGrpSpPr>
            <p:cNvPr id="47" name="Group 47"/>
            <p:cNvGrpSpPr/>
            <p:nvPr/>
          </p:nvGrpSpPr>
          <p:grpSpPr>
            <a:xfrm>
              <a:off x="5562600" y="1619250"/>
              <a:ext cx="6019800" cy="3810000"/>
              <a:chOff x="5562600" y="1619250"/>
              <a:chExt cx="6019800" cy="3810000"/>
            </a:xfrm>
          </p:grpSpPr>
          <p:sp>
            <p:nvSpPr>
              <p:cNvPr id="21" name="Rectangle 21"/>
              <p:cNvSpPr/>
              <p:nvPr/>
            </p:nvSpPr>
            <p:spPr>
              <a:xfrm>
                <a:off x="5562600" y="1619250"/>
                <a:ext cx="6019800" cy="3810000"/>
              </a:xfrm>
              <a:prstGeom prst="roundRect">
                <a:avLst>
                  <a:gd name="adj" fmla="val 4000"/>
                </a:avLst>
              </a:prstGeom>
              <a:solidFill>
                <a:srgbClr val="FFFFFF"/>
              </a:solidFill>
              <a:ln w="14288">
                <a:solidFill>
                  <a:srgbClr val="E5E3DE"/>
                </a:solidFill>
              </a:ln>
            </p:spPr>
          </p:sp>
          <p:sp>
            <p:nvSpPr>
              <p:cNvPr id="22" name="Freeform 22"/>
              <p:cNvSpPr/>
              <p:nvPr/>
            </p:nvSpPr>
            <p:spPr>
              <a:xfrm>
                <a:off x="5819775" y="1847850"/>
                <a:ext cx="171450" cy="228600"/>
              </a:xfrm>
              <a:custGeom>
                <a:avLst/>
                <a:gdLst/>
                <a:ahLst/>
                <a:cxnLst/>
                <a:rect l="l" t="t" r="r" b="b"/>
                <a:pathLst>
                  <a:path w="171450" h="228600">
                    <a:moveTo>
                      <a:pt x="100012" y="100012"/>
                    </a:moveTo>
                    <a:lnTo>
                      <a:pt x="114300" y="0"/>
                    </a:lnTo>
                    <a:lnTo>
                      <a:pt x="85725" y="0"/>
                    </a:lnTo>
                    <a:lnTo>
                      <a:pt x="0" y="100012"/>
                    </a:lnTo>
                    <a:lnTo>
                      <a:pt x="0" y="128588"/>
                    </a:lnTo>
                    <a:lnTo>
                      <a:pt x="71438" y="128588"/>
                    </a:lnTo>
                    <a:lnTo>
                      <a:pt x="57150" y="228600"/>
                    </a:lnTo>
                    <a:lnTo>
                      <a:pt x="85725" y="228600"/>
                    </a:lnTo>
                    <a:lnTo>
                      <a:pt x="171450" y="128588"/>
                    </a:lnTo>
                    <a:lnTo>
                      <a:pt x="171450" y="100012"/>
                    </a:lnTo>
                    <a:lnTo>
                      <a:pt x="100012" y="100012"/>
                    </a:lnTo>
                    <a:close/>
                  </a:path>
                </a:pathLst>
              </a:custGeom>
              <a:solidFill>
                <a:srgbClr val="00969D"/>
              </a:solidFill>
              <a:ln>
                <a:noFill/>
              </a:ln>
            </p:spPr>
          </p:sp>
          <p:sp>
            <p:nvSpPr>
              <p:cNvPr id="23" name="TextBox 23"/>
              <p:cNvSpPr txBox="1"/>
              <p:nvPr/>
            </p:nvSpPr>
            <p:spPr>
              <a:xfrm>
                <a:off x="6116955" y="1873568"/>
                <a:ext cx="1357455" cy="274320"/>
              </a:xfrm>
              <a:prstGeom prst="rect">
                <a:avLst/>
              </a:prstGeom>
              <a:noFill/>
              <a:ln>
                <a:noFill/>
              </a:ln>
            </p:spPr>
            <p:txBody>
              <a:bodyPr wrap="none" lIns="0" tIns="0" rIns="0" bIns="0" anchor="t" anchorCtr="0">
                <a:spAutoFit/>
              </a:bodyPr>
              <a:lstStyle/>
              <a:p>
                <a:pPr algn="l"/>
                <a:r>
                  <a:rPr lang="zh-CN" sz="1350" b="1" dirty="0">
                    <a:solidFill>
                      <a:srgbClr val="171C24"/>
                    </a:solidFill>
                    <a:latin typeface="Plus Jakarta Sans"/>
                    <a:ea typeface="Microsoft JhengHei"/>
                    <a:cs typeface="Plus Jakarta Sans"/>
                  </a:rPr>
                  <a:t>處理與協作流程</a:t>
                </a:r>
              </a:p>
            </p:txBody>
          </p:sp>
          <p:grpSp>
            <p:nvGrpSpPr>
              <p:cNvPr id="26" name="Group 26"/>
              <p:cNvGrpSpPr/>
              <p:nvPr/>
            </p:nvGrpSpPr>
            <p:grpSpPr>
              <a:xfrm>
                <a:off x="5867400" y="2381250"/>
                <a:ext cx="1714500" cy="419100"/>
                <a:chOff x="5867400" y="2381250"/>
                <a:chExt cx="1714500" cy="419100"/>
              </a:xfrm>
            </p:grpSpPr>
            <p:sp>
              <p:nvSpPr>
                <p:cNvPr id="24" name="Rectangle 24"/>
                <p:cNvSpPr/>
                <p:nvPr/>
              </p:nvSpPr>
              <p:spPr>
                <a:xfrm>
                  <a:off x="5867400" y="2381250"/>
                  <a:ext cx="1714500" cy="419100"/>
                </a:xfrm>
                <a:prstGeom prst="roundRect">
                  <a:avLst>
                    <a:gd name="adj" fmla="val 18182"/>
                  </a:avLst>
                </a:prstGeom>
                <a:solidFill>
                  <a:srgbClr val="153166"/>
                </a:solidFill>
                <a:ln>
                  <a:noFill/>
                </a:ln>
              </p:spPr>
            </p:sp>
            <p:sp>
              <p:nvSpPr>
                <p:cNvPr id="25" name="TextBox 25"/>
                <p:cNvSpPr txBox="1"/>
                <p:nvPr/>
              </p:nvSpPr>
              <p:spPr>
                <a:xfrm>
                  <a:off x="6270260" y="2525078"/>
                  <a:ext cx="90878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JhengHei"/>
                      <a:cs typeface="Segoe UI"/>
                    </a:rPr>
                    <a:t>會議語音記錄</a:t>
                  </a:r>
                </a:p>
              </p:txBody>
            </p:sp>
          </p:grpSp>
          <p:sp>
            <p:nvSpPr>
              <p:cNvPr id="27" name="Freeform 27"/>
              <p:cNvSpPr/>
              <p:nvPr/>
            </p:nvSpPr>
            <p:spPr>
              <a:xfrm>
                <a:off x="6724650" y="2800350"/>
                <a:ext cx="9525" cy="152400"/>
              </a:xfrm>
              <a:custGeom>
                <a:avLst/>
                <a:gdLst/>
                <a:ahLst/>
                <a:cxnLst/>
                <a:rect l="l" t="t" r="r" b="b"/>
                <a:pathLst>
                  <a:path w="9525" h="152400">
                    <a:moveTo>
                      <a:pt x="0" y="0"/>
                    </a:moveTo>
                    <a:lnTo>
                      <a:pt x="0" y="152400"/>
                    </a:lnTo>
                  </a:path>
                </a:pathLst>
              </a:custGeom>
              <a:noFill/>
              <a:ln w="19050">
                <a:solidFill>
                  <a:srgbClr val="E5E3DE"/>
                </a:solidFill>
              </a:ln>
            </p:spPr>
          </p:sp>
          <p:sp>
            <p:nvSpPr>
              <p:cNvPr id="28" name="Polygon 28"/>
              <p:cNvSpPr/>
              <p:nvPr/>
            </p:nvSpPr>
            <p:spPr>
              <a:xfrm>
                <a:off x="6686550" y="2914650"/>
                <a:ext cx="76200" cy="76200"/>
              </a:xfrm>
              <a:custGeom>
                <a:avLst/>
                <a:gdLst/>
                <a:ahLst/>
                <a:cxnLst/>
                <a:rect l="l" t="t" r="r" b="b"/>
                <a:pathLst>
                  <a:path w="76200" h="76200">
                    <a:moveTo>
                      <a:pt x="38100" y="76200"/>
                    </a:moveTo>
                    <a:lnTo>
                      <a:pt x="0" y="0"/>
                    </a:lnTo>
                    <a:lnTo>
                      <a:pt x="76200" y="0"/>
                    </a:lnTo>
                    <a:close/>
                  </a:path>
                </a:pathLst>
              </a:custGeom>
              <a:solidFill>
                <a:srgbClr val="E5E3DE"/>
              </a:solidFill>
              <a:ln>
                <a:noFill/>
              </a:ln>
            </p:spPr>
          </p:sp>
          <p:grpSp>
            <p:nvGrpSpPr>
              <p:cNvPr id="31" name="Group 31"/>
              <p:cNvGrpSpPr/>
              <p:nvPr/>
            </p:nvGrpSpPr>
            <p:grpSpPr>
              <a:xfrm>
                <a:off x="5867400" y="2990850"/>
                <a:ext cx="1714500" cy="419100"/>
                <a:chOff x="5867400" y="2990850"/>
                <a:chExt cx="1714500" cy="419100"/>
              </a:xfrm>
            </p:grpSpPr>
            <p:sp>
              <p:nvSpPr>
                <p:cNvPr id="29" name="Rectangle 29"/>
                <p:cNvSpPr/>
                <p:nvPr/>
              </p:nvSpPr>
              <p:spPr>
                <a:xfrm>
                  <a:off x="5867400" y="2990850"/>
                  <a:ext cx="1714500" cy="419100"/>
                </a:xfrm>
                <a:prstGeom prst="roundRect">
                  <a:avLst>
                    <a:gd name="adj" fmla="val 18182"/>
                  </a:avLst>
                </a:prstGeom>
                <a:solidFill>
                  <a:srgbClr val="FFFFFF"/>
                </a:solidFill>
                <a:ln w="14288">
                  <a:solidFill>
                    <a:srgbClr val="153166"/>
                  </a:solidFill>
                </a:ln>
              </p:spPr>
            </p:sp>
            <p:sp>
              <p:nvSpPr>
                <p:cNvPr id="30" name="TextBox 30"/>
                <p:cNvSpPr txBox="1"/>
                <p:nvPr/>
              </p:nvSpPr>
              <p:spPr>
                <a:xfrm>
                  <a:off x="6259233" y="3134678"/>
                  <a:ext cx="930833" cy="213360"/>
                </a:xfrm>
                <a:prstGeom prst="rect">
                  <a:avLst/>
                </a:prstGeom>
                <a:noFill/>
                <a:ln>
                  <a:noFill/>
                </a:ln>
              </p:spPr>
              <p:txBody>
                <a:bodyPr wrap="none" lIns="0" tIns="0" rIns="0" bIns="0" anchor="t" anchorCtr="0">
                  <a:spAutoFit/>
                </a:bodyPr>
                <a:lstStyle/>
                <a:p>
                  <a:pPr algn="ctr"/>
                  <a:r>
                    <a:rPr lang="zh-CN" sz="1050" b="1" dirty="0">
                      <a:solidFill>
                        <a:srgbClr val="171C24"/>
                      </a:solidFill>
                      <a:latin typeface="Segoe UI"/>
                      <a:ea typeface="Microsoft JhengHei"/>
                      <a:cs typeface="Segoe UI"/>
                    </a:rPr>
                    <a:t>AI 語音轉文字</a:t>
                  </a:r>
                </a:p>
              </p:txBody>
            </p:sp>
          </p:grpSp>
          <p:sp>
            <p:nvSpPr>
              <p:cNvPr id="32" name="Freeform 32"/>
              <p:cNvSpPr/>
              <p:nvPr/>
            </p:nvSpPr>
            <p:spPr>
              <a:xfrm>
                <a:off x="6724650" y="3409950"/>
                <a:ext cx="9525" cy="152400"/>
              </a:xfrm>
              <a:custGeom>
                <a:avLst/>
                <a:gdLst/>
                <a:ahLst/>
                <a:cxnLst/>
                <a:rect l="l" t="t" r="r" b="b"/>
                <a:pathLst>
                  <a:path w="9525" h="152400">
                    <a:moveTo>
                      <a:pt x="0" y="0"/>
                    </a:moveTo>
                    <a:lnTo>
                      <a:pt x="0" y="152400"/>
                    </a:lnTo>
                  </a:path>
                </a:pathLst>
              </a:custGeom>
              <a:noFill/>
              <a:ln w="19050">
                <a:solidFill>
                  <a:srgbClr val="E5E3DE"/>
                </a:solidFill>
              </a:ln>
            </p:spPr>
          </p:sp>
          <p:sp>
            <p:nvSpPr>
              <p:cNvPr id="33" name="Polygon 33"/>
              <p:cNvSpPr/>
              <p:nvPr/>
            </p:nvSpPr>
            <p:spPr>
              <a:xfrm>
                <a:off x="6686550" y="3524250"/>
                <a:ext cx="76200" cy="76200"/>
              </a:xfrm>
              <a:custGeom>
                <a:avLst/>
                <a:gdLst/>
                <a:ahLst/>
                <a:cxnLst/>
                <a:rect l="l" t="t" r="r" b="b"/>
                <a:pathLst>
                  <a:path w="76200" h="76200">
                    <a:moveTo>
                      <a:pt x="38100" y="76200"/>
                    </a:moveTo>
                    <a:lnTo>
                      <a:pt x="0" y="0"/>
                    </a:lnTo>
                    <a:lnTo>
                      <a:pt x="76200" y="0"/>
                    </a:lnTo>
                    <a:close/>
                  </a:path>
                </a:pathLst>
              </a:custGeom>
              <a:solidFill>
                <a:srgbClr val="E5E3DE"/>
              </a:solidFill>
              <a:ln>
                <a:noFill/>
              </a:ln>
            </p:spPr>
          </p:sp>
          <p:grpSp>
            <p:nvGrpSpPr>
              <p:cNvPr id="36" name="Group 36"/>
              <p:cNvGrpSpPr/>
              <p:nvPr/>
            </p:nvGrpSpPr>
            <p:grpSpPr>
              <a:xfrm>
                <a:off x="5867400" y="3600450"/>
                <a:ext cx="1714500" cy="419100"/>
                <a:chOff x="5867400" y="3600450"/>
                <a:chExt cx="1714500" cy="419100"/>
              </a:xfrm>
            </p:grpSpPr>
            <p:sp>
              <p:nvSpPr>
                <p:cNvPr id="34" name="Rectangle 34"/>
                <p:cNvSpPr/>
                <p:nvPr/>
              </p:nvSpPr>
              <p:spPr>
                <a:xfrm>
                  <a:off x="5867400" y="3600450"/>
                  <a:ext cx="1714500" cy="419100"/>
                </a:xfrm>
                <a:prstGeom prst="roundRect">
                  <a:avLst>
                    <a:gd name="adj" fmla="val 18182"/>
                  </a:avLst>
                </a:prstGeom>
                <a:solidFill>
                  <a:srgbClr val="FFFFFF"/>
                </a:solidFill>
                <a:ln w="14288">
                  <a:solidFill>
                    <a:srgbClr val="00969D"/>
                  </a:solidFill>
                </a:ln>
              </p:spPr>
            </p:sp>
            <p:sp>
              <p:nvSpPr>
                <p:cNvPr id="35" name="TextBox 35"/>
                <p:cNvSpPr txBox="1"/>
                <p:nvPr/>
              </p:nvSpPr>
              <p:spPr>
                <a:xfrm>
                  <a:off x="5965197" y="3744278"/>
                  <a:ext cx="1518907" cy="213360"/>
                </a:xfrm>
                <a:prstGeom prst="rect">
                  <a:avLst/>
                </a:prstGeom>
                <a:noFill/>
                <a:ln>
                  <a:noFill/>
                </a:ln>
              </p:spPr>
              <p:txBody>
                <a:bodyPr wrap="none" lIns="0" tIns="0" rIns="0" bIns="0" anchor="t" anchorCtr="0">
                  <a:spAutoFit/>
                </a:bodyPr>
                <a:lstStyle/>
                <a:p>
                  <a:pPr algn="ctr"/>
                  <a:r>
                    <a:rPr lang="zh-CN" sz="1050" b="1" dirty="0">
                      <a:solidFill>
                        <a:srgbClr val="171C24"/>
                      </a:solidFill>
                      <a:latin typeface="Segoe UI"/>
                      <a:ea typeface="Microsoft JhengHei"/>
                      <a:cs typeface="Segoe UI"/>
                    </a:rPr>
                    <a:t>AI 會議摘要與任務分派</a:t>
                  </a:r>
                </a:p>
              </p:txBody>
            </p:sp>
          </p:grpSp>
          <p:sp>
            <p:nvSpPr>
              <p:cNvPr id="37" name="Freeform 37"/>
              <p:cNvSpPr/>
              <p:nvPr/>
            </p:nvSpPr>
            <p:spPr>
              <a:xfrm>
                <a:off x="7581900" y="2590800"/>
                <a:ext cx="1790700" cy="1219200"/>
              </a:xfrm>
              <a:custGeom>
                <a:avLst/>
                <a:gdLst/>
                <a:ahLst/>
                <a:cxnLst/>
                <a:rect l="l" t="t" r="r" b="b"/>
                <a:pathLst>
                  <a:path w="1790700" h="1219200">
                    <a:moveTo>
                      <a:pt x="0" y="1219200"/>
                    </a:moveTo>
                    <a:lnTo>
                      <a:pt x="1028700" y="1219200"/>
                    </a:lnTo>
                    <a:lnTo>
                      <a:pt x="1028700" y="0"/>
                    </a:lnTo>
                    <a:lnTo>
                      <a:pt x="1790700" y="0"/>
                    </a:lnTo>
                  </a:path>
                </a:pathLst>
              </a:custGeom>
              <a:noFill/>
              <a:ln w="19050">
                <a:solidFill>
                  <a:srgbClr val="00969D"/>
                </a:solidFill>
              </a:ln>
            </p:spPr>
          </p:sp>
          <p:sp>
            <p:nvSpPr>
              <p:cNvPr id="38" name="Polygon 38"/>
              <p:cNvSpPr/>
              <p:nvPr/>
            </p:nvSpPr>
            <p:spPr>
              <a:xfrm>
                <a:off x="9334500" y="2552700"/>
                <a:ext cx="76200" cy="76200"/>
              </a:xfrm>
              <a:custGeom>
                <a:avLst/>
                <a:gdLst/>
                <a:ahLst/>
                <a:cxnLst/>
                <a:rect l="l" t="t" r="r" b="b"/>
                <a:pathLst>
                  <a:path w="76200" h="76200">
                    <a:moveTo>
                      <a:pt x="76200" y="38100"/>
                    </a:moveTo>
                    <a:lnTo>
                      <a:pt x="0" y="0"/>
                    </a:lnTo>
                    <a:lnTo>
                      <a:pt x="0" y="76200"/>
                    </a:lnTo>
                    <a:close/>
                  </a:path>
                </a:pathLst>
              </a:custGeom>
              <a:solidFill>
                <a:srgbClr val="00969D"/>
              </a:solidFill>
              <a:ln>
                <a:noFill/>
              </a:ln>
            </p:spPr>
          </p:sp>
          <p:grpSp>
            <p:nvGrpSpPr>
              <p:cNvPr id="41" name="Group 41"/>
              <p:cNvGrpSpPr/>
              <p:nvPr/>
            </p:nvGrpSpPr>
            <p:grpSpPr>
              <a:xfrm>
                <a:off x="9563100" y="2381250"/>
                <a:ext cx="1714500" cy="419100"/>
                <a:chOff x="9563100" y="2381250"/>
                <a:chExt cx="1714500" cy="419100"/>
              </a:xfrm>
            </p:grpSpPr>
            <p:sp>
              <p:nvSpPr>
                <p:cNvPr id="39" name="Rectangle 39"/>
                <p:cNvSpPr/>
                <p:nvPr/>
              </p:nvSpPr>
              <p:spPr>
                <a:xfrm>
                  <a:off x="9563100" y="2381250"/>
                  <a:ext cx="1714500" cy="419100"/>
                </a:xfrm>
                <a:prstGeom prst="roundRect">
                  <a:avLst>
                    <a:gd name="adj" fmla="val 18182"/>
                  </a:avLst>
                </a:prstGeom>
                <a:solidFill>
                  <a:srgbClr val="FFFFFF"/>
                </a:solidFill>
                <a:ln w="14288">
                  <a:solidFill>
                    <a:srgbClr val="007583"/>
                  </a:solidFill>
                </a:ln>
              </p:spPr>
            </p:sp>
            <p:sp>
              <p:nvSpPr>
                <p:cNvPr id="40" name="TextBox 40"/>
                <p:cNvSpPr txBox="1"/>
                <p:nvPr/>
              </p:nvSpPr>
              <p:spPr>
                <a:xfrm>
                  <a:off x="9818941" y="2525078"/>
                  <a:ext cx="1202817" cy="213360"/>
                </a:xfrm>
                <a:prstGeom prst="rect">
                  <a:avLst/>
                </a:prstGeom>
                <a:noFill/>
                <a:ln>
                  <a:noFill/>
                </a:ln>
              </p:spPr>
              <p:txBody>
                <a:bodyPr wrap="none" lIns="0" tIns="0" rIns="0" bIns="0" anchor="t" anchorCtr="0">
                  <a:spAutoFit/>
                </a:bodyPr>
                <a:lstStyle/>
                <a:p>
                  <a:pPr algn="ctr"/>
                  <a:r>
                    <a:rPr lang="zh-CN" sz="1050" b="1" dirty="0">
                      <a:solidFill>
                        <a:srgbClr val="171C24"/>
                      </a:solidFill>
                      <a:latin typeface="Segoe UI"/>
                      <a:ea typeface="Microsoft JhengHei"/>
                      <a:cs typeface="Segoe UI"/>
                    </a:rPr>
                    <a:t>專案經理確認內容</a:t>
                  </a:r>
                </a:p>
              </p:txBody>
            </p:sp>
          </p:grpSp>
          <p:sp>
            <p:nvSpPr>
              <p:cNvPr id="42" name="Freeform 42"/>
              <p:cNvSpPr/>
              <p:nvPr/>
            </p:nvSpPr>
            <p:spPr>
              <a:xfrm>
                <a:off x="10420350" y="2800350"/>
                <a:ext cx="9525" cy="152400"/>
              </a:xfrm>
              <a:custGeom>
                <a:avLst/>
                <a:gdLst/>
                <a:ahLst/>
                <a:cxnLst/>
                <a:rect l="l" t="t" r="r" b="b"/>
                <a:pathLst>
                  <a:path w="9525" h="152400">
                    <a:moveTo>
                      <a:pt x="0" y="0"/>
                    </a:moveTo>
                    <a:lnTo>
                      <a:pt x="0" y="152400"/>
                    </a:lnTo>
                  </a:path>
                </a:pathLst>
              </a:custGeom>
              <a:noFill/>
              <a:ln w="19050">
                <a:solidFill>
                  <a:srgbClr val="E5E3DE"/>
                </a:solidFill>
              </a:ln>
            </p:spPr>
          </p:sp>
          <p:sp>
            <p:nvSpPr>
              <p:cNvPr id="43" name="Polygon 43"/>
              <p:cNvSpPr/>
              <p:nvPr/>
            </p:nvSpPr>
            <p:spPr>
              <a:xfrm>
                <a:off x="10382250" y="2914650"/>
                <a:ext cx="76200" cy="76200"/>
              </a:xfrm>
              <a:custGeom>
                <a:avLst/>
                <a:gdLst/>
                <a:ahLst/>
                <a:cxnLst/>
                <a:rect l="l" t="t" r="r" b="b"/>
                <a:pathLst>
                  <a:path w="76200" h="76200">
                    <a:moveTo>
                      <a:pt x="38100" y="76200"/>
                    </a:moveTo>
                    <a:lnTo>
                      <a:pt x="0" y="0"/>
                    </a:lnTo>
                    <a:lnTo>
                      <a:pt x="76200" y="0"/>
                    </a:lnTo>
                    <a:close/>
                  </a:path>
                </a:pathLst>
              </a:custGeom>
              <a:solidFill>
                <a:srgbClr val="E5E3DE"/>
              </a:solidFill>
              <a:ln>
                <a:noFill/>
              </a:ln>
            </p:spPr>
          </p:sp>
          <p:grpSp>
            <p:nvGrpSpPr>
              <p:cNvPr id="46" name="Group 46"/>
              <p:cNvGrpSpPr/>
              <p:nvPr/>
            </p:nvGrpSpPr>
            <p:grpSpPr>
              <a:xfrm>
                <a:off x="9563100" y="2990850"/>
                <a:ext cx="1714500" cy="419100"/>
                <a:chOff x="9563100" y="2990850"/>
                <a:chExt cx="1714500" cy="419100"/>
              </a:xfrm>
            </p:grpSpPr>
            <p:sp>
              <p:nvSpPr>
                <p:cNvPr id="44" name="Rectangle 44"/>
                <p:cNvSpPr/>
                <p:nvPr/>
              </p:nvSpPr>
              <p:spPr>
                <a:xfrm>
                  <a:off x="9563100" y="2990850"/>
                  <a:ext cx="1714500" cy="419100"/>
                </a:xfrm>
                <a:prstGeom prst="roundRect">
                  <a:avLst>
                    <a:gd name="adj" fmla="val 18182"/>
                  </a:avLst>
                </a:prstGeom>
                <a:solidFill>
                  <a:srgbClr val="00969D"/>
                </a:solidFill>
                <a:ln>
                  <a:noFill/>
                </a:ln>
              </p:spPr>
            </p:sp>
            <p:sp>
              <p:nvSpPr>
                <p:cNvPr id="45" name="TextBox 45"/>
                <p:cNvSpPr txBox="1"/>
                <p:nvPr/>
              </p:nvSpPr>
              <p:spPr>
                <a:xfrm>
                  <a:off x="9682950" y="3134678"/>
                  <a:ext cx="1474801"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JhengHei"/>
                      <a:cs typeface="Segoe UI"/>
                    </a:rPr>
                    <a:t>一鍵同步 Notion Task</a:t>
                  </a:r>
                </a:p>
              </p:txBody>
            </p:sp>
          </p:grpSp>
        </p:grpSp>
      </p:grpSp>
      <p:grpSp>
        <p:nvGrpSpPr>
          <p:cNvPr id="52" name="Group 52"/>
          <p:cNvGrpSpPr/>
          <p:nvPr/>
        </p:nvGrpSpPr>
        <p:grpSpPr>
          <a:xfrm>
            <a:off x="609600" y="5619750"/>
            <a:ext cx="10972800" cy="571500"/>
            <a:chOff x="609600" y="5619750"/>
            <a:chExt cx="10972800" cy="571500"/>
          </a:xfrm>
        </p:grpSpPr>
        <p:sp>
          <p:nvSpPr>
            <p:cNvPr id="49" name="Rectangle 49"/>
            <p:cNvSpPr/>
            <p:nvPr/>
          </p:nvSpPr>
          <p:spPr>
            <a:xfrm>
              <a:off x="609600" y="5619750"/>
              <a:ext cx="10972800" cy="571500"/>
            </a:xfrm>
            <a:prstGeom prst="roundRect">
              <a:avLst>
                <a:gd name="adj" fmla="val 13333"/>
              </a:avLst>
            </a:prstGeom>
            <a:solidFill>
              <a:srgbClr val="F3F2ED"/>
            </a:solidFill>
            <a:ln>
              <a:noFill/>
            </a:ln>
          </p:spPr>
        </p:sp>
        <p:sp>
          <p:nvSpPr>
            <p:cNvPr id="50" name="Freeform 50"/>
            <p:cNvSpPr/>
            <p:nvPr/>
          </p:nvSpPr>
          <p:spPr>
            <a:xfrm>
              <a:off x="800100" y="5791200"/>
              <a:ext cx="228600" cy="228600"/>
            </a:xfrm>
            <a:custGeom>
              <a:avLst/>
              <a:gdLst/>
              <a:ahLst/>
              <a:cxnLst/>
              <a:rect l="l" t="t" r="r" b="b"/>
              <a:pathLst>
                <a:path w="228600" h="228600">
                  <a:moveTo>
                    <a:pt x="228600" y="114300"/>
                  </a:moveTo>
                  <a:cubicBezTo>
                    <a:pt x="228600" y="177426"/>
                    <a:pt x="177426" y="228600"/>
                    <a:pt x="114300" y="228600"/>
                  </a:cubicBezTo>
                  <a:cubicBezTo>
                    <a:pt x="51174" y="228600"/>
                    <a:pt x="0" y="177426"/>
                    <a:pt x="0" y="114300"/>
                  </a:cubicBezTo>
                  <a:cubicBezTo>
                    <a:pt x="0" y="51174"/>
                    <a:pt x="51174" y="0"/>
                    <a:pt x="114300" y="0"/>
                  </a:cubicBezTo>
                  <a:cubicBezTo>
                    <a:pt x="177426" y="0"/>
                    <a:pt x="228600" y="51174"/>
                    <a:pt x="228600" y="114300"/>
                  </a:cubicBezTo>
                  <a:close/>
                  <a:moveTo>
                    <a:pt x="100012" y="114300"/>
                  </a:moveTo>
                  <a:lnTo>
                    <a:pt x="85725" y="114300"/>
                  </a:lnTo>
                  <a:lnTo>
                    <a:pt x="85725" y="85725"/>
                  </a:lnTo>
                  <a:lnTo>
                    <a:pt x="128588" y="85725"/>
                  </a:lnTo>
                  <a:lnTo>
                    <a:pt x="128588" y="157162"/>
                  </a:lnTo>
                  <a:lnTo>
                    <a:pt x="142875" y="157162"/>
                  </a:lnTo>
                  <a:lnTo>
                    <a:pt x="142875" y="185738"/>
                  </a:lnTo>
                  <a:lnTo>
                    <a:pt x="100012" y="185738"/>
                  </a:lnTo>
                  <a:lnTo>
                    <a:pt x="100012" y="114300"/>
                  </a:lnTo>
                  <a:close/>
                  <a:moveTo>
                    <a:pt x="128588" y="71438"/>
                  </a:moveTo>
                  <a:lnTo>
                    <a:pt x="128588" y="42862"/>
                  </a:lnTo>
                  <a:lnTo>
                    <a:pt x="100012" y="42862"/>
                  </a:lnTo>
                  <a:lnTo>
                    <a:pt x="100012" y="71438"/>
                  </a:lnTo>
                  <a:lnTo>
                    <a:pt x="128588" y="71438"/>
                  </a:lnTo>
                  <a:close/>
                </a:path>
              </a:pathLst>
            </a:custGeom>
            <a:solidFill>
              <a:srgbClr val="007583"/>
            </a:solidFill>
            <a:ln>
              <a:noFill/>
            </a:ln>
          </p:spPr>
        </p:sp>
        <p:sp>
          <p:nvSpPr>
            <p:cNvPr id="51" name="TextBox 51"/>
            <p:cNvSpPr txBox="1"/>
            <p:nvPr/>
          </p:nvSpPr>
          <p:spPr>
            <a:xfrm>
              <a:off x="1128712" y="5831681"/>
              <a:ext cx="5669280" cy="228600"/>
            </a:xfrm>
            <a:prstGeom prst="rect">
              <a:avLst/>
            </a:prstGeom>
            <a:noFill/>
            <a:ln>
              <a:noFill/>
            </a:ln>
          </p:spPr>
          <p:txBody>
            <a:bodyPr wrap="none" lIns="0" tIns="0" rIns="0" bIns="0" anchor="t" anchorCtr="0">
              <a:spAutoFit/>
            </a:bodyPr>
            <a:lstStyle/>
            <a:p>
              <a:pPr algn="l"/>
              <a:r>
                <a:rPr lang="zh-CN" sz="1125" b="1" dirty="0">
                  <a:solidFill>
                    <a:srgbClr val="007583"/>
                  </a:solidFill>
                  <a:latin typeface="Manrope"/>
                  <a:ea typeface="Microsoft JhengHei"/>
                  <a:cs typeface="Manrope"/>
                </a:rPr>
                <a:t>主管視角說明：</a:t>
              </a:r>
              <a:r>
                <a:rPr lang="zh-CN" sz="1125" dirty="0">
                  <a:solidFill>
                    <a:srgbClr val="171C24"/>
                  </a:solidFill>
                  <a:latin typeface="Manrope"/>
                  <a:ea typeface="Microsoft JhengHei"/>
                  <a:cs typeface="Manrope"/>
                </a:rPr>
                <a:t>設計上極度簡化，PM 獲得摘要後，</a:t>
              </a:r>
              <a:r>
                <a:rPr lang="zh-CN" sz="1125" b="1" dirty="0">
                  <a:solidFill>
                    <a:srgbClr val="B91C1C"/>
                  </a:solidFill>
                  <a:latin typeface="Manrope"/>
                  <a:ea typeface="Microsoft JhengHei"/>
                  <a:cs typeface="Manrope"/>
                </a:rPr>
                <a:t>團隊能快速看清要點並進入協作。</a:t>
              </a:r>
            </a:p>
          </p:txBody>
        </p:sp>
      </p:grpSp>
      <p:sp>
        <p:nvSpPr>
          <p:cNvPr id="53" name="TextBox 53"/>
          <p:cNvSpPr txBox="1"/>
          <p:nvPr/>
        </p:nvSpPr>
        <p:spPr>
          <a:xfrm>
            <a:off x="598170" y="6475095"/>
            <a:ext cx="2579179" cy="182880"/>
          </a:xfrm>
          <a:prstGeom prst="rect">
            <a:avLst/>
          </a:prstGeom>
          <a:noFill/>
          <a:ln>
            <a:noFill/>
          </a:ln>
        </p:spPr>
        <p:txBody>
          <a:bodyPr wrap="none" lIns="0" tIns="0" rIns="0" bIns="0" anchor="t" anchorCtr="0">
            <a:spAutoFit/>
          </a:bodyPr>
          <a:lstStyle/>
          <a:p>
            <a:pPr algn="l"/>
            <a:r>
              <a:rPr lang="zh-CN" sz="900" dirty="0">
                <a:solidFill>
                  <a:srgbClr val="525864"/>
                </a:solidFill>
                <a:latin typeface="Manrope"/>
                <a:ea typeface="Microsoft JhengHei"/>
                <a:cs typeface="Manrope"/>
              </a:rPr>
              <a:t>PM PROPOSAL &amp; METRICS EDUCATION · PAGE 16</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400"/>
                                        <p:tgtEl>
                                          <p:spTgt spid="2"/>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slide(fromBottom)">
                                      <p:cBhvr>
                                        <p:cTn id="11" dur="400"/>
                                        <p:tgtEl>
                                          <p:spTgt spid="3"/>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image">
                                      <p:cBhvr>
                                        <p:cTn id="15" dur="400"/>
                                        <p:tgtEl>
                                          <p:spTgt spid="4"/>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48"/>
                                        </p:tgtEl>
                                        <p:attrNameLst>
                                          <p:attrName>style.visibility</p:attrName>
                                        </p:attrNameLst>
                                      </p:cBhvr>
                                      <p:to>
                                        <p:strVal val="visible"/>
                                      </p:to>
                                    </p:set>
                                    <p:animEffect transition="in" filter="fade">
                                      <p:cBhvr>
                                        <p:cTn id="19" dur="400"/>
                                        <p:tgtEl>
                                          <p:spTgt spid="48"/>
                                        </p:tgtEl>
                                      </p:cBhvr>
                                    </p:animEffect>
                                  </p:childTnLst>
                                </p:cTn>
                              </p:par>
                            </p:childTnLst>
                          </p:cTn>
                        </p:par>
                        <p:par>
                          <p:cTn id="20" fill="hold">
                            <p:stCondLst>
                              <p:cond delay="3600"/>
                            </p:stCondLst>
                            <p:childTnLst>
                              <p:par>
                                <p:cTn id="21" presetID="22" presetClass="entr" presetSubtype="1" fill="hold" nodeType="afterEffect">
                                  <p:stCondLst>
                                    <p:cond delay="0"/>
                                  </p:stCondLst>
                                  <p:childTnLst>
                                    <p:set>
                                      <p:cBhvr>
                                        <p:cTn id="22" dur="1" fill="hold">
                                          <p:stCondLst>
                                            <p:cond delay="0"/>
                                          </p:stCondLst>
                                        </p:cTn>
                                        <p:tgtEl>
                                          <p:spTgt spid="52"/>
                                        </p:tgtEl>
                                        <p:attrNameLst>
                                          <p:attrName>style.visibility</p:attrName>
                                        </p:attrNameLst>
                                      </p:cBhvr>
                                      <p:to>
                                        <p:strVal val="visible"/>
                                      </p:to>
                                    </p:set>
                                    <p:animEffect transition="in" filter="wipe(left)">
                                      <p:cBhvr>
                                        <p:cTn id="23" dur="400"/>
                                        <p:tgtEl>
                                          <p:spTgt spid="52"/>
                                        </p:tgtEl>
                                      </p:cBhvr>
                                    </p:animEffect>
                                  </p:childTnLst>
                                </p:cTn>
                              </p:par>
                            </p:childTnLst>
                          </p:cTn>
                        </p:par>
                        <p:par>
                          <p:cTn id="24" fill="hold">
                            <p:stCondLst>
                              <p:cond delay="4500"/>
                            </p:stCondLst>
                            <p:childTnLst>
                              <p:par>
                                <p:cTn id="25" presetID="2" presetClass="entr" presetSubtype="4" fill="hold" nodeType="afterEffect">
                                  <p:stCondLst>
                                    <p:cond delay="0"/>
                                  </p:stCondLst>
                                  <p:childTnLst>
                                    <p:set>
                                      <p:cBhvr>
                                        <p:cTn id="26" dur="1" fill="hold">
                                          <p:stCondLst>
                                            <p:cond delay="0"/>
                                          </p:stCondLst>
                                        </p:cTn>
                                        <p:tgtEl>
                                          <p:spTgt spid="53"/>
                                        </p:tgtEl>
                                        <p:attrNameLst>
                                          <p:attrName>style.visibility</p:attrName>
                                        </p:attrNameLst>
                                      </p:cBhvr>
                                      <p:to>
                                        <p:strVal val="visible"/>
                                      </p:to>
                                    </p:set>
                                    <p:animEffect transition="in" filter="slide(fromBottom)">
                                      <p:cBhvr>
                                        <p:cTn id="27" dur="4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48" grpId="0"/>
      <p:bldP spid="52" grpId="0"/>
      <p:bldP spid="5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DFCF9"/>
          </a:solidFill>
          <a:ln>
            <a:noFill/>
          </a:ln>
        </p:spPr>
      </p:sp>
      <p:sp>
        <p:nvSpPr>
          <p:cNvPr id="3" name="TextBox 3"/>
          <p:cNvSpPr txBox="1"/>
          <p:nvPr/>
        </p:nvSpPr>
        <p:spPr>
          <a:xfrm>
            <a:off x="596265" y="648652"/>
            <a:ext cx="2981739" cy="213360"/>
          </a:xfrm>
          <a:prstGeom prst="rect">
            <a:avLst/>
          </a:prstGeom>
          <a:noFill/>
          <a:ln>
            <a:noFill/>
          </a:ln>
        </p:spPr>
        <p:txBody>
          <a:bodyPr wrap="none" lIns="0" tIns="0" rIns="0" bIns="0" anchor="t" anchorCtr="0">
            <a:spAutoFit/>
          </a:bodyPr>
          <a:lstStyle/>
          <a:p>
            <a:pPr algn="l"/>
            <a:r>
              <a:rPr lang="zh-CN" sz="1050" b="1" dirty="0">
                <a:solidFill>
                  <a:srgbClr val="007583"/>
                </a:solidFill>
                <a:latin typeface="Plus Jakarta Sans"/>
                <a:ea typeface="Microsoft JhengHei"/>
                <a:cs typeface="Plus Jakarta Sans"/>
              </a:rPr>
              <a:t>APPENDIX 01: NOTION AI MEETING ASSISTANT</a:t>
            </a:r>
          </a:p>
        </p:txBody>
      </p:sp>
      <p:sp>
        <p:nvSpPr>
          <p:cNvPr id="4" name="TextBox 4"/>
          <p:cNvSpPr txBox="1"/>
          <p:nvPr/>
        </p:nvSpPr>
        <p:spPr>
          <a:xfrm>
            <a:off x="582930" y="916305"/>
            <a:ext cx="9756553" cy="426720"/>
          </a:xfrm>
          <a:prstGeom prst="rect">
            <a:avLst/>
          </a:prstGeom>
          <a:noFill/>
          <a:ln>
            <a:noFill/>
          </a:ln>
        </p:spPr>
        <p:txBody>
          <a:bodyPr wrap="none" lIns="0" tIns="0" rIns="0" bIns="0" anchor="t" anchorCtr="0">
            <a:spAutoFit/>
          </a:bodyPr>
          <a:lstStyle/>
          <a:p>
            <a:pPr algn="l"/>
            <a:r>
              <a:rPr lang="zh-CN" sz="2100" b="1" dirty="0">
                <a:solidFill>
                  <a:srgbClr val="171C24"/>
                </a:solidFill>
                <a:latin typeface="Plus Jakarta Sans"/>
                <a:ea typeface="Microsoft JhengHei"/>
                <a:cs typeface="Plus Jakarta Sans"/>
              </a:rPr>
              <a:t>驗證計畫：以北極星指標、功能層成功指標、量能指標、護欄指標把關成效</a:t>
            </a:r>
          </a:p>
        </p:txBody>
      </p:sp>
      <p:grpSp>
        <p:nvGrpSpPr>
          <p:cNvPr id="44" name="Group 44"/>
          <p:cNvGrpSpPr/>
          <p:nvPr/>
        </p:nvGrpSpPr>
        <p:grpSpPr>
          <a:xfrm>
            <a:off x="1333500" y="1809750"/>
            <a:ext cx="9525000" cy="3619500"/>
            <a:chOff x="1333500" y="1809750"/>
            <a:chExt cx="9525000" cy="3619500"/>
          </a:xfrm>
        </p:grpSpPr>
        <p:grpSp>
          <p:nvGrpSpPr>
            <p:cNvPr id="10" name="Group 10"/>
            <p:cNvGrpSpPr/>
            <p:nvPr/>
          </p:nvGrpSpPr>
          <p:grpSpPr>
            <a:xfrm>
              <a:off x="3714750" y="2762250"/>
              <a:ext cx="4772025" cy="1714500"/>
              <a:chOff x="3714750" y="2762250"/>
              <a:chExt cx="4772025" cy="1714500"/>
            </a:xfrm>
          </p:grpSpPr>
          <p:sp>
            <p:nvSpPr>
              <p:cNvPr id="5" name="Line 5"/>
              <p:cNvSpPr/>
              <p:nvPr/>
            </p:nvSpPr>
            <p:spPr>
              <a:xfrm>
                <a:off x="6096000" y="2762250"/>
                <a:ext cx="9525" cy="285750"/>
              </a:xfrm>
              <a:custGeom>
                <a:avLst/>
                <a:gdLst/>
                <a:ahLst/>
                <a:cxnLst/>
                <a:rect l="l" t="t" r="r" b="b"/>
                <a:pathLst>
                  <a:path w="9525" h="285750">
                    <a:moveTo>
                      <a:pt x="0" y="0"/>
                    </a:moveTo>
                    <a:lnTo>
                      <a:pt x="0" y="285750"/>
                    </a:lnTo>
                  </a:path>
                </a:pathLst>
              </a:custGeom>
              <a:noFill/>
              <a:ln w="19050">
                <a:solidFill>
                  <a:srgbClr val="E5E3DE"/>
                </a:solidFill>
              </a:ln>
            </p:spPr>
          </p:sp>
          <p:sp>
            <p:nvSpPr>
              <p:cNvPr id="6" name="Line 6"/>
              <p:cNvSpPr/>
              <p:nvPr/>
            </p:nvSpPr>
            <p:spPr>
              <a:xfrm>
                <a:off x="6096000" y="4000500"/>
                <a:ext cx="9525" cy="238125"/>
              </a:xfrm>
              <a:custGeom>
                <a:avLst/>
                <a:gdLst/>
                <a:ahLst/>
                <a:cxnLst/>
                <a:rect l="l" t="t" r="r" b="b"/>
                <a:pathLst>
                  <a:path w="9525" h="238125">
                    <a:moveTo>
                      <a:pt x="0" y="0"/>
                    </a:moveTo>
                    <a:lnTo>
                      <a:pt x="0" y="238125"/>
                    </a:lnTo>
                  </a:path>
                </a:pathLst>
              </a:custGeom>
              <a:noFill/>
              <a:ln w="19050">
                <a:solidFill>
                  <a:srgbClr val="E5E3DE"/>
                </a:solidFill>
              </a:ln>
            </p:spPr>
          </p:sp>
          <p:sp>
            <p:nvSpPr>
              <p:cNvPr id="7" name="Line 7"/>
              <p:cNvSpPr/>
              <p:nvPr/>
            </p:nvSpPr>
            <p:spPr>
              <a:xfrm>
                <a:off x="3714750" y="4238625"/>
                <a:ext cx="4762500" cy="9525"/>
              </a:xfrm>
              <a:custGeom>
                <a:avLst/>
                <a:gdLst/>
                <a:ahLst/>
                <a:cxnLst/>
                <a:rect l="l" t="t" r="r" b="b"/>
                <a:pathLst>
                  <a:path w="4762500" h="9525">
                    <a:moveTo>
                      <a:pt x="0" y="0"/>
                    </a:moveTo>
                    <a:lnTo>
                      <a:pt x="4762500" y="0"/>
                    </a:lnTo>
                  </a:path>
                </a:pathLst>
              </a:custGeom>
              <a:noFill/>
              <a:ln w="19050">
                <a:solidFill>
                  <a:srgbClr val="E5E3DE"/>
                </a:solidFill>
              </a:ln>
            </p:spPr>
          </p:sp>
          <p:sp>
            <p:nvSpPr>
              <p:cNvPr id="8" name="Line 8"/>
              <p:cNvSpPr/>
              <p:nvPr/>
            </p:nvSpPr>
            <p:spPr>
              <a:xfrm>
                <a:off x="3714750" y="4238625"/>
                <a:ext cx="9525" cy="238125"/>
              </a:xfrm>
              <a:custGeom>
                <a:avLst/>
                <a:gdLst/>
                <a:ahLst/>
                <a:cxnLst/>
                <a:rect l="l" t="t" r="r" b="b"/>
                <a:pathLst>
                  <a:path w="9525" h="238125">
                    <a:moveTo>
                      <a:pt x="0" y="0"/>
                    </a:moveTo>
                    <a:lnTo>
                      <a:pt x="0" y="238125"/>
                    </a:lnTo>
                  </a:path>
                </a:pathLst>
              </a:custGeom>
              <a:noFill/>
              <a:ln w="19050">
                <a:solidFill>
                  <a:srgbClr val="E5E3DE"/>
                </a:solidFill>
              </a:ln>
            </p:spPr>
          </p:sp>
          <p:sp>
            <p:nvSpPr>
              <p:cNvPr id="9" name="Line 9"/>
              <p:cNvSpPr/>
              <p:nvPr/>
            </p:nvSpPr>
            <p:spPr>
              <a:xfrm>
                <a:off x="8477250" y="4238625"/>
                <a:ext cx="9525" cy="238125"/>
              </a:xfrm>
              <a:custGeom>
                <a:avLst/>
                <a:gdLst/>
                <a:ahLst/>
                <a:cxnLst/>
                <a:rect l="l" t="t" r="r" b="b"/>
                <a:pathLst>
                  <a:path w="9525" h="238125">
                    <a:moveTo>
                      <a:pt x="0" y="0"/>
                    </a:moveTo>
                    <a:lnTo>
                      <a:pt x="0" y="238125"/>
                    </a:lnTo>
                  </a:path>
                </a:pathLst>
              </a:custGeom>
              <a:noFill/>
              <a:ln w="19050">
                <a:solidFill>
                  <a:srgbClr val="E5E3DE"/>
                </a:solidFill>
              </a:ln>
            </p:spPr>
          </p:sp>
        </p:grpSp>
        <p:grpSp>
          <p:nvGrpSpPr>
            <p:cNvPr id="19" name="Group 19"/>
            <p:cNvGrpSpPr/>
            <p:nvPr/>
          </p:nvGrpSpPr>
          <p:grpSpPr>
            <a:xfrm>
              <a:off x="3714750" y="1809750"/>
              <a:ext cx="4762500" cy="952500"/>
              <a:chOff x="3714750" y="1809750"/>
              <a:chExt cx="4762500" cy="952500"/>
            </a:xfrm>
          </p:grpSpPr>
          <p:sp>
            <p:nvSpPr>
              <p:cNvPr id="11" name="Rectangle 11"/>
              <p:cNvSpPr/>
              <p:nvPr/>
            </p:nvSpPr>
            <p:spPr>
              <a:xfrm>
                <a:off x="3714750" y="1809750"/>
                <a:ext cx="4762500" cy="952500"/>
              </a:xfrm>
              <a:prstGeom prst="roundRect">
                <a:avLst>
                  <a:gd name="adj" fmla="val 12000"/>
                </a:avLst>
              </a:prstGeom>
              <a:solidFill>
                <a:srgbClr val="FFFFFF"/>
              </a:solidFill>
              <a:ln w="19050">
                <a:solidFill>
                  <a:srgbClr val="153166"/>
                </a:solidFill>
              </a:ln>
            </p:spPr>
          </p:sp>
          <p:sp>
            <p:nvSpPr>
              <p:cNvPr id="12" name="Rectangle 12"/>
              <p:cNvSpPr/>
              <p:nvPr/>
            </p:nvSpPr>
            <p:spPr>
              <a:xfrm>
                <a:off x="3714750" y="1809750"/>
                <a:ext cx="57150" cy="952500"/>
              </a:xfrm>
              <a:prstGeom prst="roundRect">
                <a:avLst>
                  <a:gd name="adj" fmla="val 50000"/>
                </a:avLst>
              </a:prstGeom>
              <a:solidFill>
                <a:srgbClr val="153166"/>
              </a:solidFill>
              <a:ln>
                <a:noFill/>
              </a:ln>
            </p:spPr>
          </p:sp>
          <p:grpSp>
            <p:nvGrpSpPr>
              <p:cNvPr id="15" name="Group 15"/>
              <p:cNvGrpSpPr/>
              <p:nvPr/>
            </p:nvGrpSpPr>
            <p:grpSpPr>
              <a:xfrm>
                <a:off x="3905250" y="2171700"/>
                <a:ext cx="228600" cy="228600"/>
                <a:chOff x="3905250" y="2171700"/>
                <a:chExt cx="228600" cy="228600"/>
              </a:xfrm>
            </p:grpSpPr>
            <p:sp>
              <p:nvSpPr>
                <p:cNvPr id="13" name="Freeform 13"/>
                <p:cNvSpPr/>
                <p:nvPr/>
              </p:nvSpPr>
              <p:spPr>
                <a:xfrm>
                  <a:off x="3962400" y="2228850"/>
                  <a:ext cx="114300" cy="114300"/>
                </a:xfrm>
                <a:custGeom>
                  <a:avLst/>
                  <a:gdLst/>
                  <a:ahLst/>
                  <a:cxnLst/>
                  <a:rect l="l" t="t" r="r" b="b"/>
                  <a:pathLst>
                    <a:path w="114300" h="114300">
                      <a:moveTo>
                        <a:pt x="57150" y="0"/>
                      </a:moveTo>
                      <a:cubicBezTo>
                        <a:pt x="25587" y="0"/>
                        <a:pt x="0" y="25587"/>
                        <a:pt x="0" y="57150"/>
                      </a:cubicBezTo>
                      <a:cubicBezTo>
                        <a:pt x="0" y="88713"/>
                        <a:pt x="25587" y="114300"/>
                        <a:pt x="57150" y="114300"/>
                      </a:cubicBezTo>
                      <a:cubicBezTo>
                        <a:pt x="88713" y="114300"/>
                        <a:pt x="114300" y="88713"/>
                        <a:pt x="114300" y="57150"/>
                      </a:cubicBezTo>
                      <a:cubicBezTo>
                        <a:pt x="114300" y="25587"/>
                        <a:pt x="88713" y="0"/>
                        <a:pt x="57150" y="0"/>
                      </a:cubicBezTo>
                      <a:close/>
                      <a:moveTo>
                        <a:pt x="28575" y="57150"/>
                      </a:moveTo>
                      <a:cubicBezTo>
                        <a:pt x="28575" y="41368"/>
                        <a:pt x="41368" y="28575"/>
                        <a:pt x="57150" y="28575"/>
                      </a:cubicBezTo>
                      <a:cubicBezTo>
                        <a:pt x="72932" y="28575"/>
                        <a:pt x="85725" y="41368"/>
                        <a:pt x="85725" y="57150"/>
                      </a:cubicBezTo>
                      <a:cubicBezTo>
                        <a:pt x="85725" y="72932"/>
                        <a:pt x="72932" y="85725"/>
                        <a:pt x="57150" y="85725"/>
                      </a:cubicBezTo>
                      <a:cubicBezTo>
                        <a:pt x="41368" y="85725"/>
                        <a:pt x="28575" y="72932"/>
                        <a:pt x="28575" y="57150"/>
                      </a:cubicBezTo>
                      <a:close/>
                    </a:path>
                  </a:pathLst>
                </a:custGeom>
                <a:solidFill>
                  <a:srgbClr val="153166"/>
                </a:solidFill>
                <a:ln>
                  <a:noFill/>
                </a:ln>
              </p:spPr>
            </p:sp>
            <p:sp>
              <p:nvSpPr>
                <p:cNvPr id="14" name="Freeform 14"/>
                <p:cNvSpPr/>
                <p:nvPr/>
              </p:nvSpPr>
              <p:spPr>
                <a:xfrm>
                  <a:off x="3905250" y="2171700"/>
                  <a:ext cx="228600" cy="228600"/>
                </a:xfrm>
                <a:custGeom>
                  <a:avLst/>
                  <a:gdLst/>
                  <a:ahLst/>
                  <a:cxnLst/>
                  <a:rect l="l" t="t" r="r" b="b"/>
                  <a:pathLst>
                    <a:path w="228600" h="228600">
                      <a:moveTo>
                        <a:pt x="114300" y="0"/>
                      </a:moveTo>
                      <a:cubicBezTo>
                        <a:pt x="51174" y="0"/>
                        <a:pt x="0" y="51174"/>
                        <a:pt x="0" y="114300"/>
                      </a:cubicBezTo>
                      <a:cubicBezTo>
                        <a:pt x="0" y="177426"/>
                        <a:pt x="51174" y="228600"/>
                        <a:pt x="114300" y="228600"/>
                      </a:cubicBezTo>
                      <a:cubicBezTo>
                        <a:pt x="177426" y="228600"/>
                        <a:pt x="228600" y="177426"/>
                        <a:pt x="228600" y="114300"/>
                      </a:cubicBezTo>
                      <a:cubicBezTo>
                        <a:pt x="228600" y="51174"/>
                        <a:pt x="177426" y="0"/>
                        <a:pt x="114300" y="0"/>
                      </a:cubicBezTo>
                      <a:close/>
                      <a:moveTo>
                        <a:pt x="28575" y="114300"/>
                      </a:moveTo>
                      <a:cubicBezTo>
                        <a:pt x="28575" y="66955"/>
                        <a:pt x="66955" y="28575"/>
                        <a:pt x="114300" y="28575"/>
                      </a:cubicBezTo>
                      <a:cubicBezTo>
                        <a:pt x="161644" y="28575"/>
                        <a:pt x="200025" y="66955"/>
                        <a:pt x="200025" y="114300"/>
                      </a:cubicBezTo>
                      <a:cubicBezTo>
                        <a:pt x="200025" y="161644"/>
                        <a:pt x="161644" y="200025"/>
                        <a:pt x="114300" y="200025"/>
                      </a:cubicBezTo>
                      <a:cubicBezTo>
                        <a:pt x="66955" y="200025"/>
                        <a:pt x="28575" y="161644"/>
                        <a:pt x="28575" y="114300"/>
                      </a:cubicBezTo>
                      <a:close/>
                    </a:path>
                  </a:pathLst>
                </a:custGeom>
                <a:solidFill>
                  <a:srgbClr val="153166"/>
                </a:solidFill>
                <a:ln>
                  <a:noFill/>
                </a:ln>
              </p:spPr>
            </p:sp>
          </p:grpSp>
          <p:sp>
            <p:nvSpPr>
              <p:cNvPr id="16" name="TextBox 16"/>
              <p:cNvSpPr txBox="1"/>
              <p:nvPr/>
            </p:nvSpPr>
            <p:spPr>
              <a:xfrm>
                <a:off x="4236720" y="1979295"/>
                <a:ext cx="1963503" cy="182880"/>
              </a:xfrm>
              <a:prstGeom prst="rect">
                <a:avLst/>
              </a:prstGeom>
              <a:noFill/>
              <a:ln>
                <a:noFill/>
              </a:ln>
            </p:spPr>
            <p:txBody>
              <a:bodyPr wrap="none" lIns="0" tIns="0" rIns="0" bIns="0" anchor="t" anchorCtr="0">
                <a:spAutoFit/>
              </a:bodyPr>
              <a:lstStyle/>
              <a:p>
                <a:pPr algn="l"/>
                <a:r>
                  <a:rPr lang="zh-CN" sz="900" b="1" dirty="0">
                    <a:solidFill>
                      <a:srgbClr val="153166"/>
                    </a:solidFill>
                    <a:latin typeface="Plus Jakarta Sans"/>
                    <a:ea typeface="Microsoft JhengHei"/>
                    <a:cs typeface="Plus Jakarta Sans"/>
                  </a:rPr>
                  <a:t>產品北極星指標 (NSM) — 價值總量</a:t>
                </a:r>
              </a:p>
            </p:txBody>
          </p:sp>
          <p:sp>
            <p:nvSpPr>
              <p:cNvPr id="17" name="TextBox 17"/>
              <p:cNvSpPr txBox="1"/>
              <p:nvPr/>
            </p:nvSpPr>
            <p:spPr>
              <a:xfrm>
                <a:off x="4236720" y="2207895"/>
                <a:ext cx="3551301" cy="182880"/>
              </a:xfrm>
              <a:prstGeom prst="rect">
                <a:avLst/>
              </a:prstGeom>
              <a:noFill/>
              <a:ln>
                <a:noFill/>
              </a:ln>
            </p:spPr>
            <p:txBody>
              <a:bodyPr wrap="none" lIns="0" tIns="0" rIns="0" bIns="0" anchor="t" anchorCtr="0">
                <a:spAutoFit/>
              </a:bodyPr>
              <a:lstStyle/>
              <a:p>
                <a:pPr algn="l"/>
                <a:r>
                  <a:rPr lang="zh-CN" sz="900" b="1" dirty="0">
                    <a:solidFill>
                      <a:srgbClr val="171C24"/>
                    </a:solidFill>
                    <a:latin typeface="Plus Jakarta Sans"/>
                    <a:ea typeface="Microsoft JhengHei"/>
                    <a:cs typeface="Plus Jakarta Sans"/>
                  </a:rPr>
                  <a:t>每週「除建立者外，2 工作天內至少有 2 人瀏覽」的活躍文件數</a:t>
                </a:r>
              </a:p>
            </p:txBody>
          </p:sp>
          <p:sp>
            <p:nvSpPr>
              <p:cNvPr id="18" name="TextBox 18"/>
              <p:cNvSpPr txBox="1"/>
              <p:nvPr/>
            </p:nvSpPr>
            <p:spPr>
              <a:xfrm>
                <a:off x="4236720" y="2455545"/>
                <a:ext cx="3605308" cy="182880"/>
              </a:xfrm>
              <a:prstGeom prst="rect">
                <a:avLst/>
              </a:prstGeom>
              <a:noFill/>
              <a:ln>
                <a:noFill/>
              </a:ln>
            </p:spPr>
            <p:txBody>
              <a:bodyPr wrap="none" lIns="0" tIns="0" rIns="0" bIns="0" anchor="t" anchorCtr="0">
                <a:spAutoFit/>
              </a:bodyPr>
              <a:lstStyle/>
              <a:p>
                <a:pPr algn="l"/>
                <a:r>
                  <a:rPr lang="zh-CN" sz="900" dirty="0">
                    <a:solidFill>
                      <a:srgbClr val="525864"/>
                    </a:solidFill>
                    <a:latin typeface="Manrope"/>
                    <a:ea typeface="Microsoft JhengHei"/>
                    <a:cs typeface="Manrope"/>
                  </a:rPr>
                  <a:t>· 意義：確保會議決議真正被閱讀與執行，發揮實質的團隊協作價值</a:t>
                </a:r>
              </a:p>
            </p:txBody>
          </p:sp>
        </p:grpSp>
        <p:grpSp>
          <p:nvGrpSpPr>
            <p:cNvPr id="26" name="Group 26"/>
            <p:cNvGrpSpPr/>
            <p:nvPr/>
          </p:nvGrpSpPr>
          <p:grpSpPr>
            <a:xfrm>
              <a:off x="3714750" y="3048000"/>
              <a:ext cx="4762500" cy="952500"/>
              <a:chOff x="3714750" y="3048000"/>
              <a:chExt cx="4762500" cy="952500"/>
            </a:xfrm>
          </p:grpSpPr>
          <p:sp>
            <p:nvSpPr>
              <p:cNvPr id="20" name="Rectangle 20"/>
              <p:cNvSpPr/>
              <p:nvPr/>
            </p:nvSpPr>
            <p:spPr>
              <a:xfrm>
                <a:off x="3714750" y="3048000"/>
                <a:ext cx="4762500" cy="952500"/>
              </a:xfrm>
              <a:prstGeom prst="roundRect">
                <a:avLst>
                  <a:gd name="adj" fmla="val 12000"/>
                </a:avLst>
              </a:prstGeom>
              <a:solidFill>
                <a:srgbClr val="FFFFFF"/>
              </a:solidFill>
              <a:ln w="19050">
                <a:solidFill>
                  <a:srgbClr val="00969D"/>
                </a:solidFill>
              </a:ln>
            </p:spPr>
          </p:sp>
          <p:sp>
            <p:nvSpPr>
              <p:cNvPr id="21" name="Rectangle 21"/>
              <p:cNvSpPr/>
              <p:nvPr/>
            </p:nvSpPr>
            <p:spPr>
              <a:xfrm>
                <a:off x="3714750" y="3048000"/>
                <a:ext cx="57150" cy="952500"/>
              </a:xfrm>
              <a:prstGeom prst="roundRect">
                <a:avLst>
                  <a:gd name="adj" fmla="val 50000"/>
                </a:avLst>
              </a:prstGeom>
              <a:solidFill>
                <a:srgbClr val="00969D"/>
              </a:solidFill>
              <a:ln>
                <a:noFill/>
              </a:ln>
            </p:spPr>
          </p:sp>
          <p:sp>
            <p:nvSpPr>
              <p:cNvPr id="22" name="Freeform 22"/>
              <p:cNvSpPr/>
              <p:nvPr/>
            </p:nvSpPr>
            <p:spPr>
              <a:xfrm>
                <a:off x="3913618" y="3439751"/>
                <a:ext cx="211861" cy="174917"/>
              </a:xfrm>
              <a:custGeom>
                <a:avLst/>
                <a:gdLst/>
                <a:ahLst/>
                <a:cxnLst/>
                <a:rect l="l" t="t" r="r" b="b"/>
                <a:pathLst>
                  <a:path w="211861" h="174917">
                    <a:moveTo>
                      <a:pt x="211861" y="40411"/>
                    </a:moveTo>
                    <a:lnTo>
                      <a:pt x="77356" y="174917"/>
                    </a:lnTo>
                    <a:lnTo>
                      <a:pt x="0" y="97561"/>
                    </a:lnTo>
                    <a:lnTo>
                      <a:pt x="40411" y="57150"/>
                    </a:lnTo>
                    <a:lnTo>
                      <a:pt x="77356" y="94094"/>
                    </a:lnTo>
                    <a:lnTo>
                      <a:pt x="171450" y="0"/>
                    </a:lnTo>
                    <a:lnTo>
                      <a:pt x="211861" y="40411"/>
                    </a:lnTo>
                    <a:close/>
                  </a:path>
                </a:pathLst>
              </a:custGeom>
              <a:solidFill>
                <a:srgbClr val="00969D"/>
              </a:solidFill>
              <a:ln>
                <a:noFill/>
              </a:ln>
            </p:spPr>
          </p:sp>
          <p:sp>
            <p:nvSpPr>
              <p:cNvPr id="23" name="TextBox 23"/>
              <p:cNvSpPr txBox="1"/>
              <p:nvPr/>
            </p:nvSpPr>
            <p:spPr>
              <a:xfrm>
                <a:off x="4236720" y="3217545"/>
                <a:ext cx="1553951" cy="182880"/>
              </a:xfrm>
              <a:prstGeom prst="rect">
                <a:avLst/>
              </a:prstGeom>
              <a:noFill/>
              <a:ln>
                <a:noFill/>
              </a:ln>
            </p:spPr>
            <p:txBody>
              <a:bodyPr wrap="none" lIns="0" tIns="0" rIns="0" bIns="0" anchor="t" anchorCtr="0">
                <a:spAutoFit/>
              </a:bodyPr>
              <a:lstStyle/>
              <a:p>
                <a:pPr algn="l"/>
                <a:r>
                  <a:rPr lang="zh-CN" sz="900" b="1" dirty="0">
                    <a:solidFill>
                      <a:srgbClr val="007583"/>
                    </a:solidFill>
                    <a:latin typeface="Plus Jakarta Sans"/>
                    <a:ea typeface="Microsoft JhengHei"/>
                    <a:cs typeface="Plus Jakarta Sans"/>
                  </a:rPr>
                  <a:t>功能層成功指標 — 深度互動</a:t>
                </a:r>
              </a:p>
            </p:txBody>
          </p:sp>
          <p:sp>
            <p:nvSpPr>
              <p:cNvPr id="24" name="TextBox 24"/>
              <p:cNvSpPr txBox="1"/>
              <p:nvPr/>
            </p:nvSpPr>
            <p:spPr>
              <a:xfrm>
                <a:off x="4237196" y="3450193"/>
                <a:ext cx="3958850" cy="175260"/>
              </a:xfrm>
              <a:prstGeom prst="rect">
                <a:avLst/>
              </a:prstGeom>
              <a:noFill/>
              <a:ln>
                <a:noFill/>
              </a:ln>
            </p:spPr>
            <p:txBody>
              <a:bodyPr wrap="none" lIns="0" tIns="0" rIns="0" bIns="0" anchor="t" anchorCtr="0">
                <a:spAutoFit/>
              </a:bodyPr>
              <a:lstStyle/>
              <a:p>
                <a:pPr algn="l"/>
                <a:r>
                  <a:rPr lang="zh-CN" sz="862" b="1" dirty="0">
                    <a:solidFill>
                      <a:srgbClr val="171C24"/>
                    </a:solidFill>
                    <a:latin typeface="Plus Jakarta Sans"/>
                    <a:ea typeface="Microsoft JhengHei"/>
                    <a:cs typeface="Plus Jakarta Sans"/>
                  </a:rPr>
                  <a:t>每週「採用 AI 彙整匯出，且除建立者外 2 天內 ≧ 2 人瀏覽」的會議文件數</a:t>
                </a:r>
              </a:p>
            </p:txBody>
          </p:sp>
          <p:sp>
            <p:nvSpPr>
              <p:cNvPr id="25" name="TextBox 25"/>
              <p:cNvSpPr txBox="1"/>
              <p:nvPr/>
            </p:nvSpPr>
            <p:spPr>
              <a:xfrm>
                <a:off x="4236720" y="3693795"/>
                <a:ext cx="4019359" cy="182880"/>
              </a:xfrm>
              <a:prstGeom prst="rect">
                <a:avLst/>
              </a:prstGeom>
              <a:noFill/>
              <a:ln>
                <a:noFill/>
              </a:ln>
            </p:spPr>
            <p:txBody>
              <a:bodyPr wrap="none" lIns="0" tIns="0" rIns="0" bIns="0" anchor="t" anchorCtr="0">
                <a:spAutoFit/>
              </a:bodyPr>
              <a:lstStyle/>
              <a:p>
                <a:pPr algn="l"/>
                <a:r>
                  <a:rPr lang="zh-CN" sz="900" dirty="0">
                    <a:solidFill>
                      <a:srgbClr val="525864"/>
                    </a:solidFill>
                    <a:latin typeface="Manrope"/>
                    <a:ea typeface="Microsoft JhengHei"/>
                    <a:cs typeface="Manrope"/>
                  </a:rPr>
                  <a:t>· 意義：驗證 AI 會議彙整與任務通知是否有效消除閱讀摩擦、引流團隊對齊</a:t>
                </a:r>
              </a:p>
            </p:txBody>
          </p:sp>
        </p:grpSp>
        <p:grpSp>
          <p:nvGrpSpPr>
            <p:cNvPr id="36" name="Group 36"/>
            <p:cNvGrpSpPr/>
            <p:nvPr/>
          </p:nvGrpSpPr>
          <p:grpSpPr>
            <a:xfrm>
              <a:off x="1333500" y="4476750"/>
              <a:ext cx="4762500" cy="952500"/>
              <a:chOff x="1333500" y="4476750"/>
              <a:chExt cx="4762500" cy="952500"/>
            </a:xfrm>
          </p:grpSpPr>
          <p:sp>
            <p:nvSpPr>
              <p:cNvPr id="27" name="Rectangle 27"/>
              <p:cNvSpPr/>
              <p:nvPr/>
            </p:nvSpPr>
            <p:spPr>
              <a:xfrm>
                <a:off x="1333500" y="4476750"/>
                <a:ext cx="4762500" cy="952500"/>
              </a:xfrm>
              <a:prstGeom prst="roundRect">
                <a:avLst>
                  <a:gd name="adj" fmla="val 12000"/>
                </a:avLst>
              </a:prstGeom>
              <a:solidFill>
                <a:srgbClr val="FFFFFF"/>
              </a:solidFill>
              <a:ln w="14288">
                <a:solidFill>
                  <a:srgbClr val="E5E3DE"/>
                </a:solidFill>
              </a:ln>
            </p:spPr>
          </p:sp>
          <p:sp>
            <p:nvSpPr>
              <p:cNvPr id="28" name="Rectangle 28"/>
              <p:cNvSpPr/>
              <p:nvPr/>
            </p:nvSpPr>
            <p:spPr>
              <a:xfrm>
                <a:off x="1333500" y="4476750"/>
                <a:ext cx="57150" cy="952500"/>
              </a:xfrm>
              <a:prstGeom prst="roundRect">
                <a:avLst>
                  <a:gd name="adj" fmla="val 50000"/>
                </a:avLst>
              </a:prstGeom>
              <a:solidFill>
                <a:srgbClr val="153166"/>
              </a:solidFill>
              <a:ln>
                <a:noFill/>
              </a:ln>
            </p:spPr>
          </p:sp>
          <p:grpSp>
            <p:nvGrpSpPr>
              <p:cNvPr id="32" name="Group 32"/>
              <p:cNvGrpSpPr/>
              <p:nvPr/>
            </p:nvGrpSpPr>
            <p:grpSpPr>
              <a:xfrm>
                <a:off x="1524000" y="4852988"/>
                <a:ext cx="228600" cy="200025"/>
                <a:chOff x="1524000" y="4852988"/>
                <a:chExt cx="228600" cy="200025"/>
              </a:xfrm>
            </p:grpSpPr>
            <p:sp>
              <p:nvSpPr>
                <p:cNvPr id="29" name="Freeform 29"/>
                <p:cNvSpPr/>
                <p:nvPr/>
              </p:nvSpPr>
              <p:spPr>
                <a:xfrm>
                  <a:off x="1695450" y="4852988"/>
                  <a:ext cx="57150" cy="200025"/>
                </a:xfrm>
                <a:custGeom>
                  <a:avLst/>
                  <a:gdLst/>
                  <a:ahLst/>
                  <a:cxnLst/>
                  <a:rect l="l" t="t" r="r" b="b"/>
                  <a:pathLst>
                    <a:path w="57150" h="200025">
                      <a:moveTo>
                        <a:pt x="57150" y="0"/>
                      </a:moveTo>
                      <a:lnTo>
                        <a:pt x="0" y="0"/>
                      </a:lnTo>
                      <a:lnTo>
                        <a:pt x="0" y="200025"/>
                      </a:lnTo>
                      <a:lnTo>
                        <a:pt x="57150" y="200025"/>
                      </a:lnTo>
                      <a:lnTo>
                        <a:pt x="57150" y="0"/>
                      </a:lnTo>
                      <a:close/>
                    </a:path>
                  </a:pathLst>
                </a:custGeom>
                <a:solidFill>
                  <a:srgbClr val="153166"/>
                </a:solidFill>
                <a:ln>
                  <a:noFill/>
                </a:ln>
              </p:spPr>
            </p:sp>
            <p:sp>
              <p:nvSpPr>
                <p:cNvPr id="30" name="Freeform 30"/>
                <p:cNvSpPr/>
                <p:nvPr/>
              </p:nvSpPr>
              <p:spPr>
                <a:xfrm>
                  <a:off x="1609725" y="4910138"/>
                  <a:ext cx="57150" cy="142875"/>
                </a:xfrm>
                <a:custGeom>
                  <a:avLst/>
                  <a:gdLst/>
                  <a:ahLst/>
                  <a:cxnLst/>
                  <a:rect l="l" t="t" r="r" b="b"/>
                  <a:pathLst>
                    <a:path w="57150" h="142875">
                      <a:moveTo>
                        <a:pt x="0" y="0"/>
                      </a:moveTo>
                      <a:lnTo>
                        <a:pt x="57150" y="0"/>
                      </a:lnTo>
                      <a:lnTo>
                        <a:pt x="57150" y="142875"/>
                      </a:lnTo>
                      <a:lnTo>
                        <a:pt x="0" y="142875"/>
                      </a:lnTo>
                      <a:lnTo>
                        <a:pt x="0" y="0"/>
                      </a:lnTo>
                      <a:close/>
                    </a:path>
                  </a:pathLst>
                </a:custGeom>
                <a:solidFill>
                  <a:srgbClr val="153166"/>
                </a:solidFill>
                <a:ln>
                  <a:noFill/>
                </a:ln>
              </p:spPr>
            </p:sp>
            <p:sp>
              <p:nvSpPr>
                <p:cNvPr id="31" name="Freeform 31"/>
                <p:cNvSpPr/>
                <p:nvPr/>
              </p:nvSpPr>
              <p:spPr>
                <a:xfrm>
                  <a:off x="1524000" y="4967288"/>
                  <a:ext cx="57150" cy="85725"/>
                </a:xfrm>
                <a:custGeom>
                  <a:avLst/>
                  <a:gdLst/>
                  <a:ahLst/>
                  <a:cxnLst/>
                  <a:rect l="l" t="t" r="r" b="b"/>
                  <a:pathLst>
                    <a:path w="57150" h="85725">
                      <a:moveTo>
                        <a:pt x="0" y="0"/>
                      </a:moveTo>
                      <a:lnTo>
                        <a:pt x="57150" y="0"/>
                      </a:lnTo>
                      <a:lnTo>
                        <a:pt x="57150" y="85725"/>
                      </a:lnTo>
                      <a:lnTo>
                        <a:pt x="0" y="85725"/>
                      </a:lnTo>
                      <a:lnTo>
                        <a:pt x="0" y="0"/>
                      </a:lnTo>
                      <a:close/>
                    </a:path>
                  </a:pathLst>
                </a:custGeom>
                <a:solidFill>
                  <a:srgbClr val="153166"/>
                </a:solidFill>
                <a:ln>
                  <a:noFill/>
                </a:ln>
              </p:spPr>
            </p:sp>
          </p:grpSp>
          <p:sp>
            <p:nvSpPr>
              <p:cNvPr id="33" name="TextBox 33"/>
              <p:cNvSpPr txBox="1"/>
              <p:nvPr/>
            </p:nvSpPr>
            <p:spPr>
              <a:xfrm>
                <a:off x="1855470" y="4646295"/>
                <a:ext cx="1175904" cy="182880"/>
              </a:xfrm>
              <a:prstGeom prst="rect">
                <a:avLst/>
              </a:prstGeom>
              <a:noFill/>
              <a:ln>
                <a:noFill/>
              </a:ln>
            </p:spPr>
            <p:txBody>
              <a:bodyPr wrap="none" lIns="0" tIns="0" rIns="0" bIns="0" anchor="t" anchorCtr="0">
                <a:spAutoFit/>
              </a:bodyPr>
              <a:lstStyle/>
              <a:p>
                <a:pPr algn="l"/>
                <a:r>
                  <a:rPr lang="zh-CN" sz="900" b="1" dirty="0">
                    <a:solidFill>
                      <a:srgbClr val="525864"/>
                    </a:solidFill>
                    <a:latin typeface="Plus Jakarta Sans"/>
                    <a:ea typeface="Microsoft JhengHei"/>
                    <a:cs typeface="Plus Jakarta Sans"/>
                  </a:rPr>
                  <a:t>量能指標 — 入口流量</a:t>
                </a:r>
              </a:p>
            </p:txBody>
          </p:sp>
          <p:sp>
            <p:nvSpPr>
              <p:cNvPr id="34" name="TextBox 34"/>
              <p:cNvSpPr txBox="1"/>
              <p:nvPr/>
            </p:nvSpPr>
            <p:spPr>
              <a:xfrm>
                <a:off x="1855470" y="4874895"/>
                <a:ext cx="2725898" cy="182880"/>
              </a:xfrm>
              <a:prstGeom prst="rect">
                <a:avLst/>
              </a:prstGeom>
              <a:noFill/>
              <a:ln>
                <a:noFill/>
              </a:ln>
            </p:spPr>
            <p:txBody>
              <a:bodyPr wrap="none" lIns="0" tIns="0" rIns="0" bIns="0" anchor="t" anchorCtr="0">
                <a:spAutoFit/>
              </a:bodyPr>
              <a:lstStyle/>
              <a:p>
                <a:pPr algn="l"/>
                <a:r>
                  <a:rPr lang="zh-CN" sz="900" b="1" dirty="0">
                    <a:solidFill>
                      <a:srgbClr val="171C24"/>
                    </a:solidFill>
                    <a:latin typeface="Plus Jakarta Sans"/>
                    <a:ea typeface="Microsoft JhengHei"/>
                    <a:cs typeface="Plus Jakarta Sans"/>
                  </a:rPr>
                  <a:t>每週點擊且採用 AI 會議彙整匯出的會議文件總數</a:t>
                </a:r>
              </a:p>
            </p:txBody>
          </p:sp>
          <p:sp>
            <p:nvSpPr>
              <p:cNvPr id="35" name="TextBox 35"/>
              <p:cNvSpPr txBox="1"/>
              <p:nvPr/>
            </p:nvSpPr>
            <p:spPr>
              <a:xfrm>
                <a:off x="1855470" y="5122545"/>
                <a:ext cx="3743325" cy="182880"/>
              </a:xfrm>
              <a:prstGeom prst="rect">
                <a:avLst/>
              </a:prstGeom>
              <a:noFill/>
              <a:ln>
                <a:noFill/>
              </a:ln>
            </p:spPr>
            <p:txBody>
              <a:bodyPr wrap="none" lIns="0" tIns="0" rIns="0" bIns="0" anchor="t" anchorCtr="0">
                <a:spAutoFit/>
              </a:bodyPr>
              <a:lstStyle/>
              <a:p>
                <a:pPr algn="l"/>
                <a:r>
                  <a:rPr lang="zh-CN" sz="900" dirty="0">
                    <a:solidFill>
                      <a:srgbClr val="525864"/>
                    </a:solidFill>
                    <a:latin typeface="Manrope"/>
                    <a:ea typeface="Microsoft JhengHei"/>
                    <a:cs typeface="Manrope"/>
                  </a:rPr>
                  <a:t>· 意義：監控功能基本採用率（Adoption），為轉化漏斗的最上游入口</a:t>
                </a:r>
              </a:p>
            </p:txBody>
          </p:sp>
        </p:grpSp>
        <p:grpSp>
          <p:nvGrpSpPr>
            <p:cNvPr id="43" name="Group 43"/>
            <p:cNvGrpSpPr/>
            <p:nvPr/>
          </p:nvGrpSpPr>
          <p:grpSpPr>
            <a:xfrm>
              <a:off x="6096000" y="4476750"/>
              <a:ext cx="4762500" cy="952500"/>
              <a:chOff x="6096000" y="4476750"/>
              <a:chExt cx="4762500" cy="952500"/>
            </a:xfrm>
          </p:grpSpPr>
          <p:sp>
            <p:nvSpPr>
              <p:cNvPr id="37" name="Rectangle 37"/>
              <p:cNvSpPr/>
              <p:nvPr/>
            </p:nvSpPr>
            <p:spPr>
              <a:xfrm>
                <a:off x="6096000" y="4476750"/>
                <a:ext cx="4762500" cy="952500"/>
              </a:xfrm>
              <a:prstGeom prst="roundRect">
                <a:avLst>
                  <a:gd name="adj" fmla="val 12000"/>
                </a:avLst>
              </a:prstGeom>
              <a:solidFill>
                <a:srgbClr val="FFFFFF"/>
              </a:solidFill>
              <a:ln w="14288">
                <a:solidFill>
                  <a:srgbClr val="E5E3DE"/>
                </a:solidFill>
              </a:ln>
            </p:spPr>
          </p:sp>
          <p:sp>
            <p:nvSpPr>
              <p:cNvPr id="38" name="Rectangle 38"/>
              <p:cNvSpPr/>
              <p:nvPr/>
            </p:nvSpPr>
            <p:spPr>
              <a:xfrm>
                <a:off x="6096000" y="4476750"/>
                <a:ext cx="57150" cy="952500"/>
              </a:xfrm>
              <a:prstGeom prst="roundRect">
                <a:avLst>
                  <a:gd name="adj" fmla="val 50000"/>
                </a:avLst>
              </a:prstGeom>
              <a:solidFill>
                <a:srgbClr val="B91C1C"/>
              </a:solidFill>
              <a:ln>
                <a:noFill/>
              </a:ln>
            </p:spPr>
          </p:sp>
          <p:sp>
            <p:nvSpPr>
              <p:cNvPr id="39" name="Freeform 39"/>
              <p:cNvSpPr/>
              <p:nvPr/>
            </p:nvSpPr>
            <p:spPr>
              <a:xfrm>
                <a:off x="6300788" y="4838700"/>
                <a:ext cx="200025" cy="228600"/>
              </a:xfrm>
              <a:custGeom>
                <a:avLst/>
                <a:gdLst/>
                <a:ahLst/>
                <a:cxnLst/>
                <a:rect l="l" t="t" r="r" b="b"/>
                <a:pathLst>
                  <a:path w="200025" h="228600">
                    <a:moveTo>
                      <a:pt x="47864" y="191351"/>
                    </a:moveTo>
                    <a:lnTo>
                      <a:pt x="100012" y="228600"/>
                    </a:lnTo>
                    <a:lnTo>
                      <a:pt x="152160" y="191351"/>
                    </a:lnTo>
                    <a:cubicBezTo>
                      <a:pt x="182198" y="169896"/>
                      <a:pt x="200025" y="135255"/>
                      <a:pt x="200025" y="98342"/>
                    </a:cubicBezTo>
                    <a:lnTo>
                      <a:pt x="200025" y="42862"/>
                    </a:lnTo>
                    <a:lnTo>
                      <a:pt x="100012" y="0"/>
                    </a:lnTo>
                    <a:lnTo>
                      <a:pt x="0" y="42862"/>
                    </a:lnTo>
                    <a:lnTo>
                      <a:pt x="0" y="98342"/>
                    </a:lnTo>
                    <a:cubicBezTo>
                      <a:pt x="0" y="135255"/>
                      <a:pt x="17827" y="169896"/>
                      <a:pt x="47864" y="191351"/>
                    </a:cubicBezTo>
                    <a:close/>
                  </a:path>
                </a:pathLst>
              </a:custGeom>
              <a:solidFill>
                <a:srgbClr val="B91C1C"/>
              </a:solidFill>
              <a:ln>
                <a:noFill/>
              </a:ln>
            </p:spPr>
          </p:sp>
          <p:sp>
            <p:nvSpPr>
              <p:cNvPr id="40" name="TextBox 40"/>
              <p:cNvSpPr txBox="1"/>
              <p:nvPr/>
            </p:nvSpPr>
            <p:spPr>
              <a:xfrm>
                <a:off x="6617970" y="4646295"/>
                <a:ext cx="1175904" cy="182880"/>
              </a:xfrm>
              <a:prstGeom prst="rect">
                <a:avLst/>
              </a:prstGeom>
              <a:noFill/>
              <a:ln>
                <a:noFill/>
              </a:ln>
            </p:spPr>
            <p:txBody>
              <a:bodyPr wrap="none" lIns="0" tIns="0" rIns="0" bIns="0" anchor="t" anchorCtr="0">
                <a:spAutoFit/>
              </a:bodyPr>
              <a:lstStyle/>
              <a:p>
                <a:pPr algn="l"/>
                <a:r>
                  <a:rPr lang="zh-CN" sz="900" b="1" dirty="0">
                    <a:solidFill>
                      <a:srgbClr val="B91C1C"/>
                    </a:solidFill>
                    <a:latin typeface="Plus Jakarta Sans"/>
                    <a:ea typeface="Microsoft JhengHei"/>
                    <a:cs typeface="Plus Jakarta Sans"/>
                  </a:rPr>
                  <a:t>護欄指標 — 品質防守</a:t>
                </a:r>
              </a:p>
            </p:txBody>
          </p:sp>
          <p:sp>
            <p:nvSpPr>
              <p:cNvPr id="41" name="TextBox 41"/>
              <p:cNvSpPr txBox="1"/>
              <p:nvPr/>
            </p:nvSpPr>
            <p:spPr>
              <a:xfrm>
                <a:off x="6617970" y="4874895"/>
                <a:ext cx="1787080" cy="182880"/>
              </a:xfrm>
              <a:prstGeom prst="rect">
                <a:avLst/>
              </a:prstGeom>
              <a:noFill/>
              <a:ln>
                <a:noFill/>
              </a:ln>
            </p:spPr>
            <p:txBody>
              <a:bodyPr wrap="none" lIns="0" tIns="0" rIns="0" bIns="0" anchor="t" anchorCtr="0">
                <a:spAutoFit/>
              </a:bodyPr>
              <a:lstStyle/>
              <a:p>
                <a:pPr algn="l"/>
                <a:r>
                  <a:rPr lang="zh-CN" sz="900" b="1" dirty="0">
                    <a:solidFill>
                      <a:srgbClr val="171C24"/>
                    </a:solidFill>
                    <a:latin typeface="Plus Jakarta Sans"/>
                    <a:ea typeface="Microsoft JhengHei"/>
                    <a:cs typeface="Plus Jakarta Sans"/>
                  </a:rPr>
                  <a:t>匯出前，編輯次數中位數 ≦ 5 次</a:t>
                </a:r>
              </a:p>
            </p:txBody>
          </p:sp>
          <p:sp>
            <p:nvSpPr>
              <p:cNvPr id="42" name="TextBox 42"/>
              <p:cNvSpPr txBox="1"/>
              <p:nvPr/>
            </p:nvSpPr>
            <p:spPr>
              <a:xfrm>
                <a:off x="6617970" y="5122545"/>
                <a:ext cx="3839337" cy="182880"/>
              </a:xfrm>
              <a:prstGeom prst="rect">
                <a:avLst/>
              </a:prstGeom>
              <a:noFill/>
              <a:ln>
                <a:noFill/>
              </a:ln>
            </p:spPr>
            <p:txBody>
              <a:bodyPr wrap="none" lIns="0" tIns="0" rIns="0" bIns="0" anchor="t" anchorCtr="0">
                <a:spAutoFit/>
              </a:bodyPr>
              <a:lstStyle/>
              <a:p>
                <a:pPr algn="l"/>
                <a:r>
                  <a:rPr lang="zh-CN" sz="900" dirty="0">
                    <a:solidFill>
                      <a:srgbClr val="525864"/>
                    </a:solidFill>
                    <a:latin typeface="Manrope"/>
                    <a:ea typeface="Microsoft JhengHei"/>
                    <a:cs typeface="Manrope"/>
                  </a:rPr>
                  <a:t>· 計算：以 Log 取問答請求 (Query Round) 中位數，確保首次生成品質</a:t>
                </a:r>
              </a:p>
            </p:txBody>
          </p:sp>
        </p:grpSp>
      </p:grpSp>
      <p:grpSp>
        <p:nvGrpSpPr>
          <p:cNvPr id="48" name="Group 48"/>
          <p:cNvGrpSpPr/>
          <p:nvPr/>
        </p:nvGrpSpPr>
        <p:grpSpPr>
          <a:xfrm>
            <a:off x="609600" y="5619750"/>
            <a:ext cx="10972800" cy="571500"/>
            <a:chOff x="609600" y="5619750"/>
            <a:chExt cx="10972800" cy="571500"/>
          </a:xfrm>
        </p:grpSpPr>
        <p:sp>
          <p:nvSpPr>
            <p:cNvPr id="45" name="Rectangle 45"/>
            <p:cNvSpPr/>
            <p:nvPr/>
          </p:nvSpPr>
          <p:spPr>
            <a:xfrm>
              <a:off x="609600" y="5619750"/>
              <a:ext cx="10972800" cy="571500"/>
            </a:xfrm>
            <a:prstGeom prst="roundRect">
              <a:avLst>
                <a:gd name="adj" fmla="val 13333"/>
              </a:avLst>
            </a:prstGeom>
            <a:solidFill>
              <a:srgbClr val="F3F2ED"/>
            </a:solidFill>
            <a:ln>
              <a:noFill/>
            </a:ln>
          </p:spPr>
        </p:sp>
        <p:sp>
          <p:nvSpPr>
            <p:cNvPr id="46" name="Freeform 46"/>
            <p:cNvSpPr/>
            <p:nvPr/>
          </p:nvSpPr>
          <p:spPr>
            <a:xfrm>
              <a:off x="800100" y="5791200"/>
              <a:ext cx="228600" cy="228600"/>
            </a:xfrm>
            <a:custGeom>
              <a:avLst/>
              <a:gdLst/>
              <a:ahLst/>
              <a:cxnLst/>
              <a:rect l="l" t="t" r="r" b="b"/>
              <a:pathLst>
                <a:path w="228600" h="228600">
                  <a:moveTo>
                    <a:pt x="228600" y="114300"/>
                  </a:moveTo>
                  <a:cubicBezTo>
                    <a:pt x="228600" y="177426"/>
                    <a:pt x="177426" y="228600"/>
                    <a:pt x="114300" y="228600"/>
                  </a:cubicBezTo>
                  <a:cubicBezTo>
                    <a:pt x="51174" y="228600"/>
                    <a:pt x="0" y="177426"/>
                    <a:pt x="0" y="114300"/>
                  </a:cubicBezTo>
                  <a:cubicBezTo>
                    <a:pt x="0" y="51174"/>
                    <a:pt x="51174" y="0"/>
                    <a:pt x="114300" y="0"/>
                  </a:cubicBezTo>
                  <a:cubicBezTo>
                    <a:pt x="177426" y="0"/>
                    <a:pt x="228600" y="51174"/>
                    <a:pt x="228600" y="114300"/>
                  </a:cubicBezTo>
                  <a:close/>
                  <a:moveTo>
                    <a:pt x="100012" y="114300"/>
                  </a:moveTo>
                  <a:lnTo>
                    <a:pt x="85725" y="114300"/>
                  </a:lnTo>
                  <a:lnTo>
                    <a:pt x="85725" y="85725"/>
                  </a:lnTo>
                  <a:lnTo>
                    <a:pt x="128588" y="85725"/>
                  </a:lnTo>
                  <a:lnTo>
                    <a:pt x="128588" y="157162"/>
                  </a:lnTo>
                  <a:lnTo>
                    <a:pt x="142875" y="157162"/>
                  </a:lnTo>
                  <a:lnTo>
                    <a:pt x="142875" y="185738"/>
                  </a:lnTo>
                  <a:lnTo>
                    <a:pt x="100012" y="185738"/>
                  </a:lnTo>
                  <a:lnTo>
                    <a:pt x="100012" y="114300"/>
                  </a:lnTo>
                  <a:close/>
                  <a:moveTo>
                    <a:pt x="128588" y="71438"/>
                  </a:moveTo>
                  <a:lnTo>
                    <a:pt x="128588" y="42862"/>
                  </a:lnTo>
                  <a:lnTo>
                    <a:pt x="100012" y="42862"/>
                  </a:lnTo>
                  <a:lnTo>
                    <a:pt x="100012" y="71438"/>
                  </a:lnTo>
                  <a:lnTo>
                    <a:pt x="128588" y="71438"/>
                  </a:lnTo>
                  <a:close/>
                </a:path>
              </a:pathLst>
            </a:custGeom>
            <a:solidFill>
              <a:srgbClr val="007583"/>
            </a:solidFill>
            <a:ln>
              <a:noFill/>
            </a:ln>
          </p:spPr>
        </p:sp>
        <p:sp>
          <p:nvSpPr>
            <p:cNvPr id="47" name="TextBox 47"/>
            <p:cNvSpPr txBox="1"/>
            <p:nvPr/>
          </p:nvSpPr>
          <p:spPr>
            <a:xfrm>
              <a:off x="1128712" y="5831681"/>
              <a:ext cx="6329362" cy="228600"/>
            </a:xfrm>
            <a:prstGeom prst="rect">
              <a:avLst/>
            </a:prstGeom>
            <a:noFill/>
            <a:ln>
              <a:noFill/>
            </a:ln>
          </p:spPr>
          <p:txBody>
            <a:bodyPr wrap="none" lIns="0" tIns="0" rIns="0" bIns="0" anchor="t" anchorCtr="0">
              <a:spAutoFit/>
            </a:bodyPr>
            <a:lstStyle/>
            <a:p>
              <a:pPr algn="l"/>
              <a:r>
                <a:rPr lang="zh-CN" sz="1125" b="1" dirty="0">
                  <a:solidFill>
                    <a:srgbClr val="007583"/>
                  </a:solidFill>
                  <a:latin typeface="Manrope"/>
                  <a:ea typeface="Microsoft JhengHei"/>
                  <a:cs typeface="Manrope"/>
                </a:rPr>
                <a:t>主管視角說明：</a:t>
              </a:r>
              <a:r>
                <a:rPr lang="zh-CN" sz="1125" dirty="0">
                  <a:solidFill>
                    <a:srgbClr val="171C24"/>
                  </a:solidFill>
                  <a:latin typeface="Manrope"/>
                  <a:ea typeface="Microsoft JhengHei"/>
                  <a:cs typeface="Manrope"/>
                </a:rPr>
                <a:t>驗證計畫建立指標樹，確保從北極星指標到防守指標皆可量化，以防功能自嗨。</a:t>
              </a:r>
            </a:p>
          </p:txBody>
        </p:sp>
      </p:grpSp>
      <p:sp>
        <p:nvSpPr>
          <p:cNvPr id="49" name="TextBox 49"/>
          <p:cNvSpPr txBox="1"/>
          <p:nvPr/>
        </p:nvSpPr>
        <p:spPr>
          <a:xfrm>
            <a:off x="598170" y="6475095"/>
            <a:ext cx="2579179" cy="182880"/>
          </a:xfrm>
          <a:prstGeom prst="rect">
            <a:avLst/>
          </a:prstGeom>
          <a:noFill/>
          <a:ln>
            <a:noFill/>
          </a:ln>
        </p:spPr>
        <p:txBody>
          <a:bodyPr wrap="none" lIns="0" tIns="0" rIns="0" bIns="0" anchor="t" anchorCtr="0">
            <a:spAutoFit/>
          </a:bodyPr>
          <a:lstStyle/>
          <a:p>
            <a:pPr algn="l"/>
            <a:r>
              <a:rPr lang="zh-CN" sz="900" dirty="0">
                <a:solidFill>
                  <a:srgbClr val="525864"/>
                </a:solidFill>
                <a:latin typeface="Manrope"/>
                <a:ea typeface="Microsoft JhengHei"/>
                <a:cs typeface="Manrope"/>
              </a:rPr>
              <a:t>PM PROPOSAL &amp; METRICS EDUCATION · PAGE 17</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left)">
                                      <p:cBhvr>
                                        <p:cTn id="7" dur="4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DFCF9"/>
          </a:solidFill>
          <a:ln>
            <a:noFill/>
          </a:ln>
        </p:spPr>
      </p:sp>
      <p:sp>
        <p:nvSpPr>
          <p:cNvPr id="3" name="Rectangle 3"/>
          <p:cNvSpPr/>
          <p:nvPr/>
        </p:nvSpPr>
        <p:spPr>
          <a:xfrm>
            <a:off x="609600" y="571500"/>
            <a:ext cx="76200" cy="5715000"/>
          </a:xfrm>
          <a:prstGeom prst="roundRect">
            <a:avLst>
              <a:gd name="adj" fmla="val 50000"/>
            </a:avLst>
          </a:prstGeom>
          <a:solidFill>
            <a:srgbClr val="153166"/>
          </a:solidFill>
          <a:ln>
            <a:noFill/>
          </a:ln>
        </p:spPr>
      </p:sp>
      <p:sp>
        <p:nvSpPr>
          <p:cNvPr id="4" name="Rectangle 4"/>
          <p:cNvSpPr/>
          <p:nvPr/>
        </p:nvSpPr>
        <p:spPr>
          <a:xfrm>
            <a:off x="762000" y="571500"/>
            <a:ext cx="38100" cy="5715000"/>
          </a:xfrm>
          <a:prstGeom prst="roundRect">
            <a:avLst>
              <a:gd name="adj" fmla="val 50000"/>
            </a:avLst>
          </a:prstGeom>
          <a:solidFill>
            <a:srgbClr val="00969D">
              <a:alpha val="30000"/>
            </a:srgbClr>
          </a:solidFill>
          <a:ln>
            <a:noFill/>
          </a:ln>
        </p:spPr>
      </p:sp>
      <p:sp>
        <p:nvSpPr>
          <p:cNvPr id="5" name="Ellipse 5"/>
          <p:cNvSpPr/>
          <p:nvPr/>
        </p:nvSpPr>
        <p:spPr>
          <a:xfrm>
            <a:off x="10668000" y="381000"/>
            <a:ext cx="1524000" cy="1524000"/>
          </a:xfrm>
          <a:prstGeom prst="ellipse">
            <a:avLst/>
          </a:prstGeom>
          <a:solidFill>
            <a:srgbClr val="00969D">
              <a:alpha val="6000"/>
            </a:srgbClr>
          </a:solidFill>
          <a:ln>
            <a:noFill/>
          </a:ln>
        </p:spPr>
      </p:sp>
      <p:sp>
        <p:nvSpPr>
          <p:cNvPr id="6" name="Ellipse 6"/>
          <p:cNvSpPr/>
          <p:nvPr/>
        </p:nvSpPr>
        <p:spPr>
          <a:xfrm>
            <a:off x="9525000" y="4381500"/>
            <a:ext cx="2286000" cy="2286000"/>
          </a:xfrm>
          <a:prstGeom prst="ellipse">
            <a:avLst/>
          </a:prstGeom>
          <a:solidFill>
            <a:srgbClr val="153166">
              <a:alpha val="4000"/>
            </a:srgbClr>
          </a:solidFill>
          <a:ln>
            <a:noFill/>
          </a:ln>
        </p:spPr>
      </p:sp>
      <p:sp>
        <p:nvSpPr>
          <p:cNvPr id="7" name="TextBox 7"/>
          <p:cNvSpPr txBox="1"/>
          <p:nvPr/>
        </p:nvSpPr>
        <p:spPr>
          <a:xfrm>
            <a:off x="933450" y="2124075"/>
            <a:ext cx="3829074" cy="304800"/>
          </a:xfrm>
          <a:prstGeom prst="rect">
            <a:avLst/>
          </a:prstGeom>
          <a:noFill/>
          <a:ln>
            <a:noFill/>
          </a:ln>
        </p:spPr>
        <p:txBody>
          <a:bodyPr wrap="none" lIns="0" tIns="0" rIns="0" bIns="0" anchor="t" anchorCtr="0">
            <a:spAutoFit/>
          </a:bodyPr>
          <a:lstStyle/>
          <a:p>
            <a:pPr algn="l"/>
            <a:r>
              <a:rPr lang="zh-CN" sz="1500" b="1" dirty="0">
                <a:solidFill>
                  <a:srgbClr val="007583"/>
                </a:solidFill>
                <a:latin typeface="Plus Jakarta Sans"/>
                <a:ea typeface="Microsoft JhengHei"/>
                <a:cs typeface="Plus Jakarta Sans"/>
              </a:rPr>
              <a:t>APPENDIX 02: AI PRD WRITING ASSISTANT</a:t>
            </a:r>
          </a:p>
        </p:txBody>
      </p:sp>
      <p:sp>
        <p:nvSpPr>
          <p:cNvPr id="8" name="TextBox 8"/>
          <p:cNvSpPr txBox="1"/>
          <p:nvPr/>
        </p:nvSpPr>
        <p:spPr>
          <a:xfrm>
            <a:off x="914400" y="2724150"/>
            <a:ext cx="6717030" cy="1181100"/>
          </a:xfrm>
          <a:prstGeom prst="rect">
            <a:avLst/>
          </a:prstGeom>
          <a:noFill/>
          <a:ln>
            <a:noFill/>
          </a:ln>
        </p:spPr>
        <p:txBody>
          <a:bodyPr wrap="square" lIns="0" tIns="0" rIns="0" bIns="0" anchor="t" anchorCtr="0"/>
          <a:lstStyle/>
          <a:p>
            <a:pPr algn="l">
              <a:lnSpc>
                <a:spcPts val="4500"/>
              </a:lnSpc>
            </a:pPr>
            <a:r>
              <a:rPr lang="zh-CN" sz="3000" b="1" dirty="0">
                <a:solidFill>
                  <a:srgbClr val="171C24"/>
                </a:solidFill>
                <a:latin typeface="Plus Jakarta Sans"/>
                <a:ea typeface="Microsoft JhengHei"/>
                <a:cs typeface="Plus Jakarta Sans"/>
              </a:rPr>
              <a:t>全新 AI PRD 協作助理產品提案</a:t>
            </a:r>
            <a:r>
              <a:rPr lang="zh-CN" sz="2100" b="1" dirty="0">
                <a:solidFill>
                  <a:srgbClr val="525864"/>
                </a:solidFill>
                <a:latin typeface="Plus Jakarta Sans"/>
                <a:ea typeface="Microsoft JhengHei"/>
                <a:cs typeface="Plus Jakarta Sans"/>
              </a:rPr>
              <a:t>0-to-1 全新開發與指標驗證示範簡報</a:t>
            </a:r>
          </a:p>
        </p:txBody>
      </p:sp>
      <p:sp>
        <p:nvSpPr>
          <p:cNvPr id="9" name="TextBox 9"/>
          <p:cNvSpPr txBox="1"/>
          <p:nvPr/>
        </p:nvSpPr>
        <p:spPr>
          <a:xfrm>
            <a:off x="935355" y="4521518"/>
            <a:ext cx="6065044" cy="274320"/>
          </a:xfrm>
          <a:prstGeom prst="rect">
            <a:avLst/>
          </a:prstGeom>
          <a:noFill/>
          <a:ln>
            <a:noFill/>
          </a:ln>
        </p:spPr>
        <p:txBody>
          <a:bodyPr wrap="none" lIns="0" tIns="0" rIns="0" bIns="0" anchor="t" anchorCtr="0">
            <a:spAutoFit/>
          </a:bodyPr>
          <a:lstStyle/>
          <a:p>
            <a:pPr algn="l"/>
            <a:r>
              <a:rPr lang="zh-CN" sz="1350" dirty="0">
                <a:solidFill>
                  <a:srgbClr val="525864"/>
                </a:solidFill>
                <a:latin typeface="Manrope"/>
                <a:ea typeface="Microsoft JhengHei"/>
                <a:cs typeface="Manrope"/>
              </a:rPr>
              <a:t>以 AI PRD 撰寫助理為例，展示痛點定位、10分鐘效率承諾與未來指標承諾。</a:t>
            </a:r>
          </a:p>
        </p:txBody>
      </p:sp>
      <p:sp>
        <p:nvSpPr>
          <p:cNvPr id="10" name="TextBox 10"/>
          <p:cNvSpPr txBox="1"/>
          <p:nvPr/>
        </p:nvSpPr>
        <p:spPr>
          <a:xfrm>
            <a:off x="598170" y="6475095"/>
            <a:ext cx="2579179" cy="182880"/>
          </a:xfrm>
          <a:prstGeom prst="rect">
            <a:avLst/>
          </a:prstGeom>
          <a:noFill/>
          <a:ln>
            <a:noFill/>
          </a:ln>
        </p:spPr>
        <p:txBody>
          <a:bodyPr wrap="none" lIns="0" tIns="0" rIns="0" bIns="0" anchor="t" anchorCtr="0">
            <a:spAutoFit/>
          </a:bodyPr>
          <a:lstStyle/>
          <a:p>
            <a:pPr algn="l"/>
            <a:r>
              <a:rPr lang="zh-CN" sz="900" dirty="0">
                <a:solidFill>
                  <a:srgbClr val="525864"/>
                </a:solidFill>
                <a:latin typeface="Manrope"/>
                <a:ea typeface="Microsoft JhengHei"/>
                <a:cs typeface="Manrope"/>
              </a:rPr>
              <a:t>PM PROPOSAL &amp; METRICS EDUCATION · PAGE 18</a:t>
            </a:r>
          </a:p>
        </p:txBody>
      </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DFCF9"/>
          </a:solidFill>
          <a:ln>
            <a:noFill/>
          </a:ln>
        </p:spPr>
      </p:sp>
      <p:sp>
        <p:nvSpPr>
          <p:cNvPr id="3" name="TextBox 3"/>
          <p:cNvSpPr txBox="1"/>
          <p:nvPr/>
        </p:nvSpPr>
        <p:spPr>
          <a:xfrm>
            <a:off x="596265" y="648652"/>
            <a:ext cx="2114331" cy="213360"/>
          </a:xfrm>
          <a:prstGeom prst="rect">
            <a:avLst/>
          </a:prstGeom>
          <a:noFill/>
          <a:ln>
            <a:noFill/>
          </a:ln>
        </p:spPr>
        <p:txBody>
          <a:bodyPr wrap="none" lIns="0" tIns="0" rIns="0" bIns="0" anchor="t" anchorCtr="0">
            <a:spAutoFit/>
          </a:bodyPr>
          <a:lstStyle/>
          <a:p>
            <a:pPr algn="l"/>
            <a:r>
              <a:rPr lang="zh-CN" sz="1050" b="1" dirty="0">
                <a:solidFill>
                  <a:srgbClr val="007583"/>
                </a:solidFill>
                <a:latin typeface="Plus Jakarta Sans"/>
                <a:ea typeface="Microsoft JhengHei"/>
                <a:cs typeface="Plus Jakarta Sans"/>
              </a:rPr>
              <a:t>APPENDIX 02: AI PRD ASSISTANT</a:t>
            </a:r>
          </a:p>
        </p:txBody>
      </p:sp>
      <p:sp>
        <p:nvSpPr>
          <p:cNvPr id="4" name="TextBox 4"/>
          <p:cNvSpPr txBox="1"/>
          <p:nvPr/>
        </p:nvSpPr>
        <p:spPr>
          <a:xfrm>
            <a:off x="584835" y="932498"/>
            <a:ext cx="8513588" cy="396240"/>
          </a:xfrm>
          <a:prstGeom prst="rect">
            <a:avLst/>
          </a:prstGeom>
          <a:noFill/>
          <a:ln>
            <a:noFill/>
          </a:ln>
        </p:spPr>
        <p:txBody>
          <a:bodyPr wrap="none" lIns="0" tIns="0" rIns="0" bIns="0" anchor="t" anchorCtr="0">
            <a:spAutoFit/>
          </a:bodyPr>
          <a:lstStyle/>
          <a:p>
            <a:pPr algn="l"/>
            <a:r>
              <a:rPr lang="zh-CN" sz="1950" b="1" dirty="0">
                <a:solidFill>
                  <a:srgbClr val="171C24"/>
                </a:solidFill>
                <a:latin typeface="Plus Jakarta Sans"/>
                <a:ea typeface="Microsoft JhengHei"/>
                <a:cs typeface="Plus Jakarta Sans"/>
              </a:rPr>
              <a:t>產品經理有超過一半的工作日，耗在格式調整與進度追蹤等非核心任務</a:t>
            </a:r>
          </a:p>
        </p:txBody>
      </p:sp>
      <p:grpSp>
        <p:nvGrpSpPr>
          <p:cNvPr id="37" name="Group 37"/>
          <p:cNvGrpSpPr/>
          <p:nvPr/>
        </p:nvGrpSpPr>
        <p:grpSpPr>
          <a:xfrm>
            <a:off x="609600" y="1666875"/>
            <a:ext cx="10972800" cy="3524250"/>
            <a:chOff x="609600" y="1666875"/>
            <a:chExt cx="10972800" cy="3524250"/>
          </a:xfrm>
        </p:grpSpPr>
        <p:grpSp>
          <p:nvGrpSpPr>
            <p:cNvPr id="12" name="Group 12"/>
            <p:cNvGrpSpPr/>
            <p:nvPr/>
          </p:nvGrpSpPr>
          <p:grpSpPr>
            <a:xfrm>
              <a:off x="609600" y="1666875"/>
              <a:ext cx="2190750" cy="3524250"/>
              <a:chOff x="609600" y="1666875"/>
              <a:chExt cx="2190750" cy="3524250"/>
            </a:xfrm>
          </p:grpSpPr>
          <p:sp>
            <p:nvSpPr>
              <p:cNvPr id="5" name="Rectangle 5"/>
              <p:cNvSpPr/>
              <p:nvPr/>
            </p:nvSpPr>
            <p:spPr>
              <a:xfrm>
                <a:off x="609600" y="1666875"/>
                <a:ext cx="2190750" cy="3524250"/>
              </a:xfrm>
              <a:prstGeom prst="roundRect">
                <a:avLst>
                  <a:gd name="adj" fmla="val 6957"/>
                </a:avLst>
              </a:prstGeom>
              <a:solidFill>
                <a:srgbClr val="FFFFFF"/>
              </a:solidFill>
              <a:ln w="14288">
                <a:solidFill>
                  <a:srgbClr val="E5E3DE"/>
                </a:solidFill>
              </a:ln>
            </p:spPr>
          </p:sp>
          <p:sp>
            <p:nvSpPr>
              <p:cNvPr id="6" name="TextBox 6"/>
              <p:cNvSpPr txBox="1"/>
              <p:nvPr/>
            </p:nvSpPr>
            <p:spPr>
              <a:xfrm>
                <a:off x="1177076" y="2410778"/>
                <a:ext cx="1055799" cy="213360"/>
              </a:xfrm>
              <a:prstGeom prst="rect">
                <a:avLst/>
              </a:prstGeom>
              <a:noFill/>
              <a:ln>
                <a:noFill/>
              </a:ln>
            </p:spPr>
            <p:txBody>
              <a:bodyPr wrap="none" lIns="0" tIns="0" rIns="0" bIns="0" anchor="t" anchorCtr="0">
                <a:spAutoFit/>
              </a:bodyPr>
              <a:lstStyle/>
              <a:p>
                <a:pPr algn="ctr"/>
                <a:r>
                  <a:rPr lang="zh-CN" sz="1050" b="1" dirty="0">
                    <a:solidFill>
                      <a:srgbClr val="525864"/>
                    </a:solidFill>
                    <a:latin typeface="Manrope"/>
                    <a:ea typeface="Microsoft JhengHei"/>
                    <a:cs typeface="Manrope"/>
                  </a:rPr>
                  <a:t>非核心工作佔比</a:t>
                </a:r>
              </a:p>
            </p:txBody>
          </p:sp>
          <p:sp>
            <p:nvSpPr>
              <p:cNvPr id="7" name="TextBox 7"/>
              <p:cNvSpPr txBox="1"/>
              <p:nvPr/>
            </p:nvSpPr>
            <p:spPr>
              <a:xfrm>
                <a:off x="1022337" y="3101340"/>
                <a:ext cx="1365275" cy="975360"/>
              </a:xfrm>
              <a:prstGeom prst="rect">
                <a:avLst/>
              </a:prstGeom>
              <a:noFill/>
              <a:ln>
                <a:noFill/>
              </a:ln>
            </p:spPr>
            <p:txBody>
              <a:bodyPr wrap="none" lIns="0" tIns="0" rIns="0" bIns="0" anchor="t" anchorCtr="0">
                <a:spAutoFit/>
              </a:bodyPr>
              <a:lstStyle/>
              <a:p>
                <a:pPr algn="ctr"/>
                <a:r>
                  <a:rPr lang="zh-CN" sz="4800" b="1" dirty="0">
                    <a:solidFill>
                      <a:srgbClr val="153166"/>
                    </a:solidFill>
                    <a:latin typeface="Plus Jakarta Sans"/>
                    <a:ea typeface="Microsoft JhengHei"/>
                    <a:cs typeface="Plus Jakarta Sans"/>
                  </a:rPr>
                  <a:t>58%</a:t>
                </a:r>
              </a:p>
            </p:txBody>
          </p:sp>
          <p:sp>
            <p:nvSpPr>
              <p:cNvPr id="8" name="TextBox 8"/>
              <p:cNvSpPr txBox="1"/>
              <p:nvPr/>
            </p:nvSpPr>
            <p:spPr>
              <a:xfrm>
                <a:off x="1351300" y="3942874"/>
                <a:ext cx="707350" cy="198120"/>
              </a:xfrm>
              <a:prstGeom prst="rect">
                <a:avLst/>
              </a:prstGeom>
              <a:noFill/>
              <a:ln>
                <a:noFill/>
              </a:ln>
            </p:spPr>
            <p:txBody>
              <a:bodyPr wrap="none" lIns="0" tIns="0" rIns="0" bIns="0" anchor="t" anchorCtr="0">
                <a:spAutoFit/>
              </a:bodyPr>
              <a:lstStyle/>
              <a:p>
                <a:pPr algn="ctr"/>
                <a:r>
                  <a:rPr lang="zh-CN" sz="975" b="1" dirty="0">
                    <a:solidFill>
                      <a:srgbClr val="153166"/>
                    </a:solidFill>
                    <a:latin typeface="Manrope"/>
                    <a:ea typeface="Microsoft JhengHei"/>
                    <a:cs typeface="Manrope"/>
                  </a:rPr>
                  <a:t>工作日耗在</a:t>
                </a:r>
              </a:p>
            </p:txBody>
          </p:sp>
          <p:sp>
            <p:nvSpPr>
              <p:cNvPr id="9" name="TextBox 9"/>
              <p:cNvSpPr txBox="1"/>
              <p:nvPr/>
            </p:nvSpPr>
            <p:spPr>
              <a:xfrm>
                <a:off x="1078266" y="4152424"/>
                <a:ext cx="1253419" cy="198120"/>
              </a:xfrm>
              <a:prstGeom prst="rect">
                <a:avLst/>
              </a:prstGeom>
              <a:noFill/>
              <a:ln>
                <a:noFill/>
              </a:ln>
            </p:spPr>
            <p:txBody>
              <a:bodyPr wrap="none" lIns="0" tIns="0" rIns="0" bIns="0" anchor="t" anchorCtr="0">
                <a:spAutoFit/>
              </a:bodyPr>
              <a:lstStyle/>
              <a:p>
                <a:pPr algn="ctr"/>
                <a:r>
                  <a:rPr lang="zh-CN" sz="975" b="1" dirty="0">
                    <a:solidFill>
                      <a:srgbClr val="153166"/>
                    </a:solidFill>
                    <a:latin typeface="Manrope"/>
                    <a:ea typeface="Microsoft JhengHei"/>
                    <a:cs typeface="Manrope"/>
                  </a:rPr>
                  <a:t>「工作的周邊工作」</a:t>
                </a:r>
              </a:p>
            </p:txBody>
          </p:sp>
          <p:sp>
            <p:nvSpPr>
              <p:cNvPr id="10" name="TextBox 10"/>
              <p:cNvSpPr txBox="1"/>
              <p:nvPr/>
            </p:nvSpPr>
            <p:spPr>
              <a:xfrm>
                <a:off x="1078421" y="4673441"/>
                <a:ext cx="1253109" cy="167640"/>
              </a:xfrm>
              <a:prstGeom prst="rect">
                <a:avLst/>
              </a:prstGeom>
              <a:noFill/>
              <a:ln>
                <a:noFill/>
              </a:ln>
            </p:spPr>
            <p:txBody>
              <a:bodyPr wrap="none" lIns="0" tIns="0" rIns="0" bIns="0" anchor="t" anchorCtr="0">
                <a:spAutoFit/>
              </a:bodyPr>
              <a:lstStyle/>
              <a:p>
                <a:pPr algn="ctr"/>
                <a:r>
                  <a:rPr lang="zh-CN" sz="825" dirty="0">
                    <a:solidFill>
                      <a:srgbClr val="909090"/>
                    </a:solidFill>
                    <a:latin typeface="Manrope"/>
                    <a:ea typeface="Microsoft JhengHei"/>
                    <a:cs typeface="Manrope"/>
                  </a:rPr>
                  <a:t>Asana Anatomy of Work</a:t>
                </a:r>
              </a:p>
            </p:txBody>
          </p:sp>
          <p:sp>
            <p:nvSpPr>
              <p:cNvPr id="11" name="TextBox 11"/>
              <p:cNvSpPr txBox="1"/>
              <p:nvPr/>
            </p:nvSpPr>
            <p:spPr>
              <a:xfrm>
                <a:off x="1248942" y="4863941"/>
                <a:ext cx="912066" cy="167640"/>
              </a:xfrm>
              <a:prstGeom prst="rect">
                <a:avLst/>
              </a:prstGeom>
              <a:noFill/>
              <a:ln>
                <a:noFill/>
              </a:ln>
            </p:spPr>
            <p:txBody>
              <a:bodyPr wrap="none" lIns="0" tIns="0" rIns="0" bIns="0" anchor="t" anchorCtr="0">
                <a:spAutoFit/>
              </a:bodyPr>
              <a:lstStyle/>
              <a:p>
                <a:pPr algn="ctr"/>
                <a:r>
                  <a:rPr lang="zh-CN" sz="825" dirty="0">
                    <a:solidFill>
                      <a:srgbClr val="909090"/>
                    </a:solidFill>
                    <a:latin typeface="Manrope"/>
                    <a:ea typeface="Microsoft JhengHei"/>
                    <a:cs typeface="Manrope"/>
                  </a:rPr>
                  <a:t>Global Index 2023</a:t>
                </a:r>
              </a:p>
            </p:txBody>
          </p:sp>
        </p:grpSp>
        <p:grpSp>
          <p:nvGrpSpPr>
            <p:cNvPr id="20" name="Group 20"/>
            <p:cNvGrpSpPr/>
            <p:nvPr/>
          </p:nvGrpSpPr>
          <p:grpSpPr>
            <a:xfrm>
              <a:off x="2990850" y="1666875"/>
              <a:ext cx="2190750" cy="3524250"/>
              <a:chOff x="2990850" y="1666875"/>
              <a:chExt cx="2190750" cy="3524250"/>
            </a:xfrm>
          </p:grpSpPr>
          <p:sp>
            <p:nvSpPr>
              <p:cNvPr id="13" name="Rectangle 13"/>
              <p:cNvSpPr/>
              <p:nvPr/>
            </p:nvSpPr>
            <p:spPr>
              <a:xfrm>
                <a:off x="2990850" y="1666875"/>
                <a:ext cx="2190750" cy="3524250"/>
              </a:xfrm>
              <a:prstGeom prst="roundRect">
                <a:avLst>
                  <a:gd name="adj" fmla="val 6957"/>
                </a:avLst>
              </a:prstGeom>
              <a:solidFill>
                <a:srgbClr val="FFFFFF"/>
              </a:solidFill>
              <a:ln w="14288">
                <a:solidFill>
                  <a:srgbClr val="B91C1C"/>
                </a:solidFill>
              </a:ln>
            </p:spPr>
          </p:sp>
          <p:sp>
            <p:nvSpPr>
              <p:cNvPr id="14" name="TextBox 14"/>
              <p:cNvSpPr txBox="1"/>
              <p:nvPr/>
            </p:nvSpPr>
            <p:spPr>
              <a:xfrm>
                <a:off x="3484816" y="2410778"/>
                <a:ext cx="1202817" cy="213360"/>
              </a:xfrm>
              <a:prstGeom prst="rect">
                <a:avLst/>
              </a:prstGeom>
              <a:noFill/>
              <a:ln>
                <a:noFill/>
              </a:ln>
            </p:spPr>
            <p:txBody>
              <a:bodyPr wrap="none" lIns="0" tIns="0" rIns="0" bIns="0" anchor="t" anchorCtr="0">
                <a:spAutoFit/>
              </a:bodyPr>
              <a:lstStyle/>
              <a:p>
                <a:pPr algn="ctr"/>
                <a:r>
                  <a:rPr lang="zh-CN" sz="1050" b="1" dirty="0">
                    <a:solidFill>
                      <a:srgbClr val="B91C1C"/>
                    </a:solidFill>
                    <a:latin typeface="Manrope"/>
                    <a:ea typeface="Microsoft JhengHei"/>
                    <a:cs typeface="Manrope"/>
                  </a:rPr>
                  <a:t>文件工作每週消耗</a:t>
                </a:r>
              </a:p>
            </p:txBody>
          </p:sp>
          <p:sp>
            <p:nvSpPr>
              <p:cNvPr id="15" name="TextBox 15"/>
              <p:cNvSpPr txBox="1"/>
              <p:nvPr/>
            </p:nvSpPr>
            <p:spPr>
              <a:xfrm>
                <a:off x="3509260" y="3086100"/>
                <a:ext cx="1153930" cy="914400"/>
              </a:xfrm>
              <a:prstGeom prst="rect">
                <a:avLst/>
              </a:prstGeom>
              <a:noFill/>
              <a:ln>
                <a:noFill/>
              </a:ln>
            </p:spPr>
            <p:txBody>
              <a:bodyPr wrap="none" lIns="0" tIns="0" rIns="0" bIns="0" anchor="t" anchorCtr="0">
                <a:spAutoFit/>
              </a:bodyPr>
              <a:lstStyle/>
              <a:p>
                <a:pPr algn="ctr"/>
                <a:r>
                  <a:rPr lang="zh-CN" sz="4500" b="1" dirty="0">
                    <a:solidFill>
                      <a:srgbClr val="B91C1C"/>
                    </a:solidFill>
                    <a:latin typeface="Plus Jakarta Sans"/>
                    <a:ea typeface="Microsoft JhengHei"/>
                    <a:cs typeface="Plus Jakarta Sans"/>
                  </a:rPr>
                  <a:t>14h</a:t>
                </a:r>
              </a:p>
            </p:txBody>
          </p:sp>
          <p:sp>
            <p:nvSpPr>
              <p:cNvPr id="16" name="TextBox 16"/>
              <p:cNvSpPr txBox="1"/>
              <p:nvPr/>
            </p:nvSpPr>
            <p:spPr>
              <a:xfrm>
                <a:off x="3578968" y="3942874"/>
                <a:ext cx="1014514" cy="198120"/>
              </a:xfrm>
              <a:prstGeom prst="rect">
                <a:avLst/>
              </a:prstGeom>
              <a:noFill/>
              <a:ln>
                <a:noFill/>
              </a:ln>
            </p:spPr>
            <p:txBody>
              <a:bodyPr wrap="none" lIns="0" tIns="0" rIns="0" bIns="0" anchor="t" anchorCtr="0">
                <a:spAutoFit/>
              </a:bodyPr>
              <a:lstStyle/>
              <a:p>
                <a:pPr algn="ctr"/>
                <a:r>
                  <a:rPr lang="zh-CN" sz="975" b="1" dirty="0">
                    <a:solidFill>
                      <a:srgbClr val="B91C1C"/>
                    </a:solidFill>
                    <a:latin typeface="Manrope"/>
                    <a:ea typeface="Microsoft JhengHei"/>
                    <a:cs typeface="Manrope"/>
                  </a:rPr>
                  <a:t>耗在 PRD 撰寫、</a:t>
                </a:r>
              </a:p>
            </p:txBody>
          </p:sp>
          <p:sp>
            <p:nvSpPr>
              <p:cNvPr id="17" name="TextBox 17"/>
              <p:cNvSpPr txBox="1"/>
              <p:nvPr/>
            </p:nvSpPr>
            <p:spPr>
              <a:xfrm>
                <a:off x="3367367" y="4152424"/>
                <a:ext cx="1437717" cy="198120"/>
              </a:xfrm>
              <a:prstGeom prst="rect">
                <a:avLst/>
              </a:prstGeom>
              <a:noFill/>
              <a:ln>
                <a:noFill/>
              </a:ln>
            </p:spPr>
            <p:txBody>
              <a:bodyPr wrap="none" lIns="0" tIns="0" rIns="0" bIns="0" anchor="t" anchorCtr="0">
                <a:spAutoFit/>
              </a:bodyPr>
              <a:lstStyle/>
              <a:p>
                <a:pPr algn="ctr"/>
                <a:r>
                  <a:rPr lang="zh-CN" sz="975" b="1" dirty="0">
                    <a:solidFill>
                      <a:srgbClr val="B91C1C"/>
                    </a:solidFill>
                    <a:latin typeface="Manrope"/>
                    <a:ea typeface="Microsoft JhengHei"/>
                    <a:cs typeface="Manrope"/>
                  </a:rPr>
                  <a:t>Ticket 拆解與格式調整</a:t>
                </a:r>
              </a:p>
            </p:txBody>
          </p:sp>
          <p:sp>
            <p:nvSpPr>
              <p:cNvPr id="18" name="TextBox 18"/>
              <p:cNvSpPr txBox="1"/>
              <p:nvPr/>
            </p:nvSpPr>
            <p:spPr>
              <a:xfrm>
                <a:off x="3657695" y="4673441"/>
                <a:ext cx="857060" cy="167640"/>
              </a:xfrm>
              <a:prstGeom prst="rect">
                <a:avLst/>
              </a:prstGeom>
              <a:noFill/>
              <a:ln>
                <a:noFill/>
              </a:ln>
            </p:spPr>
            <p:txBody>
              <a:bodyPr wrap="none" lIns="0" tIns="0" rIns="0" bIns="0" anchor="t" anchorCtr="0">
                <a:spAutoFit/>
              </a:bodyPr>
              <a:lstStyle/>
              <a:p>
                <a:pPr algn="ctr"/>
                <a:r>
                  <a:rPr lang="zh-CN" sz="825" dirty="0">
                    <a:solidFill>
                      <a:srgbClr val="909090"/>
                    </a:solidFill>
                    <a:latin typeface="Manrope"/>
                    <a:ea typeface="Microsoft JhengHei"/>
                    <a:cs typeface="Manrope"/>
                  </a:rPr>
                  <a:t>PM 社群調研彙整</a:t>
                </a:r>
              </a:p>
            </p:txBody>
          </p:sp>
          <p:sp>
            <p:nvSpPr>
              <p:cNvPr id="19" name="TextBox 19"/>
              <p:cNvSpPr txBox="1"/>
              <p:nvPr/>
            </p:nvSpPr>
            <p:spPr>
              <a:xfrm>
                <a:off x="3635692" y="4863941"/>
                <a:ext cx="901065" cy="167640"/>
              </a:xfrm>
              <a:prstGeom prst="rect">
                <a:avLst/>
              </a:prstGeom>
              <a:noFill/>
              <a:ln>
                <a:noFill/>
              </a:ln>
            </p:spPr>
            <p:txBody>
              <a:bodyPr wrap="none" lIns="0" tIns="0" rIns="0" bIns="0" anchor="t" anchorCtr="0">
                <a:spAutoFit/>
              </a:bodyPr>
              <a:lstStyle/>
              <a:p>
                <a:pPr algn="ctr"/>
                <a:r>
                  <a:rPr lang="zh-CN" sz="825" dirty="0">
                    <a:solidFill>
                      <a:srgbClr val="909090"/>
                    </a:solidFill>
                    <a:latin typeface="Manrope"/>
                    <a:ea typeface="Microsoft JhengHei"/>
                    <a:cs typeface="Manrope"/>
                  </a:rPr>
                  <a:t>（≈ 35% 週工時）</a:t>
                </a:r>
              </a:p>
            </p:txBody>
          </p:sp>
        </p:grpSp>
        <p:grpSp>
          <p:nvGrpSpPr>
            <p:cNvPr id="36" name="Group 36"/>
            <p:cNvGrpSpPr/>
            <p:nvPr/>
          </p:nvGrpSpPr>
          <p:grpSpPr>
            <a:xfrm>
              <a:off x="5657850" y="1666875"/>
              <a:ext cx="5924550" cy="3524250"/>
              <a:chOff x="5657850" y="1666875"/>
              <a:chExt cx="5924550" cy="3524250"/>
            </a:xfrm>
          </p:grpSpPr>
          <p:sp>
            <p:nvSpPr>
              <p:cNvPr id="21" name="Rectangle 21"/>
              <p:cNvSpPr/>
              <p:nvPr/>
            </p:nvSpPr>
            <p:spPr>
              <a:xfrm>
                <a:off x="5657850" y="1666875"/>
                <a:ext cx="5924550" cy="1619250"/>
              </a:xfrm>
              <a:prstGeom prst="roundRect">
                <a:avLst>
                  <a:gd name="adj" fmla="val 8235"/>
                </a:avLst>
              </a:prstGeom>
              <a:solidFill>
                <a:srgbClr val="FFFFFF"/>
              </a:solidFill>
              <a:ln w="14288">
                <a:solidFill>
                  <a:srgbClr val="E5E3DE"/>
                </a:solidFill>
              </a:ln>
            </p:spPr>
          </p:sp>
          <p:sp>
            <p:nvSpPr>
              <p:cNvPr id="22" name="Ellipse 22"/>
              <p:cNvSpPr/>
              <p:nvPr/>
            </p:nvSpPr>
            <p:spPr>
              <a:xfrm>
                <a:off x="5886450" y="1952625"/>
                <a:ext cx="152400" cy="152400"/>
              </a:xfrm>
              <a:prstGeom prst="ellipse">
                <a:avLst/>
              </a:prstGeom>
              <a:solidFill>
                <a:srgbClr val="B91C1C"/>
              </a:solidFill>
              <a:ln>
                <a:noFill/>
              </a:ln>
            </p:spPr>
          </p:sp>
          <p:sp>
            <p:nvSpPr>
              <p:cNvPr id="23" name="TextBox 23"/>
              <p:cNvSpPr txBox="1"/>
              <p:nvPr/>
            </p:nvSpPr>
            <p:spPr>
              <a:xfrm>
                <a:off x="6141720" y="1855470"/>
                <a:ext cx="823060" cy="182880"/>
              </a:xfrm>
              <a:prstGeom prst="rect">
                <a:avLst/>
              </a:prstGeom>
              <a:noFill/>
              <a:ln>
                <a:noFill/>
              </a:ln>
            </p:spPr>
            <p:txBody>
              <a:bodyPr wrap="none" lIns="0" tIns="0" rIns="0" bIns="0" anchor="t" anchorCtr="0">
                <a:spAutoFit/>
              </a:bodyPr>
              <a:lstStyle/>
              <a:p>
                <a:pPr algn="l"/>
                <a:r>
                  <a:rPr lang="zh-CN" sz="900" b="1" dirty="0">
                    <a:solidFill>
                      <a:srgbClr val="B91C1C"/>
                    </a:solidFill>
                    <a:latin typeface="Manrope"/>
                    <a:ea typeface="Microsoft JhengHei"/>
                    <a:cs typeface="Manrope"/>
                  </a:rPr>
                  <a:t>PAIN POINT 01</a:t>
                </a:r>
              </a:p>
            </p:txBody>
          </p:sp>
          <p:sp>
            <p:nvSpPr>
              <p:cNvPr id="24" name="TextBox 24"/>
              <p:cNvSpPr txBox="1"/>
              <p:nvPr/>
            </p:nvSpPr>
            <p:spPr>
              <a:xfrm>
                <a:off x="6136005" y="2016442"/>
                <a:ext cx="2302574" cy="274320"/>
              </a:xfrm>
              <a:prstGeom prst="rect">
                <a:avLst/>
              </a:prstGeom>
              <a:noFill/>
              <a:ln>
                <a:noFill/>
              </a:ln>
            </p:spPr>
            <p:txBody>
              <a:bodyPr wrap="none" lIns="0" tIns="0" rIns="0" bIns="0" anchor="t" anchorCtr="0">
                <a:spAutoFit/>
              </a:bodyPr>
              <a:lstStyle/>
              <a:p>
                <a:pPr algn="l"/>
                <a:r>
                  <a:rPr lang="zh-CN" sz="1350" b="1" dirty="0">
                    <a:solidFill>
                      <a:srgbClr val="171C24"/>
                    </a:solidFill>
                    <a:latin typeface="Plus Jakarta Sans"/>
                    <a:ea typeface="Microsoft JhengHei"/>
                    <a:cs typeface="Plus Jakarta Sans"/>
                  </a:rPr>
                  <a:t>起步焦慮：空白文檔症候群</a:t>
                </a:r>
              </a:p>
            </p:txBody>
          </p:sp>
          <p:sp>
            <p:nvSpPr>
              <p:cNvPr id="25" name="TextBox 25"/>
              <p:cNvSpPr txBox="1"/>
              <p:nvPr/>
            </p:nvSpPr>
            <p:spPr>
              <a:xfrm>
                <a:off x="5949315" y="2391728"/>
                <a:ext cx="4311206" cy="213360"/>
              </a:xfrm>
              <a:prstGeom prst="rect">
                <a:avLst/>
              </a:prstGeom>
              <a:noFill/>
              <a:ln>
                <a:noFill/>
              </a:ln>
            </p:spPr>
            <p:txBody>
              <a:bodyPr wrap="none" lIns="0" tIns="0" rIns="0" bIns="0" anchor="t" anchorCtr="0">
                <a:spAutoFit/>
              </a:bodyPr>
              <a:lstStyle/>
              <a:p>
                <a:pPr algn="l"/>
                <a:r>
                  <a:rPr lang="zh-CN" sz="1050" dirty="0">
                    <a:solidFill>
                      <a:srgbClr val="525864"/>
                    </a:solidFill>
                    <a:latin typeface="Manrope"/>
                    <a:ea typeface="Microsoft JhengHei"/>
                    <a:cs typeface="Manrope"/>
                  </a:rPr>
                  <a:t>PM 面對空白文檔時往往無從下筆，需要反覆思考結構、查找舊模板、</a:t>
                </a:r>
              </a:p>
            </p:txBody>
          </p:sp>
          <p:sp>
            <p:nvSpPr>
              <p:cNvPr id="26" name="TextBox 26"/>
              <p:cNvSpPr txBox="1"/>
              <p:nvPr/>
            </p:nvSpPr>
            <p:spPr>
              <a:xfrm>
                <a:off x="5949315" y="2601278"/>
                <a:ext cx="4227195" cy="213360"/>
              </a:xfrm>
              <a:prstGeom prst="rect">
                <a:avLst/>
              </a:prstGeom>
              <a:noFill/>
              <a:ln>
                <a:noFill/>
              </a:ln>
            </p:spPr>
            <p:txBody>
              <a:bodyPr wrap="none" lIns="0" tIns="0" rIns="0" bIns="0" anchor="t" anchorCtr="0">
                <a:spAutoFit/>
              </a:bodyPr>
              <a:lstStyle/>
              <a:p>
                <a:pPr algn="l"/>
                <a:r>
                  <a:rPr lang="zh-CN" sz="1050" dirty="0">
                    <a:solidFill>
                      <a:srgbClr val="525864"/>
                    </a:solidFill>
                    <a:latin typeface="Manrope"/>
                    <a:ea typeface="Microsoft JhengHei"/>
                    <a:cs typeface="Manrope"/>
                  </a:rPr>
                  <a:t>拼湊格式框架，才能開始填入內容。「看著空白頁面的焦慮期」往往</a:t>
                </a:r>
              </a:p>
            </p:txBody>
          </p:sp>
          <p:sp>
            <p:nvSpPr>
              <p:cNvPr id="27" name="TextBox 27"/>
              <p:cNvSpPr txBox="1"/>
              <p:nvPr/>
            </p:nvSpPr>
            <p:spPr>
              <a:xfrm>
                <a:off x="5949315" y="2810828"/>
                <a:ext cx="2673001" cy="213360"/>
              </a:xfrm>
              <a:prstGeom prst="rect">
                <a:avLst/>
              </a:prstGeom>
              <a:noFill/>
              <a:ln>
                <a:noFill/>
              </a:ln>
            </p:spPr>
            <p:txBody>
              <a:bodyPr wrap="none" lIns="0" tIns="0" rIns="0" bIns="0" anchor="t" anchorCtr="0">
                <a:spAutoFit/>
              </a:bodyPr>
              <a:lstStyle/>
              <a:p>
                <a:pPr algn="l"/>
                <a:r>
                  <a:rPr lang="zh-CN" sz="1050" dirty="0">
                    <a:solidFill>
                      <a:srgbClr val="525864"/>
                    </a:solidFill>
                    <a:latin typeface="Manrope"/>
                    <a:ea typeface="Microsoft JhengHei"/>
                    <a:cs typeface="Manrope"/>
                  </a:rPr>
                  <a:t>消耗整個上午，成為 PM 最大的心理負擔。</a:t>
                </a:r>
              </a:p>
            </p:txBody>
          </p:sp>
          <p:grpSp>
            <p:nvGrpSpPr>
              <p:cNvPr id="35" name="Group 35"/>
              <p:cNvGrpSpPr/>
              <p:nvPr/>
            </p:nvGrpSpPr>
            <p:grpSpPr>
              <a:xfrm>
                <a:off x="5657850" y="3571875"/>
                <a:ext cx="5924550" cy="1619250"/>
                <a:chOff x="5657850" y="3571875"/>
                <a:chExt cx="5924550" cy="1619250"/>
              </a:xfrm>
            </p:grpSpPr>
            <p:sp>
              <p:nvSpPr>
                <p:cNvPr id="28" name="Rectangle 28"/>
                <p:cNvSpPr/>
                <p:nvPr/>
              </p:nvSpPr>
              <p:spPr>
                <a:xfrm>
                  <a:off x="5657850" y="3571875"/>
                  <a:ext cx="5924550" cy="1619250"/>
                </a:xfrm>
                <a:prstGeom prst="roundRect">
                  <a:avLst>
                    <a:gd name="adj" fmla="val 8235"/>
                  </a:avLst>
                </a:prstGeom>
                <a:solidFill>
                  <a:srgbClr val="FFFFFF"/>
                </a:solidFill>
                <a:ln w="14288">
                  <a:solidFill>
                    <a:srgbClr val="E5E3DE"/>
                  </a:solidFill>
                </a:ln>
              </p:spPr>
            </p:sp>
            <p:sp>
              <p:nvSpPr>
                <p:cNvPr id="29" name="Ellipse 29"/>
                <p:cNvSpPr/>
                <p:nvPr/>
              </p:nvSpPr>
              <p:spPr>
                <a:xfrm>
                  <a:off x="5886450" y="3857625"/>
                  <a:ext cx="152400" cy="152400"/>
                </a:xfrm>
                <a:prstGeom prst="ellipse">
                  <a:avLst/>
                </a:prstGeom>
                <a:solidFill>
                  <a:srgbClr val="B91C1C"/>
                </a:solidFill>
                <a:ln>
                  <a:noFill/>
                </a:ln>
              </p:spPr>
            </p:sp>
            <p:sp>
              <p:nvSpPr>
                <p:cNvPr id="30" name="TextBox 30"/>
                <p:cNvSpPr txBox="1"/>
                <p:nvPr/>
              </p:nvSpPr>
              <p:spPr>
                <a:xfrm>
                  <a:off x="6141720" y="3760470"/>
                  <a:ext cx="823060" cy="182880"/>
                </a:xfrm>
                <a:prstGeom prst="rect">
                  <a:avLst/>
                </a:prstGeom>
                <a:noFill/>
                <a:ln>
                  <a:noFill/>
                </a:ln>
              </p:spPr>
              <p:txBody>
                <a:bodyPr wrap="none" lIns="0" tIns="0" rIns="0" bIns="0" anchor="t" anchorCtr="0">
                  <a:spAutoFit/>
                </a:bodyPr>
                <a:lstStyle/>
                <a:p>
                  <a:pPr algn="l"/>
                  <a:r>
                    <a:rPr lang="zh-CN" sz="900" b="1" dirty="0">
                      <a:solidFill>
                        <a:srgbClr val="B91C1C"/>
                      </a:solidFill>
                      <a:latin typeface="Manrope"/>
                      <a:ea typeface="Microsoft JhengHei"/>
                      <a:cs typeface="Manrope"/>
                    </a:rPr>
                    <a:t>PAIN POINT 02</a:t>
                  </a:r>
                </a:p>
              </p:txBody>
            </p:sp>
            <p:sp>
              <p:nvSpPr>
                <p:cNvPr id="31" name="TextBox 31"/>
                <p:cNvSpPr txBox="1"/>
                <p:nvPr/>
              </p:nvSpPr>
              <p:spPr>
                <a:xfrm>
                  <a:off x="6136005" y="3921442"/>
                  <a:ext cx="2680621" cy="274320"/>
                </a:xfrm>
                <a:prstGeom prst="rect">
                  <a:avLst/>
                </a:prstGeom>
                <a:noFill/>
                <a:ln>
                  <a:noFill/>
                </a:ln>
              </p:spPr>
              <p:txBody>
                <a:bodyPr wrap="none" lIns="0" tIns="0" rIns="0" bIns="0" anchor="t" anchorCtr="0">
                  <a:spAutoFit/>
                </a:bodyPr>
                <a:lstStyle/>
                <a:p>
                  <a:pPr algn="l"/>
                  <a:r>
                    <a:rPr lang="zh-CN" sz="1350" b="1" dirty="0">
                      <a:solidFill>
                        <a:srgbClr val="171C24"/>
                      </a:solidFill>
                      <a:latin typeface="Plus Jakarta Sans"/>
                      <a:ea typeface="Microsoft JhengHei"/>
                      <a:cs typeface="Plus Jakarta Sans"/>
                    </a:rPr>
                    <a:t>格式重工：模板複製與規格遺漏</a:t>
                  </a:r>
                </a:p>
              </p:txBody>
            </p:sp>
            <p:sp>
              <p:nvSpPr>
                <p:cNvPr id="32" name="TextBox 32"/>
                <p:cNvSpPr txBox="1"/>
                <p:nvPr/>
              </p:nvSpPr>
              <p:spPr>
                <a:xfrm>
                  <a:off x="5949315" y="4296728"/>
                  <a:ext cx="3842147" cy="213360"/>
                </a:xfrm>
                <a:prstGeom prst="rect">
                  <a:avLst/>
                </a:prstGeom>
                <a:noFill/>
                <a:ln>
                  <a:noFill/>
                </a:ln>
              </p:spPr>
              <p:txBody>
                <a:bodyPr wrap="none" lIns="0" tIns="0" rIns="0" bIns="0" anchor="t" anchorCtr="0">
                  <a:spAutoFit/>
                </a:bodyPr>
                <a:lstStyle/>
                <a:p>
                  <a:pPr algn="l"/>
                  <a:r>
                    <a:rPr lang="zh-CN" sz="1050" dirty="0">
                      <a:solidFill>
                        <a:srgbClr val="525864"/>
                      </a:solidFill>
                      <a:latin typeface="Manrope"/>
                      <a:ea typeface="Microsoft JhengHei"/>
                      <a:cs typeface="Manrope"/>
                    </a:rPr>
                    <a:t>現行做法是複製舊 PRD 模板後手動修改，容易遺漏規格欄位、</a:t>
                  </a:r>
                </a:p>
              </p:txBody>
            </p:sp>
            <p:sp>
              <p:nvSpPr>
                <p:cNvPr id="33" name="TextBox 33"/>
                <p:cNvSpPr txBox="1"/>
                <p:nvPr/>
              </p:nvSpPr>
              <p:spPr>
                <a:xfrm>
                  <a:off x="5949315" y="4506278"/>
                  <a:ext cx="3807143" cy="213360"/>
                </a:xfrm>
                <a:prstGeom prst="rect">
                  <a:avLst/>
                </a:prstGeom>
                <a:noFill/>
                <a:ln>
                  <a:noFill/>
                </a:ln>
              </p:spPr>
              <p:txBody>
                <a:bodyPr wrap="none" lIns="0" tIns="0" rIns="0" bIns="0" anchor="t" anchorCtr="0">
                  <a:spAutoFit/>
                </a:bodyPr>
                <a:lstStyle/>
                <a:p>
                  <a:pPr algn="l"/>
                  <a:r>
                    <a:rPr lang="zh-CN" sz="1050" dirty="0">
                      <a:solidFill>
                        <a:srgbClr val="525864"/>
                      </a:solidFill>
                      <a:latin typeface="Manrope"/>
                      <a:ea typeface="Microsoft JhengHei"/>
                      <a:cs typeface="Manrope"/>
                    </a:rPr>
                    <a:t>格式前後不一致，導致工程師需要反覆確認，拖慢開發節奏，</a:t>
                  </a:r>
                </a:p>
              </p:txBody>
            </p:sp>
            <p:sp>
              <p:nvSpPr>
                <p:cNvPr id="34" name="TextBox 34"/>
                <p:cNvSpPr txBox="1"/>
                <p:nvPr/>
              </p:nvSpPr>
              <p:spPr>
                <a:xfrm>
                  <a:off x="5949315" y="4715828"/>
                  <a:ext cx="1846898" cy="213360"/>
                </a:xfrm>
                <a:prstGeom prst="rect">
                  <a:avLst/>
                </a:prstGeom>
                <a:noFill/>
                <a:ln>
                  <a:noFill/>
                </a:ln>
              </p:spPr>
              <p:txBody>
                <a:bodyPr wrap="none" lIns="0" tIns="0" rIns="0" bIns="0" anchor="t" anchorCtr="0">
                  <a:spAutoFit/>
                </a:bodyPr>
                <a:lstStyle/>
                <a:p>
                  <a:pPr algn="l"/>
                  <a:r>
                    <a:rPr lang="zh-CN" sz="1050" dirty="0">
                      <a:solidFill>
                        <a:srgbClr val="525864"/>
                      </a:solidFill>
                      <a:latin typeface="Manrope"/>
                      <a:ea typeface="Microsoft JhengHei"/>
                      <a:cs typeface="Manrope"/>
                    </a:rPr>
                    <a:t>遍歷整個團隊的生產力損耗。</a:t>
                  </a:r>
                </a:p>
              </p:txBody>
            </p:sp>
          </p:grpSp>
        </p:grpSp>
      </p:grpSp>
      <p:grpSp>
        <p:nvGrpSpPr>
          <p:cNvPr id="41" name="Group 41"/>
          <p:cNvGrpSpPr/>
          <p:nvPr/>
        </p:nvGrpSpPr>
        <p:grpSpPr>
          <a:xfrm>
            <a:off x="609600" y="5667375"/>
            <a:ext cx="10972800" cy="571500"/>
            <a:chOff x="609600" y="5667375"/>
            <a:chExt cx="10972800" cy="571500"/>
          </a:xfrm>
        </p:grpSpPr>
        <p:sp>
          <p:nvSpPr>
            <p:cNvPr id="38" name="Rectangle 38"/>
            <p:cNvSpPr/>
            <p:nvPr/>
          </p:nvSpPr>
          <p:spPr>
            <a:xfrm>
              <a:off x="609600" y="5667375"/>
              <a:ext cx="10972800" cy="571500"/>
            </a:xfrm>
            <a:prstGeom prst="roundRect">
              <a:avLst>
                <a:gd name="adj" fmla="val 13333"/>
              </a:avLst>
            </a:prstGeom>
            <a:solidFill>
              <a:srgbClr val="F3F2ED"/>
            </a:solidFill>
            <a:ln>
              <a:noFill/>
            </a:ln>
          </p:spPr>
        </p:sp>
        <p:sp>
          <p:nvSpPr>
            <p:cNvPr id="39" name="Freeform 39"/>
            <p:cNvSpPr/>
            <p:nvPr/>
          </p:nvSpPr>
          <p:spPr>
            <a:xfrm>
              <a:off x="800100" y="5838825"/>
              <a:ext cx="228600" cy="228600"/>
            </a:xfrm>
            <a:custGeom>
              <a:avLst/>
              <a:gdLst/>
              <a:ahLst/>
              <a:cxnLst/>
              <a:rect l="l" t="t" r="r" b="b"/>
              <a:pathLst>
                <a:path w="228600" h="228600">
                  <a:moveTo>
                    <a:pt x="228600" y="114300"/>
                  </a:moveTo>
                  <a:cubicBezTo>
                    <a:pt x="228600" y="177426"/>
                    <a:pt x="177426" y="228600"/>
                    <a:pt x="114300" y="228600"/>
                  </a:cubicBezTo>
                  <a:cubicBezTo>
                    <a:pt x="51174" y="228600"/>
                    <a:pt x="0" y="177426"/>
                    <a:pt x="0" y="114300"/>
                  </a:cubicBezTo>
                  <a:cubicBezTo>
                    <a:pt x="0" y="51174"/>
                    <a:pt x="51174" y="0"/>
                    <a:pt x="114300" y="0"/>
                  </a:cubicBezTo>
                  <a:cubicBezTo>
                    <a:pt x="177426" y="0"/>
                    <a:pt x="228600" y="51174"/>
                    <a:pt x="228600" y="114300"/>
                  </a:cubicBezTo>
                  <a:close/>
                  <a:moveTo>
                    <a:pt x="100012" y="114300"/>
                  </a:moveTo>
                  <a:lnTo>
                    <a:pt x="85725" y="114300"/>
                  </a:lnTo>
                  <a:lnTo>
                    <a:pt x="85725" y="85725"/>
                  </a:lnTo>
                  <a:lnTo>
                    <a:pt x="128588" y="85725"/>
                  </a:lnTo>
                  <a:lnTo>
                    <a:pt x="128588" y="157162"/>
                  </a:lnTo>
                  <a:lnTo>
                    <a:pt x="142875" y="157162"/>
                  </a:lnTo>
                  <a:lnTo>
                    <a:pt x="142875" y="185738"/>
                  </a:lnTo>
                  <a:lnTo>
                    <a:pt x="100012" y="185738"/>
                  </a:lnTo>
                  <a:lnTo>
                    <a:pt x="100012" y="114300"/>
                  </a:lnTo>
                  <a:close/>
                  <a:moveTo>
                    <a:pt x="128588" y="71438"/>
                  </a:moveTo>
                  <a:lnTo>
                    <a:pt x="128588" y="42862"/>
                  </a:lnTo>
                  <a:lnTo>
                    <a:pt x="100012" y="42862"/>
                  </a:lnTo>
                  <a:lnTo>
                    <a:pt x="100012" y="71438"/>
                  </a:lnTo>
                  <a:lnTo>
                    <a:pt x="128588" y="71438"/>
                  </a:lnTo>
                  <a:close/>
                </a:path>
              </a:pathLst>
            </a:custGeom>
            <a:solidFill>
              <a:srgbClr val="007583"/>
            </a:solidFill>
            <a:ln>
              <a:noFill/>
            </a:ln>
          </p:spPr>
        </p:sp>
        <p:sp>
          <p:nvSpPr>
            <p:cNvPr id="40" name="TextBox 40"/>
            <p:cNvSpPr txBox="1"/>
            <p:nvPr/>
          </p:nvSpPr>
          <p:spPr>
            <a:xfrm>
              <a:off x="1129665" y="5877878"/>
              <a:ext cx="6425470" cy="213360"/>
            </a:xfrm>
            <a:prstGeom prst="rect">
              <a:avLst/>
            </a:prstGeom>
            <a:noFill/>
            <a:ln>
              <a:noFill/>
            </a:ln>
          </p:spPr>
          <p:txBody>
            <a:bodyPr wrap="none" lIns="0" tIns="0" rIns="0" bIns="0" anchor="t" anchorCtr="0">
              <a:spAutoFit/>
            </a:bodyPr>
            <a:lstStyle/>
            <a:p>
              <a:pPr algn="l"/>
              <a:r>
                <a:rPr lang="zh-CN" sz="1050" b="1" dirty="0">
                  <a:solidFill>
                    <a:srgbClr val="007583"/>
                  </a:solidFill>
                  <a:latin typeface="Manrope"/>
                  <a:ea typeface="Microsoft JhengHei"/>
                  <a:cs typeface="Manrope"/>
                </a:rPr>
                <a:t>主管視角：</a:t>
              </a:r>
              <a:r>
                <a:rPr lang="zh-CN" sz="1050" dirty="0">
                  <a:solidFill>
                    <a:srgbClr val="171C24"/>
                  </a:solidFill>
                  <a:latin typeface="Manrope"/>
                  <a:ea typeface="Microsoft JhengHei"/>
                  <a:cs typeface="Manrope"/>
                </a:rPr>
                <a:t>這是結構性的研發心力損耗——PM 的時間應花在問題探索與使用者研究，而非文書格式處理。</a:t>
              </a:r>
            </a:p>
          </p:txBody>
        </p:sp>
      </p:grpSp>
      <p:sp>
        <p:nvSpPr>
          <p:cNvPr id="42" name="TextBox 42"/>
          <p:cNvSpPr txBox="1"/>
          <p:nvPr/>
        </p:nvSpPr>
        <p:spPr>
          <a:xfrm>
            <a:off x="598170" y="6475095"/>
            <a:ext cx="2579179" cy="182880"/>
          </a:xfrm>
          <a:prstGeom prst="rect">
            <a:avLst/>
          </a:prstGeom>
          <a:noFill/>
          <a:ln>
            <a:noFill/>
          </a:ln>
        </p:spPr>
        <p:txBody>
          <a:bodyPr wrap="none" lIns="0" tIns="0" rIns="0" bIns="0" anchor="t" anchorCtr="0">
            <a:spAutoFit/>
          </a:bodyPr>
          <a:lstStyle/>
          <a:p>
            <a:pPr algn="l"/>
            <a:r>
              <a:rPr lang="zh-CN" sz="900" dirty="0">
                <a:solidFill>
                  <a:srgbClr val="525864"/>
                </a:solidFill>
                <a:latin typeface="Manrope"/>
                <a:ea typeface="Microsoft JhengHei"/>
                <a:cs typeface="Manrope"/>
              </a:rPr>
              <a:t>PM PROPOSAL &amp; METRICS EDUCATION · PAGE 19</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400"/>
                                        <p:tgtEl>
                                          <p:spTgt spid="3"/>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slide(fromBottom)">
                                      <p:cBhvr>
                                        <p:cTn id="15" dur="400"/>
                                        <p:tgtEl>
                                          <p:spTgt spid="4"/>
                                        </p:tgtEl>
                                      </p:cBhvr>
                                    </p:animEffect>
                                  </p:childTnLst>
                                </p:cTn>
                              </p:par>
                            </p:childTnLst>
                          </p:cTn>
                        </p:par>
                        <p:par>
                          <p:cTn id="16" fill="hold">
                            <p:stCondLst>
                              <p:cond delay="2700"/>
                            </p:stCondLst>
                            <p:childTnLst>
                              <p:par>
                                <p:cTn id="17" presetID="23" presetClass="entr" presetSubtype="0" fill="hold" nodeType="afterEffect">
                                  <p:stCondLst>
                                    <p:cond delay="0"/>
                                  </p:stCondLst>
                                  <p:childTnLst>
                                    <p:set>
                                      <p:cBhvr>
                                        <p:cTn id="18" dur="1" fill="hold">
                                          <p:stCondLst>
                                            <p:cond delay="0"/>
                                          </p:stCondLst>
                                        </p:cTn>
                                        <p:tgtEl>
                                          <p:spTgt spid="37"/>
                                        </p:tgtEl>
                                        <p:attrNameLst>
                                          <p:attrName>style.visibility</p:attrName>
                                        </p:attrNameLst>
                                      </p:cBhvr>
                                      <p:to>
                                        <p:strVal val="visible"/>
                                      </p:to>
                                    </p:set>
                                    <p:animEffect transition="in" filter="image">
                                      <p:cBhvr>
                                        <p:cTn id="19" dur="400"/>
                                        <p:tgtEl>
                                          <p:spTgt spid="37"/>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41"/>
                                        </p:tgtEl>
                                        <p:attrNameLst>
                                          <p:attrName>style.visibility</p:attrName>
                                        </p:attrNameLst>
                                      </p:cBhvr>
                                      <p:to>
                                        <p:strVal val="visible"/>
                                      </p:to>
                                    </p:set>
                                    <p:animEffect transition="in" filter="fade">
                                      <p:cBhvr>
                                        <p:cTn id="23" dur="400"/>
                                        <p:tgtEl>
                                          <p:spTgt spid="41"/>
                                        </p:tgtEl>
                                      </p:cBhvr>
                                    </p:animEffect>
                                  </p:childTnLst>
                                </p:cTn>
                              </p:par>
                            </p:childTnLst>
                          </p:cTn>
                        </p:par>
                        <p:par>
                          <p:cTn id="24" fill="hold">
                            <p:stCondLst>
                              <p:cond delay="4500"/>
                            </p:stCondLst>
                            <p:childTnLst>
                              <p:par>
                                <p:cTn id="25" presetID="22" presetClass="entr" presetSubtype="1" fill="hold" nodeType="afterEffect">
                                  <p:stCondLst>
                                    <p:cond delay="0"/>
                                  </p:stCondLst>
                                  <p:childTnLst>
                                    <p:set>
                                      <p:cBhvr>
                                        <p:cTn id="26" dur="1" fill="hold">
                                          <p:stCondLst>
                                            <p:cond delay="0"/>
                                          </p:stCondLst>
                                        </p:cTn>
                                        <p:tgtEl>
                                          <p:spTgt spid="42"/>
                                        </p:tgtEl>
                                        <p:attrNameLst>
                                          <p:attrName>style.visibility</p:attrName>
                                        </p:attrNameLst>
                                      </p:cBhvr>
                                      <p:to>
                                        <p:strVal val="visible"/>
                                      </p:to>
                                    </p:set>
                                    <p:animEffect transition="in" filter="wipe(left)">
                                      <p:cBhvr>
                                        <p:cTn id="27"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37" grpId="0"/>
      <p:bldP spid="41" grpId="0"/>
      <p:bldP spid="4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DFCF9"/>
          </a:solidFill>
          <a:ln>
            <a:noFill/>
          </a:ln>
        </p:spPr>
      </p:sp>
      <p:sp>
        <p:nvSpPr>
          <p:cNvPr id="3" name="TextBox 3"/>
          <p:cNvSpPr txBox="1"/>
          <p:nvPr/>
        </p:nvSpPr>
        <p:spPr>
          <a:xfrm>
            <a:off x="596265" y="648652"/>
            <a:ext cx="2114331" cy="213360"/>
          </a:xfrm>
          <a:prstGeom prst="rect">
            <a:avLst/>
          </a:prstGeom>
          <a:noFill/>
          <a:ln>
            <a:noFill/>
          </a:ln>
        </p:spPr>
        <p:txBody>
          <a:bodyPr wrap="none" lIns="0" tIns="0" rIns="0" bIns="0" anchor="t" anchorCtr="0">
            <a:spAutoFit/>
          </a:bodyPr>
          <a:lstStyle/>
          <a:p>
            <a:pPr algn="l"/>
            <a:r>
              <a:rPr lang="zh-CN" sz="1050" b="1" dirty="0">
                <a:solidFill>
                  <a:srgbClr val="007583"/>
                </a:solidFill>
                <a:latin typeface="Plus Jakarta Sans"/>
                <a:ea typeface="Microsoft JhengHei"/>
                <a:cs typeface="Plus Jakarta Sans"/>
              </a:rPr>
              <a:t>APPENDIX 02: AI PRD ASSISTANT</a:t>
            </a:r>
          </a:p>
        </p:txBody>
      </p:sp>
      <p:sp>
        <p:nvSpPr>
          <p:cNvPr id="4" name="TextBox 4"/>
          <p:cNvSpPr txBox="1"/>
          <p:nvPr/>
        </p:nvSpPr>
        <p:spPr>
          <a:xfrm>
            <a:off x="582930" y="916305"/>
            <a:ext cx="6492745" cy="426720"/>
          </a:xfrm>
          <a:prstGeom prst="rect">
            <a:avLst/>
          </a:prstGeom>
          <a:noFill/>
          <a:ln>
            <a:noFill/>
          </a:ln>
        </p:spPr>
        <p:txBody>
          <a:bodyPr wrap="none" lIns="0" tIns="0" rIns="0" bIns="0" anchor="t" anchorCtr="0">
            <a:spAutoFit/>
          </a:bodyPr>
          <a:lstStyle/>
          <a:p>
            <a:pPr algn="l"/>
            <a:r>
              <a:rPr lang="zh-CN" sz="2100" b="1" dirty="0">
                <a:solidFill>
                  <a:srgbClr val="171C24"/>
                </a:solidFill>
                <a:latin typeface="Plus Jakarta Sans"/>
                <a:ea typeface="Microsoft JhengHei"/>
                <a:cs typeface="Plus Jakarta Sans"/>
              </a:rPr>
              <a:t>起步焦慮與重複格式調整嚴重消耗 PM 的核心心力</a:t>
            </a:r>
          </a:p>
        </p:txBody>
      </p:sp>
      <p:grpSp>
        <p:nvGrpSpPr>
          <p:cNvPr id="37" name="Group 37"/>
          <p:cNvGrpSpPr/>
          <p:nvPr/>
        </p:nvGrpSpPr>
        <p:grpSpPr>
          <a:xfrm>
            <a:off x="609600" y="1714500"/>
            <a:ext cx="10972800" cy="3810000"/>
            <a:chOff x="609600" y="1714500"/>
            <a:chExt cx="10972800" cy="3810000"/>
          </a:xfrm>
        </p:grpSpPr>
        <p:grpSp>
          <p:nvGrpSpPr>
            <p:cNvPr id="21" name="Group 21"/>
            <p:cNvGrpSpPr/>
            <p:nvPr/>
          </p:nvGrpSpPr>
          <p:grpSpPr>
            <a:xfrm>
              <a:off x="609600" y="1714500"/>
              <a:ext cx="5143500" cy="3810000"/>
              <a:chOff x="609600" y="1714500"/>
              <a:chExt cx="5143500" cy="3810000"/>
            </a:xfrm>
          </p:grpSpPr>
          <p:sp>
            <p:nvSpPr>
              <p:cNvPr id="5" name="Rectangle 5"/>
              <p:cNvSpPr/>
              <p:nvPr/>
            </p:nvSpPr>
            <p:spPr>
              <a:xfrm>
                <a:off x="609600" y="1714500"/>
                <a:ext cx="5143500" cy="3810000"/>
              </a:xfrm>
              <a:prstGeom prst="roundRect">
                <a:avLst>
                  <a:gd name="adj" fmla="val 4000"/>
                </a:avLst>
              </a:prstGeom>
              <a:solidFill>
                <a:srgbClr val="FFFFFF"/>
              </a:solidFill>
              <a:ln w="14288">
                <a:solidFill>
                  <a:srgbClr val="E5E3DE"/>
                </a:solidFill>
              </a:ln>
            </p:spPr>
          </p:sp>
          <p:sp>
            <p:nvSpPr>
              <p:cNvPr id="6" name="Rectangle 6"/>
              <p:cNvSpPr/>
              <p:nvPr/>
            </p:nvSpPr>
            <p:spPr>
              <a:xfrm>
                <a:off x="609600" y="1714500"/>
                <a:ext cx="57150" cy="3810000"/>
              </a:xfrm>
              <a:prstGeom prst="roundRect">
                <a:avLst>
                  <a:gd name="adj" fmla="val 50000"/>
                </a:avLst>
              </a:prstGeom>
              <a:solidFill>
                <a:srgbClr val="153166"/>
              </a:solidFill>
              <a:ln>
                <a:noFill/>
              </a:ln>
            </p:spPr>
          </p:sp>
          <p:grpSp>
            <p:nvGrpSpPr>
              <p:cNvPr id="11" name="Group 11"/>
              <p:cNvGrpSpPr/>
              <p:nvPr/>
            </p:nvGrpSpPr>
            <p:grpSpPr>
              <a:xfrm>
                <a:off x="914400" y="2033588"/>
                <a:ext cx="228600" cy="200024"/>
                <a:chOff x="914400" y="2033588"/>
                <a:chExt cx="228600" cy="200024"/>
              </a:xfrm>
            </p:grpSpPr>
            <p:sp>
              <p:nvSpPr>
                <p:cNvPr id="7" name="Freeform 7"/>
                <p:cNvSpPr/>
                <p:nvPr/>
              </p:nvSpPr>
              <p:spPr>
                <a:xfrm>
                  <a:off x="957262" y="2033588"/>
                  <a:ext cx="71438" cy="71438"/>
                </a:xfrm>
                <a:custGeom>
                  <a:avLst/>
                  <a:gdLst/>
                  <a:ahLst/>
                  <a:cxnLst/>
                  <a:rect l="l" t="t" r="r" b="b"/>
                  <a:pathLst>
                    <a:path w="71438" h="71438">
                      <a:moveTo>
                        <a:pt x="71438" y="35719"/>
                      </a:moveTo>
                      <a:cubicBezTo>
                        <a:pt x="71438" y="55446"/>
                        <a:pt x="55446" y="71438"/>
                        <a:pt x="35719" y="71438"/>
                      </a:cubicBezTo>
                      <a:cubicBezTo>
                        <a:pt x="15992" y="71438"/>
                        <a:pt x="0" y="55446"/>
                        <a:pt x="0" y="35719"/>
                      </a:cubicBezTo>
                      <a:cubicBezTo>
                        <a:pt x="0" y="15992"/>
                        <a:pt x="15992" y="0"/>
                        <a:pt x="35719" y="0"/>
                      </a:cubicBezTo>
                      <a:cubicBezTo>
                        <a:pt x="55446" y="0"/>
                        <a:pt x="71438" y="15992"/>
                        <a:pt x="71438" y="35719"/>
                      </a:cubicBezTo>
                      <a:close/>
                    </a:path>
                  </a:pathLst>
                </a:custGeom>
                <a:solidFill>
                  <a:srgbClr val="153166"/>
                </a:solidFill>
                <a:ln>
                  <a:noFill/>
                </a:ln>
              </p:spPr>
            </p:sp>
            <p:sp>
              <p:nvSpPr>
                <p:cNvPr id="8" name="Freeform 8"/>
                <p:cNvSpPr/>
                <p:nvPr/>
              </p:nvSpPr>
              <p:spPr>
                <a:xfrm>
                  <a:off x="914400" y="2133600"/>
                  <a:ext cx="114300" cy="100012"/>
                </a:xfrm>
                <a:custGeom>
                  <a:avLst/>
                  <a:gdLst/>
                  <a:ahLst/>
                  <a:cxnLst/>
                  <a:rect l="l" t="t" r="r" b="b"/>
                  <a:pathLst>
                    <a:path w="114300" h="100012">
                      <a:moveTo>
                        <a:pt x="42862" y="0"/>
                      </a:moveTo>
                      <a:cubicBezTo>
                        <a:pt x="19190" y="0"/>
                        <a:pt x="0" y="19190"/>
                        <a:pt x="0" y="42862"/>
                      </a:cubicBezTo>
                      <a:lnTo>
                        <a:pt x="0" y="100012"/>
                      </a:lnTo>
                      <a:lnTo>
                        <a:pt x="114300" y="100012"/>
                      </a:lnTo>
                      <a:lnTo>
                        <a:pt x="114300" y="0"/>
                      </a:lnTo>
                      <a:lnTo>
                        <a:pt x="42862" y="0"/>
                      </a:lnTo>
                      <a:close/>
                    </a:path>
                  </a:pathLst>
                </a:custGeom>
                <a:solidFill>
                  <a:srgbClr val="153166"/>
                </a:solidFill>
                <a:ln>
                  <a:noFill/>
                </a:ln>
              </p:spPr>
            </p:sp>
            <p:sp>
              <p:nvSpPr>
                <p:cNvPr id="9" name="Freeform 9"/>
                <p:cNvSpPr/>
                <p:nvPr/>
              </p:nvSpPr>
              <p:spPr>
                <a:xfrm>
                  <a:off x="1057275" y="2133600"/>
                  <a:ext cx="85725" cy="100012"/>
                </a:xfrm>
                <a:custGeom>
                  <a:avLst/>
                  <a:gdLst/>
                  <a:ahLst/>
                  <a:cxnLst/>
                  <a:rect l="l" t="t" r="r" b="b"/>
                  <a:pathLst>
                    <a:path w="85725" h="100012">
                      <a:moveTo>
                        <a:pt x="42862" y="0"/>
                      </a:moveTo>
                      <a:lnTo>
                        <a:pt x="0" y="0"/>
                      </a:lnTo>
                      <a:lnTo>
                        <a:pt x="0" y="100012"/>
                      </a:lnTo>
                      <a:lnTo>
                        <a:pt x="85725" y="100012"/>
                      </a:lnTo>
                      <a:lnTo>
                        <a:pt x="85725" y="42862"/>
                      </a:lnTo>
                      <a:cubicBezTo>
                        <a:pt x="85725" y="19190"/>
                        <a:pt x="66535" y="0"/>
                        <a:pt x="42862" y="0"/>
                      </a:cubicBezTo>
                      <a:close/>
                    </a:path>
                  </a:pathLst>
                </a:custGeom>
                <a:solidFill>
                  <a:srgbClr val="153166"/>
                </a:solidFill>
                <a:ln>
                  <a:noFill/>
                </a:ln>
              </p:spPr>
            </p:sp>
            <p:sp>
              <p:nvSpPr>
                <p:cNvPr id="10" name="Freeform 10"/>
                <p:cNvSpPr/>
                <p:nvPr/>
              </p:nvSpPr>
              <p:spPr>
                <a:xfrm>
                  <a:off x="1057275" y="2047875"/>
                  <a:ext cx="57150" cy="57150"/>
                </a:xfrm>
                <a:custGeom>
                  <a:avLst/>
                  <a:gdLst/>
                  <a:ahLst/>
                  <a:cxnLst/>
                  <a:rect l="l" t="t" r="r" b="b"/>
                  <a:pathLst>
                    <a:path w="57150" h="57150">
                      <a:moveTo>
                        <a:pt x="28575" y="57150"/>
                      </a:moveTo>
                      <a:cubicBezTo>
                        <a:pt x="44357" y="57150"/>
                        <a:pt x="57150" y="44357"/>
                        <a:pt x="57150" y="28575"/>
                      </a:cubicBezTo>
                      <a:cubicBezTo>
                        <a:pt x="57150" y="12793"/>
                        <a:pt x="44357" y="0"/>
                        <a:pt x="28575" y="0"/>
                      </a:cubicBezTo>
                      <a:cubicBezTo>
                        <a:pt x="12793" y="0"/>
                        <a:pt x="0" y="12793"/>
                        <a:pt x="0" y="28575"/>
                      </a:cubicBezTo>
                      <a:cubicBezTo>
                        <a:pt x="0" y="44357"/>
                        <a:pt x="12793" y="57150"/>
                        <a:pt x="28575" y="57150"/>
                      </a:cubicBezTo>
                      <a:close/>
                    </a:path>
                  </a:pathLst>
                </a:custGeom>
                <a:solidFill>
                  <a:srgbClr val="153166"/>
                </a:solidFill>
                <a:ln>
                  <a:noFill/>
                </a:ln>
              </p:spPr>
            </p:sp>
          </p:grpSp>
          <p:sp>
            <p:nvSpPr>
              <p:cNvPr id="12" name="TextBox 12"/>
              <p:cNvSpPr txBox="1"/>
              <p:nvPr/>
            </p:nvSpPr>
            <p:spPr>
              <a:xfrm>
                <a:off x="1240155" y="2045018"/>
                <a:ext cx="1168432" cy="274320"/>
              </a:xfrm>
              <a:prstGeom prst="rect">
                <a:avLst/>
              </a:prstGeom>
              <a:noFill/>
              <a:ln>
                <a:noFill/>
              </a:ln>
            </p:spPr>
            <p:txBody>
              <a:bodyPr wrap="none" lIns="0" tIns="0" rIns="0" bIns="0" anchor="t" anchorCtr="0">
                <a:spAutoFit/>
              </a:bodyPr>
              <a:lstStyle/>
              <a:p>
                <a:pPr algn="l"/>
                <a:r>
                  <a:rPr lang="zh-CN" sz="1350" b="1" dirty="0">
                    <a:solidFill>
                      <a:srgbClr val="171C24"/>
                    </a:solidFill>
                    <a:latin typeface="Plus Jakarta Sans"/>
                    <a:ea typeface="Microsoft JhengHei"/>
                    <a:cs typeface="Plus Jakarta Sans"/>
                  </a:rPr>
                  <a:t>關鍵目標用戶</a:t>
                </a:r>
              </a:p>
            </p:txBody>
          </p:sp>
          <p:grpSp>
            <p:nvGrpSpPr>
              <p:cNvPr id="16" name="Group 16"/>
              <p:cNvGrpSpPr/>
              <p:nvPr/>
            </p:nvGrpSpPr>
            <p:grpSpPr>
              <a:xfrm>
                <a:off x="914400" y="2667000"/>
                <a:ext cx="4533900" cy="1047750"/>
                <a:chOff x="914400" y="2667000"/>
                <a:chExt cx="4533900" cy="1047750"/>
              </a:xfrm>
            </p:grpSpPr>
            <p:sp>
              <p:nvSpPr>
                <p:cNvPr id="13" name="Rectangle 13"/>
                <p:cNvSpPr/>
                <p:nvPr/>
              </p:nvSpPr>
              <p:spPr>
                <a:xfrm>
                  <a:off x="914400" y="2667000"/>
                  <a:ext cx="4533900" cy="1047750"/>
                </a:xfrm>
                <a:prstGeom prst="roundRect">
                  <a:avLst>
                    <a:gd name="adj" fmla="val 7273"/>
                  </a:avLst>
                </a:prstGeom>
                <a:solidFill>
                  <a:srgbClr val="F3F2ED"/>
                </a:solidFill>
                <a:ln>
                  <a:noFill/>
                </a:ln>
              </p:spPr>
            </p:sp>
            <p:sp>
              <p:nvSpPr>
                <p:cNvPr id="14" name="TextBox 14"/>
                <p:cNvSpPr txBox="1"/>
                <p:nvPr/>
              </p:nvSpPr>
              <p:spPr>
                <a:xfrm>
                  <a:off x="1127760" y="2956560"/>
                  <a:ext cx="1374648" cy="243840"/>
                </a:xfrm>
                <a:prstGeom prst="rect">
                  <a:avLst/>
                </a:prstGeom>
                <a:noFill/>
                <a:ln>
                  <a:noFill/>
                </a:ln>
              </p:spPr>
              <p:txBody>
                <a:bodyPr wrap="none" lIns="0" tIns="0" rIns="0" bIns="0" anchor="t" anchorCtr="0">
                  <a:spAutoFit/>
                </a:bodyPr>
                <a:lstStyle/>
                <a:p>
                  <a:pPr algn="l"/>
                  <a:r>
                    <a:rPr lang="zh-CN" sz="1200" b="1" dirty="0">
                      <a:solidFill>
                        <a:srgbClr val="153166"/>
                      </a:solidFill>
                      <a:latin typeface="Plus Jakarta Sans"/>
                      <a:ea typeface="Microsoft JhengHei"/>
                      <a:cs typeface="Plus Jakarta Sans"/>
                    </a:rPr>
                    <a:t>初入行的產品經理</a:t>
                  </a:r>
                </a:p>
              </p:txBody>
            </p:sp>
            <p:sp>
              <p:nvSpPr>
                <p:cNvPr id="15" name="TextBox 15"/>
                <p:cNvSpPr txBox="1"/>
                <p:nvPr/>
              </p:nvSpPr>
              <p:spPr>
                <a:xfrm>
                  <a:off x="1129665" y="3258502"/>
                  <a:ext cx="3667125" cy="213360"/>
                </a:xfrm>
                <a:prstGeom prst="rect">
                  <a:avLst/>
                </a:prstGeom>
                <a:noFill/>
                <a:ln>
                  <a:noFill/>
                </a:ln>
              </p:spPr>
              <p:txBody>
                <a:bodyPr wrap="none" lIns="0" tIns="0" rIns="0" bIns="0" anchor="t" anchorCtr="0">
                  <a:spAutoFit/>
                </a:bodyPr>
                <a:lstStyle/>
                <a:p>
                  <a:pPr algn="l"/>
                  <a:r>
                    <a:rPr lang="zh-CN" sz="1050" dirty="0">
                      <a:solidFill>
                        <a:srgbClr val="525864"/>
                      </a:solidFill>
                      <a:latin typeface="Manrope"/>
                      <a:ea typeface="Microsoft JhengHei"/>
                      <a:cs typeface="Manrope"/>
                    </a:rPr>
                    <a:t>缺乏標準化規格起草經驗，面臨撰寫規格的起步心理門檻。</a:t>
                  </a:r>
                </a:p>
              </p:txBody>
            </p:sp>
          </p:grpSp>
          <p:grpSp>
            <p:nvGrpSpPr>
              <p:cNvPr id="20" name="Group 20"/>
              <p:cNvGrpSpPr/>
              <p:nvPr/>
            </p:nvGrpSpPr>
            <p:grpSpPr>
              <a:xfrm>
                <a:off x="914400" y="3905250"/>
                <a:ext cx="4533900" cy="1047750"/>
                <a:chOff x="914400" y="3905250"/>
                <a:chExt cx="4533900" cy="1047750"/>
              </a:xfrm>
            </p:grpSpPr>
            <p:sp>
              <p:nvSpPr>
                <p:cNvPr id="17" name="Rectangle 17"/>
                <p:cNvSpPr/>
                <p:nvPr/>
              </p:nvSpPr>
              <p:spPr>
                <a:xfrm>
                  <a:off x="914400" y="3905250"/>
                  <a:ext cx="4533900" cy="1047750"/>
                </a:xfrm>
                <a:prstGeom prst="roundRect">
                  <a:avLst>
                    <a:gd name="adj" fmla="val 7273"/>
                  </a:avLst>
                </a:prstGeom>
                <a:solidFill>
                  <a:srgbClr val="F3F2ED"/>
                </a:solidFill>
                <a:ln>
                  <a:noFill/>
                </a:ln>
              </p:spPr>
            </p:sp>
            <p:sp>
              <p:nvSpPr>
                <p:cNvPr id="18" name="TextBox 18"/>
                <p:cNvSpPr txBox="1"/>
                <p:nvPr/>
              </p:nvSpPr>
              <p:spPr>
                <a:xfrm>
                  <a:off x="1127760" y="4194810"/>
                  <a:ext cx="1542669" cy="243840"/>
                </a:xfrm>
                <a:prstGeom prst="rect">
                  <a:avLst/>
                </a:prstGeom>
                <a:noFill/>
                <a:ln>
                  <a:noFill/>
                </a:ln>
              </p:spPr>
              <p:txBody>
                <a:bodyPr wrap="none" lIns="0" tIns="0" rIns="0" bIns="0" anchor="t" anchorCtr="0">
                  <a:spAutoFit/>
                </a:bodyPr>
                <a:lstStyle/>
                <a:p>
                  <a:pPr algn="l"/>
                  <a:r>
                    <a:rPr lang="zh-CN" sz="1200" b="1" dirty="0">
                      <a:solidFill>
                        <a:srgbClr val="153166"/>
                      </a:solidFill>
                      <a:latin typeface="Plus Jakarta Sans"/>
                      <a:ea typeface="Microsoft JhengHei"/>
                      <a:cs typeface="Plus Jakarta Sans"/>
                    </a:rPr>
                    <a:t>工作繁重的產品經理</a:t>
                  </a:r>
                </a:p>
              </p:txBody>
            </p:sp>
            <p:sp>
              <p:nvSpPr>
                <p:cNvPr id="19" name="TextBox 19"/>
                <p:cNvSpPr txBox="1"/>
                <p:nvPr/>
              </p:nvSpPr>
              <p:spPr>
                <a:xfrm>
                  <a:off x="1129665" y="4496752"/>
                  <a:ext cx="3947160" cy="213360"/>
                </a:xfrm>
                <a:prstGeom prst="rect">
                  <a:avLst/>
                </a:prstGeom>
                <a:noFill/>
                <a:ln>
                  <a:noFill/>
                </a:ln>
              </p:spPr>
              <p:txBody>
                <a:bodyPr wrap="none" lIns="0" tIns="0" rIns="0" bIns="0" anchor="t" anchorCtr="0">
                  <a:spAutoFit/>
                </a:bodyPr>
                <a:lstStyle/>
                <a:p>
                  <a:pPr algn="l"/>
                  <a:r>
                    <a:rPr lang="zh-CN" sz="1050" dirty="0">
                      <a:solidFill>
                        <a:srgbClr val="525864"/>
                      </a:solidFill>
                      <a:latin typeface="Manrope"/>
                      <a:ea typeface="Microsoft JhengHei"/>
                      <a:cs typeface="Manrope"/>
                    </a:rPr>
                    <a:t>被多個並行專案淹沒，急需壓縮格式排版與規格模板整理時間。</a:t>
                  </a:r>
                </a:p>
              </p:txBody>
            </p:sp>
          </p:grpSp>
        </p:grpSp>
        <p:grpSp>
          <p:nvGrpSpPr>
            <p:cNvPr id="36" name="Group 36"/>
            <p:cNvGrpSpPr/>
            <p:nvPr/>
          </p:nvGrpSpPr>
          <p:grpSpPr>
            <a:xfrm>
              <a:off x="6134100" y="1714500"/>
              <a:ext cx="5448300" cy="3810000"/>
              <a:chOff x="6134100" y="1714500"/>
              <a:chExt cx="5448300" cy="3810000"/>
            </a:xfrm>
          </p:grpSpPr>
          <p:sp>
            <p:nvSpPr>
              <p:cNvPr id="22" name="Rectangle 22"/>
              <p:cNvSpPr/>
              <p:nvPr/>
            </p:nvSpPr>
            <p:spPr>
              <a:xfrm>
                <a:off x="6134100" y="1714500"/>
                <a:ext cx="5448300" cy="3810000"/>
              </a:xfrm>
              <a:prstGeom prst="roundRect">
                <a:avLst>
                  <a:gd name="adj" fmla="val 4000"/>
                </a:avLst>
              </a:prstGeom>
              <a:solidFill>
                <a:srgbClr val="FFFFFF"/>
              </a:solidFill>
              <a:ln w="14288">
                <a:solidFill>
                  <a:srgbClr val="B91C1C"/>
                </a:solidFill>
              </a:ln>
            </p:spPr>
          </p:sp>
          <p:sp>
            <p:nvSpPr>
              <p:cNvPr id="23" name="Rectangle 23"/>
              <p:cNvSpPr/>
              <p:nvPr/>
            </p:nvSpPr>
            <p:spPr>
              <a:xfrm>
                <a:off x="6134100" y="1714500"/>
                <a:ext cx="57150" cy="3810000"/>
              </a:xfrm>
              <a:prstGeom prst="roundRect">
                <a:avLst>
                  <a:gd name="adj" fmla="val 50000"/>
                </a:avLst>
              </a:prstGeom>
              <a:solidFill>
                <a:srgbClr val="B91C1C"/>
              </a:solidFill>
              <a:ln>
                <a:noFill/>
              </a:ln>
            </p:spPr>
          </p:sp>
          <p:grpSp>
            <p:nvGrpSpPr>
              <p:cNvPr id="26" name="Group 26"/>
              <p:cNvGrpSpPr/>
              <p:nvPr/>
            </p:nvGrpSpPr>
            <p:grpSpPr>
              <a:xfrm>
                <a:off x="6453188" y="2019300"/>
                <a:ext cx="200025" cy="228600"/>
                <a:chOff x="6453188" y="2019300"/>
                <a:chExt cx="200025" cy="228600"/>
              </a:xfrm>
            </p:grpSpPr>
            <p:sp>
              <p:nvSpPr>
                <p:cNvPr id="24" name="Freeform 24"/>
                <p:cNvSpPr/>
                <p:nvPr/>
              </p:nvSpPr>
              <p:spPr>
                <a:xfrm>
                  <a:off x="6453188" y="2019300"/>
                  <a:ext cx="200025" cy="57150"/>
                </a:xfrm>
                <a:custGeom>
                  <a:avLst/>
                  <a:gdLst/>
                  <a:ahLst/>
                  <a:cxnLst/>
                  <a:rect l="l" t="t" r="r" b="b"/>
                  <a:pathLst>
                    <a:path w="200025" h="57150">
                      <a:moveTo>
                        <a:pt x="42862" y="28575"/>
                      </a:moveTo>
                      <a:lnTo>
                        <a:pt x="0" y="28575"/>
                      </a:lnTo>
                      <a:lnTo>
                        <a:pt x="0" y="57150"/>
                      </a:lnTo>
                      <a:lnTo>
                        <a:pt x="200025" y="57150"/>
                      </a:lnTo>
                      <a:lnTo>
                        <a:pt x="200025" y="28575"/>
                      </a:lnTo>
                      <a:lnTo>
                        <a:pt x="157162" y="28575"/>
                      </a:lnTo>
                      <a:lnTo>
                        <a:pt x="157162" y="0"/>
                      </a:lnTo>
                      <a:lnTo>
                        <a:pt x="42862" y="0"/>
                      </a:lnTo>
                      <a:lnTo>
                        <a:pt x="42862" y="28575"/>
                      </a:lnTo>
                      <a:close/>
                    </a:path>
                  </a:pathLst>
                </a:custGeom>
                <a:solidFill>
                  <a:srgbClr val="B91C1C"/>
                </a:solidFill>
                <a:ln>
                  <a:noFill/>
                </a:ln>
              </p:spPr>
            </p:sp>
            <p:sp>
              <p:nvSpPr>
                <p:cNvPr id="25" name="Freeform 25"/>
                <p:cNvSpPr/>
                <p:nvPr/>
              </p:nvSpPr>
              <p:spPr>
                <a:xfrm>
                  <a:off x="6481762" y="2105025"/>
                  <a:ext cx="142875" cy="142875"/>
                </a:xfrm>
                <a:custGeom>
                  <a:avLst/>
                  <a:gdLst/>
                  <a:ahLst/>
                  <a:cxnLst/>
                  <a:rect l="l" t="t" r="r" b="b"/>
                  <a:pathLst>
                    <a:path w="142875" h="142875">
                      <a:moveTo>
                        <a:pt x="0" y="0"/>
                      </a:moveTo>
                      <a:lnTo>
                        <a:pt x="142875" y="0"/>
                      </a:lnTo>
                      <a:lnTo>
                        <a:pt x="142875" y="142875"/>
                      </a:lnTo>
                      <a:lnTo>
                        <a:pt x="0" y="142875"/>
                      </a:lnTo>
                      <a:lnTo>
                        <a:pt x="0" y="0"/>
                      </a:lnTo>
                      <a:close/>
                      <a:moveTo>
                        <a:pt x="57150" y="42862"/>
                      </a:moveTo>
                      <a:lnTo>
                        <a:pt x="85725" y="42862"/>
                      </a:lnTo>
                      <a:lnTo>
                        <a:pt x="85725" y="100012"/>
                      </a:lnTo>
                      <a:lnTo>
                        <a:pt x="57150" y="100012"/>
                      </a:lnTo>
                      <a:lnTo>
                        <a:pt x="57150" y="42862"/>
                      </a:lnTo>
                      <a:close/>
                    </a:path>
                  </a:pathLst>
                </a:custGeom>
                <a:solidFill>
                  <a:srgbClr val="B91C1C"/>
                </a:solidFill>
                <a:ln>
                  <a:noFill/>
                </a:ln>
              </p:spPr>
            </p:sp>
          </p:grpSp>
          <p:sp>
            <p:nvSpPr>
              <p:cNvPr id="27" name="TextBox 27"/>
              <p:cNvSpPr txBox="1"/>
              <p:nvPr/>
            </p:nvSpPr>
            <p:spPr>
              <a:xfrm>
                <a:off x="6764655" y="2045018"/>
                <a:ext cx="1735503" cy="274320"/>
              </a:xfrm>
              <a:prstGeom prst="rect">
                <a:avLst/>
              </a:prstGeom>
              <a:noFill/>
              <a:ln>
                <a:noFill/>
              </a:ln>
            </p:spPr>
            <p:txBody>
              <a:bodyPr wrap="none" lIns="0" tIns="0" rIns="0" bIns="0" anchor="t" anchorCtr="0">
                <a:spAutoFit/>
              </a:bodyPr>
              <a:lstStyle/>
              <a:p>
                <a:pPr algn="l"/>
                <a:r>
                  <a:rPr lang="zh-CN" sz="1350" b="1" dirty="0">
                    <a:solidFill>
                      <a:srgbClr val="171C24"/>
                    </a:solidFill>
                    <a:latin typeface="Plus Jakarta Sans"/>
                    <a:ea typeface="Microsoft JhengHei"/>
                    <a:cs typeface="Plus Jakarta Sans"/>
                  </a:rPr>
                  <a:t>現有替代方案與痛點</a:t>
                </a:r>
              </a:p>
            </p:txBody>
          </p:sp>
          <p:grpSp>
            <p:nvGrpSpPr>
              <p:cNvPr id="35" name="Group 35"/>
              <p:cNvGrpSpPr/>
              <p:nvPr/>
            </p:nvGrpSpPr>
            <p:grpSpPr>
              <a:xfrm>
                <a:off x="6423660" y="2766060"/>
                <a:ext cx="4917757" cy="1284446"/>
                <a:chOff x="6423660" y="2766060"/>
                <a:chExt cx="4917757" cy="1284446"/>
              </a:xfrm>
            </p:grpSpPr>
            <p:sp>
              <p:nvSpPr>
                <p:cNvPr id="28" name="TextBox 28"/>
                <p:cNvSpPr txBox="1"/>
                <p:nvPr/>
              </p:nvSpPr>
              <p:spPr>
                <a:xfrm>
                  <a:off x="6423660" y="2766060"/>
                  <a:ext cx="3432905" cy="243840"/>
                </a:xfrm>
                <a:prstGeom prst="rect">
                  <a:avLst/>
                </a:prstGeom>
                <a:noFill/>
                <a:ln>
                  <a:noFill/>
                </a:ln>
              </p:spPr>
              <p:txBody>
                <a:bodyPr wrap="none" lIns="0" tIns="0" rIns="0" bIns="0" anchor="t" anchorCtr="0">
                  <a:spAutoFit/>
                </a:bodyPr>
                <a:lstStyle/>
                <a:p>
                  <a:pPr algn="l"/>
                  <a:r>
                    <a:rPr lang="zh-CN" sz="1200" b="1" dirty="0">
                      <a:solidFill>
                        <a:srgbClr val="171C24"/>
                      </a:solidFill>
                      <a:latin typeface="Plus Jakarta Sans"/>
                      <a:ea typeface="Microsoft JhengHei"/>
                      <a:cs typeface="Plus Jakarta Sans"/>
                    </a:rPr>
                    <a:t>現有做法：複製舊的 PRD 模版，手動修改文字</a:t>
                  </a:r>
                </a:p>
              </p:txBody>
            </p:sp>
            <p:sp>
              <p:nvSpPr>
                <p:cNvPr id="29" name="TextBox 29"/>
                <p:cNvSpPr txBox="1"/>
                <p:nvPr/>
              </p:nvSpPr>
              <p:spPr>
                <a:xfrm>
                  <a:off x="6424612" y="3212306"/>
                  <a:ext cx="1265105" cy="228600"/>
                </a:xfrm>
                <a:prstGeom prst="rect">
                  <a:avLst/>
                </a:prstGeom>
                <a:noFill/>
                <a:ln>
                  <a:noFill/>
                </a:ln>
              </p:spPr>
              <p:txBody>
                <a:bodyPr wrap="none" lIns="0" tIns="0" rIns="0" bIns="0" anchor="t" anchorCtr="0">
                  <a:spAutoFit/>
                </a:bodyPr>
                <a:lstStyle/>
                <a:p>
                  <a:pPr algn="l"/>
                  <a:r>
                    <a:rPr lang="zh-CN" sz="1125" b="1" dirty="0">
                      <a:solidFill>
                        <a:srgbClr val="B91C1C"/>
                      </a:solidFill>
                      <a:latin typeface="Manrope"/>
                      <a:ea typeface="Microsoft JhengHei"/>
                      <a:cs typeface="Manrope"/>
                    </a:rPr>
                    <a:t>· 容易遺漏規格：</a:t>
                  </a:r>
                </a:p>
              </p:txBody>
            </p:sp>
            <p:sp>
              <p:nvSpPr>
                <p:cNvPr id="30" name="TextBox 30"/>
                <p:cNvSpPr txBox="1"/>
                <p:nvPr/>
              </p:nvSpPr>
              <p:spPr>
                <a:xfrm>
                  <a:off x="6424612" y="3517106"/>
                  <a:ext cx="950065" cy="228600"/>
                </a:xfrm>
                <a:prstGeom prst="rect">
                  <a:avLst/>
                </a:prstGeom>
                <a:noFill/>
                <a:ln>
                  <a:noFill/>
                </a:ln>
              </p:spPr>
              <p:txBody>
                <a:bodyPr wrap="none" lIns="0" tIns="0" rIns="0" bIns="0" anchor="t" anchorCtr="0">
                  <a:spAutoFit/>
                </a:bodyPr>
                <a:lstStyle/>
                <a:p>
                  <a:pPr algn="l"/>
                  <a:r>
                    <a:rPr lang="zh-CN" sz="1125" b="1" dirty="0">
                      <a:solidFill>
                        <a:srgbClr val="B91C1C"/>
                      </a:solidFill>
                      <a:latin typeface="Manrope"/>
                      <a:ea typeface="Microsoft JhengHei"/>
                      <a:cs typeface="Manrope"/>
                    </a:rPr>
                    <a:t>· 格式混亂：</a:t>
                  </a:r>
                </a:p>
              </p:txBody>
            </p:sp>
            <p:sp>
              <p:nvSpPr>
                <p:cNvPr id="31" name="TextBox 31"/>
                <p:cNvSpPr txBox="1"/>
                <p:nvPr/>
              </p:nvSpPr>
              <p:spPr>
                <a:xfrm>
                  <a:off x="7472362" y="3517106"/>
                  <a:ext cx="3629025" cy="228600"/>
                </a:xfrm>
                <a:prstGeom prst="rect">
                  <a:avLst/>
                </a:prstGeom>
                <a:noFill/>
                <a:ln>
                  <a:noFill/>
                </a:ln>
              </p:spPr>
              <p:txBody>
                <a:bodyPr wrap="none" lIns="0" tIns="0" rIns="0" bIns="0" anchor="t" anchorCtr="0">
                  <a:spAutoFit/>
                </a:bodyPr>
                <a:lstStyle/>
                <a:p>
                  <a:pPr algn="l"/>
                  <a:r>
                    <a:rPr lang="zh-CN" sz="1125" dirty="0">
                      <a:solidFill>
                        <a:srgbClr val="525864"/>
                      </a:solidFill>
                      <a:latin typeface="Manrope"/>
                      <a:ea typeface="Microsoft JhengHei"/>
                      <a:cs typeface="Manrope"/>
                    </a:rPr>
                    <a:t>多人協作或複製粘貼會破壞樣式一致性，降低可讀性。</a:t>
                  </a:r>
                </a:p>
              </p:txBody>
            </p:sp>
            <p:sp>
              <p:nvSpPr>
                <p:cNvPr id="32" name="TextBox 32"/>
                <p:cNvSpPr txBox="1"/>
                <p:nvPr/>
              </p:nvSpPr>
              <p:spPr>
                <a:xfrm>
                  <a:off x="6424612" y="3821906"/>
                  <a:ext cx="950065" cy="228600"/>
                </a:xfrm>
                <a:prstGeom prst="rect">
                  <a:avLst/>
                </a:prstGeom>
                <a:noFill/>
                <a:ln>
                  <a:noFill/>
                </a:ln>
              </p:spPr>
              <p:txBody>
                <a:bodyPr wrap="none" lIns="0" tIns="0" rIns="0" bIns="0" anchor="t" anchorCtr="0">
                  <a:spAutoFit/>
                </a:bodyPr>
                <a:lstStyle/>
                <a:p>
                  <a:pPr algn="l"/>
                  <a:r>
                    <a:rPr lang="zh-CN" sz="1125" b="1" dirty="0">
                      <a:solidFill>
                        <a:srgbClr val="B91C1C"/>
                      </a:solidFill>
                      <a:latin typeface="Manrope"/>
                      <a:ea typeface="Microsoft JhengHei"/>
                      <a:cs typeface="Manrope"/>
                    </a:rPr>
                    <a:t>· 時間損耗：</a:t>
                  </a:r>
                </a:p>
              </p:txBody>
            </p:sp>
            <p:sp>
              <p:nvSpPr>
                <p:cNvPr id="33" name="TextBox 33"/>
                <p:cNvSpPr txBox="1"/>
                <p:nvPr/>
              </p:nvSpPr>
              <p:spPr>
                <a:xfrm>
                  <a:off x="7472362" y="3821906"/>
                  <a:ext cx="3869055" cy="228600"/>
                </a:xfrm>
                <a:prstGeom prst="rect">
                  <a:avLst/>
                </a:prstGeom>
                <a:noFill/>
                <a:ln>
                  <a:noFill/>
                </a:ln>
              </p:spPr>
              <p:txBody>
                <a:bodyPr wrap="none" lIns="0" tIns="0" rIns="0" bIns="0" anchor="t" anchorCtr="0">
                  <a:spAutoFit/>
                </a:bodyPr>
                <a:lstStyle/>
                <a:p>
                  <a:pPr algn="l"/>
                  <a:r>
                    <a:rPr lang="zh-CN" sz="1125" dirty="0">
                      <a:solidFill>
                        <a:srgbClr val="525864"/>
                      </a:solidFill>
                      <a:latin typeface="Manrope"/>
                      <a:ea typeface="Microsoft JhengHei"/>
                      <a:cs typeface="Manrope"/>
                    </a:rPr>
                    <a:t>PM 耗費大半精力在排版對齊，無法專注於核心業務設計。</a:t>
                  </a:r>
                </a:p>
              </p:txBody>
            </p:sp>
            <p:sp>
              <p:nvSpPr>
                <p:cNvPr id="34" name="TextBox 34"/>
                <p:cNvSpPr txBox="1"/>
                <p:nvPr/>
              </p:nvSpPr>
              <p:spPr>
                <a:xfrm>
                  <a:off x="7603455" y="3195914"/>
                  <a:ext cx="3028950" cy="228600"/>
                </a:xfrm>
                <a:prstGeom prst="rect">
                  <a:avLst/>
                </a:prstGeom>
                <a:noFill/>
                <a:ln>
                  <a:noFill/>
                </a:ln>
              </p:spPr>
              <p:txBody>
                <a:bodyPr wrap="none" lIns="0" tIns="0" rIns="0" bIns="0" anchor="t" anchorCtr="0">
                  <a:spAutoFit/>
                </a:bodyPr>
                <a:lstStyle/>
                <a:p>
                  <a:pPr algn="l"/>
                  <a:r>
                    <a:rPr lang="zh-CN" sz="1125" dirty="0">
                      <a:solidFill>
                        <a:srgbClr val="525864"/>
                      </a:solidFill>
                      <a:latin typeface="Manrope"/>
                      <a:ea typeface="Microsoft JhengHei"/>
                      <a:cs typeface="Manrope"/>
                    </a:rPr>
                    <a:t>手動修改極易遺漏邊界條件與例外處理機制。</a:t>
                  </a:r>
                </a:p>
              </p:txBody>
            </p:sp>
          </p:grpSp>
        </p:grpSp>
      </p:grpSp>
      <p:sp>
        <p:nvSpPr>
          <p:cNvPr id="38" name="TextBox 38"/>
          <p:cNvSpPr txBox="1"/>
          <p:nvPr/>
        </p:nvSpPr>
        <p:spPr>
          <a:xfrm>
            <a:off x="598170" y="6475095"/>
            <a:ext cx="2579179" cy="182880"/>
          </a:xfrm>
          <a:prstGeom prst="rect">
            <a:avLst/>
          </a:prstGeom>
          <a:noFill/>
          <a:ln>
            <a:noFill/>
          </a:ln>
        </p:spPr>
        <p:txBody>
          <a:bodyPr wrap="none" lIns="0" tIns="0" rIns="0" bIns="0" anchor="t" anchorCtr="0">
            <a:spAutoFit/>
          </a:bodyPr>
          <a:lstStyle/>
          <a:p>
            <a:pPr algn="l"/>
            <a:r>
              <a:rPr lang="zh-CN" sz="900" dirty="0">
                <a:solidFill>
                  <a:srgbClr val="525864"/>
                </a:solidFill>
                <a:latin typeface="Manrope"/>
                <a:ea typeface="Microsoft JhengHei"/>
                <a:cs typeface="Manrope"/>
              </a:rPr>
              <a:t>PM PROPOSAL &amp; METRICS EDUCATION · PAGE 20</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400"/>
                                        <p:tgtEl>
                                          <p:spTgt spid="2"/>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image">
                                      <p:cBhvr>
                                        <p:cTn id="11" dur="400"/>
                                        <p:tgtEl>
                                          <p:spTgt spid="3"/>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400"/>
                                        <p:tgtEl>
                                          <p:spTgt spid="4"/>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37"/>
                                        </p:tgtEl>
                                        <p:attrNameLst>
                                          <p:attrName>style.visibility</p:attrName>
                                        </p:attrNameLst>
                                      </p:cBhvr>
                                      <p:to>
                                        <p:strVal val="visible"/>
                                      </p:to>
                                    </p:set>
                                    <p:animEffect transition="in" filter="wipe(left)">
                                      <p:cBhvr>
                                        <p:cTn id="19" dur="400"/>
                                        <p:tgtEl>
                                          <p:spTgt spid="37"/>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38"/>
                                        </p:tgtEl>
                                        <p:attrNameLst>
                                          <p:attrName>style.visibility</p:attrName>
                                        </p:attrNameLst>
                                      </p:cBhvr>
                                      <p:to>
                                        <p:strVal val="visible"/>
                                      </p:to>
                                    </p:set>
                                    <p:animEffect transition="in" filter="slide(fromBottom)">
                                      <p:cBhvr>
                                        <p:cTn id="23" dur="4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37" grpId="0"/>
      <p:bldP spid="3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DFCF9"/>
          </a:solidFill>
          <a:ln>
            <a:noFill/>
          </a:ln>
        </p:spPr>
      </p:sp>
      <p:sp>
        <p:nvSpPr>
          <p:cNvPr id="3" name="TextBox 3"/>
          <p:cNvSpPr txBox="1"/>
          <p:nvPr/>
        </p:nvSpPr>
        <p:spPr>
          <a:xfrm>
            <a:off x="596265" y="648652"/>
            <a:ext cx="2114331" cy="213360"/>
          </a:xfrm>
          <a:prstGeom prst="rect">
            <a:avLst/>
          </a:prstGeom>
          <a:noFill/>
          <a:ln>
            <a:noFill/>
          </a:ln>
        </p:spPr>
        <p:txBody>
          <a:bodyPr wrap="none" lIns="0" tIns="0" rIns="0" bIns="0" anchor="t" anchorCtr="0">
            <a:spAutoFit/>
          </a:bodyPr>
          <a:lstStyle/>
          <a:p>
            <a:pPr algn="l"/>
            <a:r>
              <a:rPr lang="zh-CN" sz="1050" b="1" dirty="0">
                <a:solidFill>
                  <a:srgbClr val="007583"/>
                </a:solidFill>
                <a:latin typeface="Plus Jakarta Sans"/>
                <a:ea typeface="Microsoft JhengHei"/>
                <a:cs typeface="Plus Jakarta Sans"/>
              </a:rPr>
              <a:t>APPENDIX 02: AI PRD ASSISTANT</a:t>
            </a:r>
          </a:p>
        </p:txBody>
      </p:sp>
      <p:sp>
        <p:nvSpPr>
          <p:cNvPr id="4" name="TextBox 4"/>
          <p:cNvSpPr txBox="1"/>
          <p:nvPr/>
        </p:nvSpPr>
        <p:spPr>
          <a:xfrm>
            <a:off x="582930" y="916305"/>
            <a:ext cx="6816185" cy="426720"/>
          </a:xfrm>
          <a:prstGeom prst="rect">
            <a:avLst/>
          </a:prstGeom>
          <a:noFill/>
          <a:ln>
            <a:noFill/>
          </a:ln>
        </p:spPr>
        <p:txBody>
          <a:bodyPr wrap="none" lIns="0" tIns="0" rIns="0" bIns="0" anchor="t" anchorCtr="0">
            <a:spAutoFit/>
          </a:bodyPr>
          <a:lstStyle/>
          <a:p>
            <a:pPr algn="l"/>
            <a:r>
              <a:rPr lang="zh-CN" sz="2100" b="1" dirty="0">
                <a:solidFill>
                  <a:srgbClr val="171C24"/>
                </a:solidFill>
                <a:latin typeface="Plus Jakarta Sans"/>
                <a:ea typeface="Microsoft JhengHei"/>
                <a:cs typeface="Plus Jakarta Sans"/>
              </a:rPr>
              <a:t>成功定義：跳過空白期，在十分鐘內產出標準規格書</a:t>
            </a:r>
          </a:p>
        </p:txBody>
      </p:sp>
      <p:grpSp>
        <p:nvGrpSpPr>
          <p:cNvPr id="29" name="Group 29"/>
          <p:cNvGrpSpPr/>
          <p:nvPr/>
        </p:nvGrpSpPr>
        <p:grpSpPr>
          <a:xfrm>
            <a:off x="609600" y="1619250"/>
            <a:ext cx="10972800" cy="3810000"/>
            <a:chOff x="609600" y="1619250"/>
            <a:chExt cx="10972800" cy="3810000"/>
          </a:xfrm>
        </p:grpSpPr>
        <p:grpSp>
          <p:nvGrpSpPr>
            <p:cNvPr id="17" name="Group 17"/>
            <p:cNvGrpSpPr/>
            <p:nvPr/>
          </p:nvGrpSpPr>
          <p:grpSpPr>
            <a:xfrm>
              <a:off x="609600" y="1619250"/>
              <a:ext cx="5143500" cy="3810000"/>
              <a:chOff x="609600" y="1619250"/>
              <a:chExt cx="5143500" cy="3810000"/>
            </a:xfrm>
          </p:grpSpPr>
          <p:sp>
            <p:nvSpPr>
              <p:cNvPr id="5" name="Rectangle 5"/>
              <p:cNvSpPr/>
              <p:nvPr/>
            </p:nvSpPr>
            <p:spPr>
              <a:xfrm>
                <a:off x="609600" y="1619250"/>
                <a:ext cx="5143500" cy="3810000"/>
              </a:xfrm>
              <a:prstGeom prst="roundRect">
                <a:avLst>
                  <a:gd name="adj" fmla="val 4000"/>
                </a:avLst>
              </a:prstGeom>
              <a:solidFill>
                <a:srgbClr val="F3F2ED"/>
              </a:solidFill>
              <a:ln w="14288">
                <a:solidFill>
                  <a:srgbClr val="E5E3DE"/>
                </a:solidFill>
              </a:ln>
            </p:spPr>
          </p:sp>
          <p:sp>
            <p:nvSpPr>
              <p:cNvPr id="6" name="Rectangle 6"/>
              <p:cNvSpPr/>
              <p:nvPr/>
            </p:nvSpPr>
            <p:spPr>
              <a:xfrm>
                <a:off x="609600" y="1619250"/>
                <a:ext cx="76200" cy="3810000"/>
              </a:xfrm>
              <a:prstGeom prst="roundRect">
                <a:avLst>
                  <a:gd name="adj" fmla="val 50000"/>
                </a:avLst>
              </a:prstGeom>
              <a:solidFill>
                <a:srgbClr val="153166"/>
              </a:solidFill>
              <a:ln>
                <a:noFill/>
              </a:ln>
            </p:spPr>
          </p:sp>
          <p:sp>
            <p:nvSpPr>
              <p:cNvPr id="7" name="Freeform 7"/>
              <p:cNvSpPr/>
              <p:nvPr/>
            </p:nvSpPr>
            <p:spPr>
              <a:xfrm>
                <a:off x="914400" y="1938338"/>
                <a:ext cx="228600" cy="214312"/>
              </a:xfrm>
              <a:custGeom>
                <a:avLst/>
                <a:gdLst/>
                <a:ahLst/>
                <a:cxnLst/>
                <a:rect l="l" t="t" r="r" b="b"/>
                <a:pathLst>
                  <a:path w="228600" h="214312">
                    <a:moveTo>
                      <a:pt x="0" y="0"/>
                    </a:moveTo>
                    <a:lnTo>
                      <a:pt x="228600" y="0"/>
                    </a:lnTo>
                    <a:lnTo>
                      <a:pt x="228600" y="171450"/>
                    </a:lnTo>
                    <a:lnTo>
                      <a:pt x="157162" y="171450"/>
                    </a:lnTo>
                    <a:lnTo>
                      <a:pt x="114300" y="214312"/>
                    </a:lnTo>
                    <a:lnTo>
                      <a:pt x="71438" y="171450"/>
                    </a:lnTo>
                    <a:lnTo>
                      <a:pt x="0" y="171450"/>
                    </a:lnTo>
                    <a:lnTo>
                      <a:pt x="0" y="0"/>
                    </a:lnTo>
                    <a:close/>
                  </a:path>
                </a:pathLst>
              </a:custGeom>
              <a:solidFill>
                <a:srgbClr val="153166"/>
              </a:solidFill>
              <a:ln>
                <a:noFill/>
              </a:ln>
            </p:spPr>
          </p:sp>
          <p:sp>
            <p:nvSpPr>
              <p:cNvPr id="8" name="TextBox 8"/>
              <p:cNvSpPr txBox="1"/>
              <p:nvPr/>
            </p:nvSpPr>
            <p:spPr>
              <a:xfrm>
                <a:off x="1240155" y="1949768"/>
                <a:ext cx="2274220" cy="274320"/>
              </a:xfrm>
              <a:prstGeom prst="rect">
                <a:avLst/>
              </a:prstGeom>
              <a:noFill/>
              <a:ln>
                <a:noFill/>
              </a:ln>
            </p:spPr>
            <p:txBody>
              <a:bodyPr wrap="none" lIns="0" tIns="0" rIns="0" bIns="0" anchor="t" anchorCtr="0">
                <a:spAutoFit/>
              </a:bodyPr>
              <a:lstStyle/>
              <a:p>
                <a:pPr algn="l"/>
                <a:r>
                  <a:rPr lang="zh-CN" sz="1350" b="1" dirty="0">
                    <a:solidFill>
                      <a:srgbClr val="153166"/>
                    </a:solidFill>
                    <a:latin typeface="Plus Jakarta Sans"/>
                    <a:ea typeface="Microsoft JhengHei"/>
                    <a:cs typeface="Plus Jakarta Sans"/>
                  </a:rPr>
                  <a:t>USER STORY (使用者故事)</a:t>
                </a:r>
              </a:p>
            </p:txBody>
          </p:sp>
          <p:sp>
            <p:nvSpPr>
              <p:cNvPr id="9" name="Rectangle 9"/>
              <p:cNvSpPr/>
              <p:nvPr/>
            </p:nvSpPr>
            <p:spPr>
              <a:xfrm>
                <a:off x="914400" y="2381250"/>
                <a:ext cx="4533900" cy="2667000"/>
              </a:xfrm>
              <a:prstGeom prst="roundRect">
                <a:avLst>
                  <a:gd name="adj" fmla="val 2857"/>
                </a:avLst>
              </a:prstGeom>
              <a:solidFill>
                <a:srgbClr val="FFFFFF"/>
              </a:solidFill>
              <a:ln w="9525">
                <a:solidFill>
                  <a:srgbClr val="E5E3DE"/>
                </a:solidFill>
              </a:ln>
            </p:spPr>
          </p:sp>
          <p:sp>
            <p:nvSpPr>
              <p:cNvPr id="10" name="TextBox 10"/>
              <p:cNvSpPr txBox="1"/>
              <p:nvPr/>
            </p:nvSpPr>
            <p:spPr>
              <a:xfrm>
                <a:off x="1125855" y="2664142"/>
                <a:ext cx="724226" cy="274320"/>
              </a:xfrm>
              <a:prstGeom prst="rect">
                <a:avLst/>
              </a:prstGeom>
              <a:noFill/>
              <a:ln>
                <a:noFill/>
              </a:ln>
            </p:spPr>
            <p:txBody>
              <a:bodyPr wrap="none" lIns="0" tIns="0" rIns="0" bIns="0" anchor="t" anchorCtr="0">
                <a:spAutoFit/>
              </a:bodyPr>
              <a:lstStyle/>
              <a:p>
                <a:pPr algn="l"/>
                <a:r>
                  <a:rPr lang="zh-CN" sz="1350" b="1" dirty="0">
                    <a:solidFill>
                      <a:srgbClr val="00969D"/>
                    </a:solidFill>
                    <a:latin typeface="Manrope"/>
                    <a:ea typeface="Microsoft JhengHei"/>
                    <a:cs typeface="Manrope"/>
                  </a:rPr>
                  <a:t>身為...</a:t>
                </a:r>
              </a:p>
            </p:txBody>
          </p:sp>
          <p:sp>
            <p:nvSpPr>
              <p:cNvPr id="11" name="TextBox 11"/>
              <p:cNvSpPr txBox="1"/>
              <p:nvPr/>
            </p:nvSpPr>
            <p:spPr>
              <a:xfrm>
                <a:off x="1126808" y="2957989"/>
                <a:ext cx="2021634" cy="259080"/>
              </a:xfrm>
              <a:prstGeom prst="rect">
                <a:avLst/>
              </a:prstGeom>
              <a:noFill/>
              <a:ln>
                <a:noFill/>
              </a:ln>
            </p:spPr>
            <p:txBody>
              <a:bodyPr wrap="none" lIns="0" tIns="0" rIns="0" bIns="0" anchor="t" anchorCtr="0">
                <a:spAutoFit/>
              </a:bodyPr>
              <a:lstStyle/>
              <a:p>
                <a:pPr algn="l"/>
                <a:r>
                  <a:rPr lang="zh-CN" sz="1275" dirty="0">
                    <a:solidFill>
                      <a:srgbClr val="171C24"/>
                    </a:solidFill>
                    <a:latin typeface="Manrope"/>
                    <a:ea typeface="Microsoft JhengHei"/>
                    <a:cs typeface="Manrope"/>
                  </a:rPr>
                  <a:t>工作繁重的產品經理 (PM)</a:t>
                </a:r>
              </a:p>
            </p:txBody>
          </p:sp>
          <p:sp>
            <p:nvSpPr>
              <p:cNvPr id="12" name="TextBox 12"/>
              <p:cNvSpPr txBox="1"/>
              <p:nvPr/>
            </p:nvSpPr>
            <p:spPr>
              <a:xfrm>
                <a:off x="1125855" y="3378518"/>
                <a:ext cx="913250" cy="274320"/>
              </a:xfrm>
              <a:prstGeom prst="rect">
                <a:avLst/>
              </a:prstGeom>
              <a:noFill/>
              <a:ln>
                <a:noFill/>
              </a:ln>
            </p:spPr>
            <p:txBody>
              <a:bodyPr wrap="none" lIns="0" tIns="0" rIns="0" bIns="0" anchor="t" anchorCtr="0">
                <a:spAutoFit/>
              </a:bodyPr>
              <a:lstStyle/>
              <a:p>
                <a:pPr algn="l"/>
                <a:r>
                  <a:rPr lang="zh-CN" sz="1350" b="1" dirty="0">
                    <a:solidFill>
                      <a:srgbClr val="00969D"/>
                    </a:solidFill>
                    <a:latin typeface="Manrope"/>
                    <a:ea typeface="Microsoft JhengHei"/>
                    <a:cs typeface="Manrope"/>
                  </a:rPr>
                  <a:t>我想要...</a:t>
                </a:r>
              </a:p>
            </p:txBody>
          </p:sp>
          <p:sp>
            <p:nvSpPr>
              <p:cNvPr id="13" name="TextBox 13"/>
              <p:cNvSpPr txBox="1"/>
              <p:nvPr/>
            </p:nvSpPr>
            <p:spPr>
              <a:xfrm>
                <a:off x="1126808" y="3672364"/>
                <a:ext cx="3840861" cy="259080"/>
              </a:xfrm>
              <a:prstGeom prst="rect">
                <a:avLst/>
              </a:prstGeom>
              <a:noFill/>
              <a:ln>
                <a:noFill/>
              </a:ln>
            </p:spPr>
            <p:txBody>
              <a:bodyPr wrap="none" lIns="0" tIns="0" rIns="0" bIns="0" anchor="t" anchorCtr="0">
                <a:spAutoFit/>
              </a:bodyPr>
              <a:lstStyle/>
              <a:p>
                <a:pPr algn="l"/>
                <a:r>
                  <a:rPr lang="zh-CN" sz="1275" dirty="0">
                    <a:solidFill>
                      <a:srgbClr val="171C24"/>
                    </a:solidFill>
                    <a:latin typeface="Manrope"/>
                    <a:ea typeface="Microsoft JhengHei"/>
                    <a:cs typeface="Manrope"/>
                  </a:rPr>
                  <a:t>輸入產品願景與核心場景讓 AI 自動生成結構化 PRD</a:t>
                </a:r>
              </a:p>
            </p:txBody>
          </p:sp>
          <p:sp>
            <p:nvSpPr>
              <p:cNvPr id="14" name="TextBox 14"/>
              <p:cNvSpPr txBox="1"/>
              <p:nvPr/>
            </p:nvSpPr>
            <p:spPr>
              <a:xfrm>
                <a:off x="1125855" y="4092892"/>
                <a:ext cx="913250" cy="274320"/>
              </a:xfrm>
              <a:prstGeom prst="rect">
                <a:avLst/>
              </a:prstGeom>
              <a:noFill/>
              <a:ln>
                <a:noFill/>
              </a:ln>
            </p:spPr>
            <p:txBody>
              <a:bodyPr wrap="none" lIns="0" tIns="0" rIns="0" bIns="0" anchor="t" anchorCtr="0">
                <a:spAutoFit/>
              </a:bodyPr>
              <a:lstStyle/>
              <a:p>
                <a:pPr algn="l"/>
                <a:r>
                  <a:rPr lang="zh-CN" sz="1350" b="1" dirty="0">
                    <a:solidFill>
                      <a:srgbClr val="00969D"/>
                    </a:solidFill>
                    <a:latin typeface="Manrope"/>
                    <a:ea typeface="Microsoft JhengHei"/>
                    <a:cs typeface="Manrope"/>
                  </a:rPr>
                  <a:t>以便能...</a:t>
                </a:r>
              </a:p>
            </p:txBody>
          </p:sp>
          <p:sp>
            <p:nvSpPr>
              <p:cNvPr id="15" name="TextBox 15"/>
              <p:cNvSpPr txBox="1"/>
              <p:nvPr/>
            </p:nvSpPr>
            <p:spPr>
              <a:xfrm>
                <a:off x="1126808" y="4386739"/>
                <a:ext cx="3551825" cy="259080"/>
              </a:xfrm>
              <a:prstGeom prst="rect">
                <a:avLst/>
              </a:prstGeom>
              <a:noFill/>
              <a:ln>
                <a:noFill/>
              </a:ln>
            </p:spPr>
            <p:txBody>
              <a:bodyPr wrap="none" lIns="0" tIns="0" rIns="0" bIns="0" anchor="t" anchorCtr="0">
                <a:spAutoFit/>
              </a:bodyPr>
              <a:lstStyle/>
              <a:p>
                <a:pPr algn="l"/>
                <a:r>
                  <a:rPr lang="zh-CN" sz="1275" dirty="0">
                    <a:solidFill>
                      <a:srgbClr val="171C24"/>
                    </a:solidFill>
                    <a:latin typeface="Manrope"/>
                    <a:ea typeface="Microsoft JhengHei"/>
                    <a:cs typeface="Manrope"/>
                  </a:rPr>
                  <a:t>跳過看著空白文件的焦慮期，在 10 分鐘內產出</a:t>
                </a:r>
              </a:p>
            </p:txBody>
          </p:sp>
          <p:sp>
            <p:nvSpPr>
              <p:cNvPr id="16" name="TextBox 16"/>
              <p:cNvSpPr txBox="1"/>
              <p:nvPr/>
            </p:nvSpPr>
            <p:spPr>
              <a:xfrm>
                <a:off x="1126808" y="4624864"/>
                <a:ext cx="2412682" cy="259080"/>
              </a:xfrm>
              <a:prstGeom prst="rect">
                <a:avLst/>
              </a:prstGeom>
              <a:noFill/>
              <a:ln>
                <a:noFill/>
              </a:ln>
            </p:spPr>
            <p:txBody>
              <a:bodyPr wrap="none" lIns="0" tIns="0" rIns="0" bIns="0" anchor="t" anchorCtr="0">
                <a:spAutoFit/>
              </a:bodyPr>
              <a:lstStyle/>
              <a:p>
                <a:pPr algn="l"/>
                <a:r>
                  <a:rPr lang="zh-CN" sz="1275" dirty="0">
                    <a:solidFill>
                      <a:srgbClr val="171C24"/>
                    </a:solidFill>
                    <a:latin typeface="Manrope"/>
                    <a:ea typeface="Microsoft JhengHei"/>
                    <a:cs typeface="Manrope"/>
                  </a:rPr>
                  <a:t>可供工程師閱讀的交付物初稿。</a:t>
                </a:r>
              </a:p>
            </p:txBody>
          </p:sp>
        </p:grpSp>
        <p:grpSp>
          <p:nvGrpSpPr>
            <p:cNvPr id="28" name="Group 28"/>
            <p:cNvGrpSpPr/>
            <p:nvPr/>
          </p:nvGrpSpPr>
          <p:grpSpPr>
            <a:xfrm>
              <a:off x="6134100" y="1619250"/>
              <a:ext cx="5448300" cy="3810000"/>
              <a:chOff x="6134100" y="1619250"/>
              <a:chExt cx="5448300" cy="3810000"/>
            </a:xfrm>
          </p:grpSpPr>
          <p:sp>
            <p:nvSpPr>
              <p:cNvPr id="18" name="Rectangle 18"/>
              <p:cNvSpPr/>
              <p:nvPr/>
            </p:nvSpPr>
            <p:spPr>
              <a:xfrm>
                <a:off x="6134100" y="1619250"/>
                <a:ext cx="5448300" cy="3810000"/>
              </a:xfrm>
              <a:prstGeom prst="roundRect">
                <a:avLst>
                  <a:gd name="adj" fmla="val 4000"/>
                </a:avLst>
              </a:prstGeom>
              <a:solidFill>
                <a:srgbClr val="FFFFFF"/>
              </a:solidFill>
              <a:ln w="14288">
                <a:solidFill>
                  <a:srgbClr val="E5E3DE"/>
                </a:solidFill>
              </a:ln>
            </p:spPr>
          </p:sp>
          <p:grpSp>
            <p:nvGrpSpPr>
              <p:cNvPr id="21" name="Group 21"/>
              <p:cNvGrpSpPr/>
              <p:nvPr/>
            </p:nvGrpSpPr>
            <p:grpSpPr>
              <a:xfrm>
                <a:off x="6438900" y="1924050"/>
                <a:ext cx="228600" cy="228600"/>
                <a:chOff x="6438900" y="1924050"/>
                <a:chExt cx="228600" cy="228600"/>
              </a:xfrm>
            </p:grpSpPr>
            <p:sp>
              <p:nvSpPr>
                <p:cNvPr id="19" name="Freeform 19"/>
                <p:cNvSpPr/>
                <p:nvPr/>
              </p:nvSpPr>
              <p:spPr>
                <a:xfrm>
                  <a:off x="6496050" y="1981200"/>
                  <a:ext cx="114300" cy="114300"/>
                </a:xfrm>
                <a:custGeom>
                  <a:avLst/>
                  <a:gdLst/>
                  <a:ahLst/>
                  <a:cxnLst/>
                  <a:rect l="l" t="t" r="r" b="b"/>
                  <a:pathLst>
                    <a:path w="114300" h="114300">
                      <a:moveTo>
                        <a:pt x="57150" y="0"/>
                      </a:moveTo>
                      <a:cubicBezTo>
                        <a:pt x="25587" y="0"/>
                        <a:pt x="0" y="25587"/>
                        <a:pt x="0" y="57150"/>
                      </a:cubicBezTo>
                      <a:cubicBezTo>
                        <a:pt x="0" y="88713"/>
                        <a:pt x="25587" y="114300"/>
                        <a:pt x="57150" y="114300"/>
                      </a:cubicBezTo>
                      <a:cubicBezTo>
                        <a:pt x="88713" y="114300"/>
                        <a:pt x="114300" y="88713"/>
                        <a:pt x="114300" y="57150"/>
                      </a:cubicBezTo>
                      <a:cubicBezTo>
                        <a:pt x="114300" y="25587"/>
                        <a:pt x="88713" y="0"/>
                        <a:pt x="57150" y="0"/>
                      </a:cubicBezTo>
                      <a:close/>
                      <a:moveTo>
                        <a:pt x="28575" y="57150"/>
                      </a:moveTo>
                      <a:cubicBezTo>
                        <a:pt x="28575" y="41368"/>
                        <a:pt x="41368" y="28575"/>
                        <a:pt x="57150" y="28575"/>
                      </a:cubicBezTo>
                      <a:cubicBezTo>
                        <a:pt x="72932" y="28575"/>
                        <a:pt x="85725" y="41368"/>
                        <a:pt x="85725" y="57150"/>
                      </a:cubicBezTo>
                      <a:cubicBezTo>
                        <a:pt x="85725" y="72932"/>
                        <a:pt x="72932" y="85725"/>
                        <a:pt x="57150" y="85725"/>
                      </a:cubicBezTo>
                      <a:cubicBezTo>
                        <a:pt x="41368" y="85725"/>
                        <a:pt x="28575" y="72932"/>
                        <a:pt x="28575" y="57150"/>
                      </a:cubicBezTo>
                      <a:close/>
                    </a:path>
                  </a:pathLst>
                </a:custGeom>
                <a:solidFill>
                  <a:srgbClr val="00969D"/>
                </a:solidFill>
                <a:ln>
                  <a:noFill/>
                </a:ln>
              </p:spPr>
            </p:sp>
            <p:sp>
              <p:nvSpPr>
                <p:cNvPr id="20" name="Freeform 20"/>
                <p:cNvSpPr/>
                <p:nvPr/>
              </p:nvSpPr>
              <p:spPr>
                <a:xfrm>
                  <a:off x="6438900" y="1924050"/>
                  <a:ext cx="228600" cy="228600"/>
                </a:xfrm>
                <a:custGeom>
                  <a:avLst/>
                  <a:gdLst/>
                  <a:ahLst/>
                  <a:cxnLst/>
                  <a:rect l="l" t="t" r="r" b="b"/>
                  <a:pathLst>
                    <a:path w="228600" h="228600">
                      <a:moveTo>
                        <a:pt x="114300" y="0"/>
                      </a:moveTo>
                      <a:cubicBezTo>
                        <a:pt x="51174" y="0"/>
                        <a:pt x="0" y="51174"/>
                        <a:pt x="0" y="114300"/>
                      </a:cubicBezTo>
                      <a:cubicBezTo>
                        <a:pt x="0" y="177426"/>
                        <a:pt x="51174" y="228600"/>
                        <a:pt x="114300" y="228600"/>
                      </a:cubicBezTo>
                      <a:cubicBezTo>
                        <a:pt x="177426" y="228600"/>
                        <a:pt x="228600" y="177426"/>
                        <a:pt x="228600" y="114300"/>
                      </a:cubicBezTo>
                      <a:cubicBezTo>
                        <a:pt x="228600" y="51174"/>
                        <a:pt x="177426" y="0"/>
                        <a:pt x="114300" y="0"/>
                      </a:cubicBezTo>
                      <a:close/>
                      <a:moveTo>
                        <a:pt x="28575" y="114300"/>
                      </a:moveTo>
                      <a:cubicBezTo>
                        <a:pt x="28575" y="66955"/>
                        <a:pt x="66955" y="28575"/>
                        <a:pt x="114300" y="28575"/>
                      </a:cubicBezTo>
                      <a:cubicBezTo>
                        <a:pt x="161644" y="28575"/>
                        <a:pt x="200025" y="66955"/>
                        <a:pt x="200025" y="114300"/>
                      </a:cubicBezTo>
                      <a:cubicBezTo>
                        <a:pt x="200025" y="161644"/>
                        <a:pt x="161644" y="200025"/>
                        <a:pt x="114300" y="200025"/>
                      </a:cubicBezTo>
                      <a:cubicBezTo>
                        <a:pt x="66955" y="200025"/>
                        <a:pt x="28575" y="161644"/>
                        <a:pt x="28575" y="114300"/>
                      </a:cubicBezTo>
                      <a:close/>
                    </a:path>
                  </a:pathLst>
                </a:custGeom>
                <a:solidFill>
                  <a:srgbClr val="00969D"/>
                </a:solidFill>
                <a:ln>
                  <a:noFill/>
                </a:ln>
              </p:spPr>
            </p:sp>
          </p:grpSp>
          <p:sp>
            <p:nvSpPr>
              <p:cNvPr id="22" name="TextBox 22"/>
              <p:cNvSpPr txBox="1"/>
              <p:nvPr/>
            </p:nvSpPr>
            <p:spPr>
              <a:xfrm>
                <a:off x="6764655" y="1949768"/>
                <a:ext cx="1735503" cy="274320"/>
              </a:xfrm>
              <a:prstGeom prst="rect">
                <a:avLst/>
              </a:prstGeom>
              <a:noFill/>
              <a:ln>
                <a:noFill/>
              </a:ln>
            </p:spPr>
            <p:txBody>
              <a:bodyPr wrap="none" lIns="0" tIns="0" rIns="0" bIns="0" anchor="t" anchorCtr="0">
                <a:spAutoFit/>
              </a:bodyPr>
              <a:lstStyle/>
              <a:p>
                <a:pPr algn="l"/>
                <a:r>
                  <a:rPr lang="zh-CN" sz="1350" b="1" dirty="0">
                    <a:solidFill>
                      <a:srgbClr val="171C24"/>
                    </a:solidFill>
                    <a:latin typeface="Plus Jakarta Sans"/>
                    <a:ea typeface="Microsoft JhengHei"/>
                    <a:cs typeface="Plus Jakarta Sans"/>
                  </a:rPr>
                  <a:t>核心體驗與效率承諾</a:t>
                </a:r>
              </a:p>
            </p:txBody>
          </p:sp>
          <p:grpSp>
            <p:nvGrpSpPr>
              <p:cNvPr id="27" name="Group 27"/>
              <p:cNvGrpSpPr/>
              <p:nvPr/>
            </p:nvGrpSpPr>
            <p:grpSpPr>
              <a:xfrm>
                <a:off x="6438900" y="2571750"/>
                <a:ext cx="4838700" cy="2286000"/>
                <a:chOff x="6438900" y="2571750"/>
                <a:chExt cx="4838700" cy="2286000"/>
              </a:xfrm>
            </p:grpSpPr>
            <p:sp>
              <p:nvSpPr>
                <p:cNvPr id="23" name="Rectangle 23"/>
                <p:cNvSpPr/>
                <p:nvPr/>
              </p:nvSpPr>
              <p:spPr>
                <a:xfrm>
                  <a:off x="6438900" y="2571750"/>
                  <a:ext cx="4838700" cy="2286000"/>
                </a:xfrm>
                <a:prstGeom prst="roundRect">
                  <a:avLst>
                    <a:gd name="adj" fmla="val 5000"/>
                  </a:avLst>
                </a:prstGeom>
                <a:solidFill>
                  <a:srgbClr val="F3F2ED"/>
                </a:solidFill>
                <a:ln w="9525">
                  <a:solidFill>
                    <a:srgbClr val="E5E3DE"/>
                  </a:solidFill>
                </a:ln>
              </p:spPr>
            </p:sp>
            <p:sp>
              <p:nvSpPr>
                <p:cNvPr id="24" name="TextBox 24"/>
                <p:cNvSpPr txBox="1"/>
                <p:nvPr/>
              </p:nvSpPr>
              <p:spPr>
                <a:xfrm>
                  <a:off x="8086916" y="3204210"/>
                  <a:ext cx="1542669" cy="243840"/>
                </a:xfrm>
                <a:prstGeom prst="rect">
                  <a:avLst/>
                </a:prstGeom>
                <a:noFill/>
                <a:ln>
                  <a:noFill/>
                </a:ln>
              </p:spPr>
              <p:txBody>
                <a:bodyPr wrap="none" lIns="0" tIns="0" rIns="0" bIns="0" anchor="t" anchorCtr="0">
                  <a:spAutoFit/>
                </a:bodyPr>
                <a:lstStyle/>
                <a:p>
                  <a:pPr algn="ctr"/>
                  <a:r>
                    <a:rPr lang="zh-CN" sz="1200" b="1" dirty="0">
                      <a:solidFill>
                        <a:srgbClr val="525864"/>
                      </a:solidFill>
                      <a:latin typeface="Manrope"/>
                      <a:ea typeface="Microsoft JhengHei"/>
                      <a:cs typeface="Manrope"/>
                    </a:rPr>
                    <a:t>交付物初稿產出時間</a:t>
                  </a:r>
                </a:p>
              </p:txBody>
            </p:sp>
            <p:sp>
              <p:nvSpPr>
                <p:cNvPr id="25" name="TextBox 25"/>
                <p:cNvSpPr txBox="1"/>
                <p:nvPr/>
              </p:nvSpPr>
              <p:spPr>
                <a:xfrm>
                  <a:off x="7654747" y="3672840"/>
                  <a:ext cx="2407006" cy="975360"/>
                </a:xfrm>
                <a:prstGeom prst="rect">
                  <a:avLst/>
                </a:prstGeom>
                <a:noFill/>
                <a:ln>
                  <a:noFill/>
                </a:ln>
              </p:spPr>
              <p:txBody>
                <a:bodyPr wrap="none" lIns="0" tIns="0" rIns="0" bIns="0" anchor="t" anchorCtr="0">
                  <a:spAutoFit/>
                </a:bodyPr>
                <a:lstStyle/>
                <a:p>
                  <a:pPr algn="ctr"/>
                  <a:r>
                    <a:rPr lang="zh-CN" sz="4800" b="1" dirty="0">
                      <a:solidFill>
                        <a:srgbClr val="00969D"/>
                      </a:solidFill>
                      <a:latin typeface="Plus Jakarta Sans"/>
                      <a:ea typeface="Microsoft JhengHei"/>
                      <a:cs typeface="Plus Jakarta Sans"/>
                    </a:rPr>
                    <a:t>10 分鐘</a:t>
                  </a:r>
                </a:p>
              </p:txBody>
            </p:sp>
            <p:sp>
              <p:nvSpPr>
                <p:cNvPr id="26" name="TextBox 26"/>
                <p:cNvSpPr txBox="1"/>
                <p:nvPr/>
              </p:nvSpPr>
              <p:spPr>
                <a:xfrm>
                  <a:off x="8036314" y="4458652"/>
                  <a:ext cx="1643872" cy="213360"/>
                </a:xfrm>
                <a:prstGeom prst="rect">
                  <a:avLst/>
                </a:prstGeom>
                <a:noFill/>
                <a:ln>
                  <a:noFill/>
                </a:ln>
              </p:spPr>
              <p:txBody>
                <a:bodyPr wrap="none" lIns="0" tIns="0" rIns="0" bIns="0" anchor="t" anchorCtr="0">
                  <a:spAutoFit/>
                </a:bodyPr>
                <a:lstStyle/>
                <a:p>
                  <a:pPr algn="ctr"/>
                  <a:r>
                    <a:rPr lang="zh-CN" sz="1050" b="1" dirty="0">
                      <a:solidFill>
                        <a:srgbClr val="171C24"/>
                      </a:solidFill>
                      <a:latin typeface="Manrope"/>
                      <a:ea typeface="Microsoft JhengHei"/>
                      <a:cs typeface="Manrope"/>
                    </a:rPr>
                    <a:t>徹底跳過空白文檔焦慮期</a:t>
                  </a:r>
                </a:p>
              </p:txBody>
            </p:sp>
          </p:grpSp>
        </p:grpSp>
      </p:grpSp>
      <p:grpSp>
        <p:nvGrpSpPr>
          <p:cNvPr id="33" name="Group 33"/>
          <p:cNvGrpSpPr/>
          <p:nvPr/>
        </p:nvGrpSpPr>
        <p:grpSpPr>
          <a:xfrm>
            <a:off x="609600" y="5619750"/>
            <a:ext cx="10972800" cy="571500"/>
            <a:chOff x="609600" y="5619750"/>
            <a:chExt cx="10972800" cy="571500"/>
          </a:xfrm>
        </p:grpSpPr>
        <p:sp>
          <p:nvSpPr>
            <p:cNvPr id="30" name="Rectangle 30"/>
            <p:cNvSpPr/>
            <p:nvPr/>
          </p:nvSpPr>
          <p:spPr>
            <a:xfrm>
              <a:off x="609600" y="5619750"/>
              <a:ext cx="10972800" cy="571500"/>
            </a:xfrm>
            <a:prstGeom prst="roundRect">
              <a:avLst>
                <a:gd name="adj" fmla="val 13333"/>
              </a:avLst>
            </a:prstGeom>
            <a:solidFill>
              <a:srgbClr val="F3F2ED"/>
            </a:solidFill>
            <a:ln>
              <a:noFill/>
            </a:ln>
          </p:spPr>
        </p:sp>
        <p:sp>
          <p:nvSpPr>
            <p:cNvPr id="31" name="Freeform 31"/>
            <p:cNvSpPr/>
            <p:nvPr/>
          </p:nvSpPr>
          <p:spPr>
            <a:xfrm>
              <a:off x="800100" y="5791200"/>
              <a:ext cx="228600" cy="228600"/>
            </a:xfrm>
            <a:custGeom>
              <a:avLst/>
              <a:gdLst/>
              <a:ahLst/>
              <a:cxnLst/>
              <a:rect l="l" t="t" r="r" b="b"/>
              <a:pathLst>
                <a:path w="228600" h="228600">
                  <a:moveTo>
                    <a:pt x="228600" y="114300"/>
                  </a:moveTo>
                  <a:cubicBezTo>
                    <a:pt x="228600" y="177426"/>
                    <a:pt x="177426" y="228600"/>
                    <a:pt x="114300" y="228600"/>
                  </a:cubicBezTo>
                  <a:cubicBezTo>
                    <a:pt x="51174" y="228600"/>
                    <a:pt x="0" y="177426"/>
                    <a:pt x="0" y="114300"/>
                  </a:cubicBezTo>
                  <a:cubicBezTo>
                    <a:pt x="0" y="51174"/>
                    <a:pt x="51174" y="0"/>
                    <a:pt x="114300" y="0"/>
                  </a:cubicBezTo>
                  <a:cubicBezTo>
                    <a:pt x="177426" y="0"/>
                    <a:pt x="228600" y="51174"/>
                    <a:pt x="228600" y="114300"/>
                  </a:cubicBezTo>
                  <a:close/>
                  <a:moveTo>
                    <a:pt x="100012" y="114300"/>
                  </a:moveTo>
                  <a:lnTo>
                    <a:pt x="85725" y="114300"/>
                  </a:lnTo>
                  <a:lnTo>
                    <a:pt x="85725" y="85725"/>
                  </a:lnTo>
                  <a:lnTo>
                    <a:pt x="128588" y="85725"/>
                  </a:lnTo>
                  <a:lnTo>
                    <a:pt x="128588" y="157162"/>
                  </a:lnTo>
                  <a:lnTo>
                    <a:pt x="142875" y="157162"/>
                  </a:lnTo>
                  <a:lnTo>
                    <a:pt x="142875" y="185738"/>
                  </a:lnTo>
                  <a:lnTo>
                    <a:pt x="100012" y="185738"/>
                  </a:lnTo>
                  <a:lnTo>
                    <a:pt x="100012" y="114300"/>
                  </a:lnTo>
                  <a:close/>
                  <a:moveTo>
                    <a:pt x="128588" y="71438"/>
                  </a:moveTo>
                  <a:lnTo>
                    <a:pt x="128588" y="42862"/>
                  </a:lnTo>
                  <a:lnTo>
                    <a:pt x="100012" y="42862"/>
                  </a:lnTo>
                  <a:lnTo>
                    <a:pt x="100012" y="71438"/>
                  </a:lnTo>
                  <a:lnTo>
                    <a:pt x="128588" y="71438"/>
                  </a:lnTo>
                  <a:close/>
                </a:path>
              </a:pathLst>
            </a:custGeom>
            <a:solidFill>
              <a:srgbClr val="007583"/>
            </a:solidFill>
            <a:ln>
              <a:noFill/>
            </a:ln>
          </p:spPr>
        </p:sp>
        <p:sp>
          <p:nvSpPr>
            <p:cNvPr id="32" name="TextBox 32"/>
            <p:cNvSpPr txBox="1"/>
            <p:nvPr/>
          </p:nvSpPr>
          <p:spPr>
            <a:xfrm>
              <a:off x="1128712" y="5831681"/>
              <a:ext cx="6569392" cy="228600"/>
            </a:xfrm>
            <a:prstGeom prst="rect">
              <a:avLst/>
            </a:prstGeom>
            <a:noFill/>
            <a:ln>
              <a:noFill/>
            </a:ln>
          </p:spPr>
          <p:txBody>
            <a:bodyPr wrap="none" lIns="0" tIns="0" rIns="0" bIns="0" anchor="t" anchorCtr="0">
              <a:spAutoFit/>
            </a:bodyPr>
            <a:lstStyle/>
            <a:p>
              <a:pPr algn="l"/>
              <a:r>
                <a:rPr lang="zh-CN" sz="1125" b="1" dirty="0">
                  <a:solidFill>
                    <a:srgbClr val="007583"/>
                  </a:solidFill>
                  <a:latin typeface="Manrope"/>
                  <a:ea typeface="Microsoft JhengHei"/>
                  <a:cs typeface="Manrope"/>
                </a:rPr>
                <a:t>主管視角說明：</a:t>
              </a:r>
              <a:r>
                <a:rPr lang="zh-CN" sz="1125" dirty="0">
                  <a:solidFill>
                    <a:srgbClr val="171C24"/>
                  </a:solidFill>
                  <a:latin typeface="Manrope"/>
                  <a:ea typeface="Microsoft JhengHei"/>
                  <a:cs typeface="Manrope"/>
                </a:rPr>
                <a:t>我們的終極目標是消除 PM 面對空白文檔時的阻力，將初稿時間壓縮在 10 分鐘內。</a:t>
              </a:r>
            </a:p>
          </p:txBody>
        </p:sp>
      </p:grpSp>
      <p:sp>
        <p:nvSpPr>
          <p:cNvPr id="34" name="TextBox 34"/>
          <p:cNvSpPr txBox="1"/>
          <p:nvPr/>
        </p:nvSpPr>
        <p:spPr>
          <a:xfrm>
            <a:off x="598170" y="6475095"/>
            <a:ext cx="2579179" cy="182880"/>
          </a:xfrm>
          <a:prstGeom prst="rect">
            <a:avLst/>
          </a:prstGeom>
          <a:noFill/>
          <a:ln>
            <a:noFill/>
          </a:ln>
        </p:spPr>
        <p:txBody>
          <a:bodyPr wrap="none" lIns="0" tIns="0" rIns="0" bIns="0" anchor="t" anchorCtr="0">
            <a:spAutoFit/>
          </a:bodyPr>
          <a:lstStyle/>
          <a:p>
            <a:pPr algn="l"/>
            <a:r>
              <a:rPr lang="zh-CN" sz="900" dirty="0">
                <a:solidFill>
                  <a:srgbClr val="525864"/>
                </a:solidFill>
                <a:latin typeface="Manrope"/>
                <a:ea typeface="Microsoft JhengHei"/>
                <a:cs typeface="Manrope"/>
              </a:rPr>
              <a:t>PM PROPOSAL &amp; METRICS EDUCATION · PAGE 21</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image">
                                      <p:cBhvr>
                                        <p:cTn id="7" dur="400"/>
                                        <p:tgtEl>
                                          <p:spTgt spid="2"/>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400"/>
                                        <p:tgtEl>
                                          <p:spTgt spid="3"/>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400"/>
                                        <p:tgtEl>
                                          <p:spTgt spid="4"/>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slide(fromBottom)">
                                      <p:cBhvr>
                                        <p:cTn id="19" dur="400"/>
                                        <p:tgtEl>
                                          <p:spTgt spid="29"/>
                                        </p:tgtEl>
                                      </p:cBhvr>
                                    </p:animEffect>
                                  </p:childTnLst>
                                </p:cTn>
                              </p:par>
                            </p:childTnLst>
                          </p:cTn>
                        </p:par>
                        <p:par>
                          <p:cTn id="20" fill="hold">
                            <p:stCondLst>
                              <p:cond delay="3600"/>
                            </p:stCondLst>
                            <p:childTnLst>
                              <p:par>
                                <p:cTn id="21" presetID="23" presetClass="entr" presetSubtype="0" fill="hold" nodeType="after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image">
                                      <p:cBhvr>
                                        <p:cTn id="23" dur="400"/>
                                        <p:tgtEl>
                                          <p:spTgt spid="33"/>
                                        </p:tgtEl>
                                      </p:cBhvr>
                                    </p:animEffect>
                                  </p:childTnLst>
                                </p:cTn>
                              </p:par>
                            </p:childTnLst>
                          </p:cTn>
                        </p:par>
                        <p:par>
                          <p:cTn id="24" fill="hold">
                            <p:stCondLst>
                              <p:cond delay="4500"/>
                            </p:stCondLst>
                            <p:childTnLst>
                              <p:par>
                                <p:cTn id="25" presetID="10" presetClass="entr" presetSubtype="0" fill="hold" nodeType="after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29" grpId="0"/>
      <p:bldP spid="33" grpId="0"/>
      <p:bldP spid="3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DFCF9"/>
          </a:solidFill>
          <a:ln>
            <a:noFill/>
          </a:ln>
        </p:spPr>
      </p:sp>
      <p:sp>
        <p:nvSpPr>
          <p:cNvPr id="3" name="TextBox 3"/>
          <p:cNvSpPr txBox="1"/>
          <p:nvPr/>
        </p:nvSpPr>
        <p:spPr>
          <a:xfrm>
            <a:off x="596265" y="648652"/>
            <a:ext cx="2114331" cy="213360"/>
          </a:xfrm>
          <a:prstGeom prst="rect">
            <a:avLst/>
          </a:prstGeom>
          <a:noFill/>
          <a:ln>
            <a:noFill/>
          </a:ln>
        </p:spPr>
        <p:txBody>
          <a:bodyPr wrap="none" lIns="0" tIns="0" rIns="0" bIns="0" anchor="t" anchorCtr="0">
            <a:spAutoFit/>
          </a:bodyPr>
          <a:lstStyle/>
          <a:p>
            <a:pPr algn="l"/>
            <a:r>
              <a:rPr lang="zh-CN" sz="1050" b="1" dirty="0">
                <a:solidFill>
                  <a:srgbClr val="007583"/>
                </a:solidFill>
                <a:latin typeface="Plus Jakarta Sans"/>
                <a:ea typeface="Microsoft JhengHei"/>
                <a:cs typeface="Plus Jakarta Sans"/>
              </a:rPr>
              <a:t>APPENDIX 02: AI PRD ASSISTANT</a:t>
            </a:r>
          </a:p>
        </p:txBody>
      </p:sp>
      <p:sp>
        <p:nvSpPr>
          <p:cNvPr id="4" name="TextBox 4"/>
          <p:cNvSpPr txBox="1"/>
          <p:nvPr/>
        </p:nvSpPr>
        <p:spPr>
          <a:xfrm>
            <a:off x="582930" y="916305"/>
            <a:ext cx="5963479" cy="426720"/>
          </a:xfrm>
          <a:prstGeom prst="rect">
            <a:avLst/>
          </a:prstGeom>
          <a:noFill/>
          <a:ln>
            <a:noFill/>
          </a:ln>
        </p:spPr>
        <p:txBody>
          <a:bodyPr wrap="none" lIns="0" tIns="0" rIns="0" bIns="0" anchor="t" anchorCtr="0">
            <a:spAutoFit/>
          </a:bodyPr>
          <a:lstStyle/>
          <a:p>
            <a:pPr algn="l"/>
            <a:r>
              <a:rPr lang="zh-CN" sz="2100" b="1" dirty="0">
                <a:solidFill>
                  <a:srgbClr val="171C24"/>
                </a:solidFill>
                <a:latin typeface="Plus Jakarta Sans"/>
                <a:ea typeface="Microsoft JhengHei"/>
                <a:cs typeface="Plus Jakarta Sans"/>
              </a:rPr>
              <a:t>解方展現：AI PRD 撰寫助理主浅程與介面原型</a:t>
            </a:r>
          </a:p>
        </p:txBody>
      </p:sp>
      <p:grpSp>
        <p:nvGrpSpPr>
          <p:cNvPr id="45" name="Group 45"/>
          <p:cNvGrpSpPr/>
          <p:nvPr/>
        </p:nvGrpSpPr>
        <p:grpSpPr>
          <a:xfrm>
            <a:off x="609600" y="1619250"/>
            <a:ext cx="10972800" cy="3810000"/>
            <a:chOff x="609600" y="1619250"/>
            <a:chExt cx="10972800" cy="3810000"/>
          </a:xfrm>
        </p:grpSpPr>
        <p:grpSp>
          <p:nvGrpSpPr>
            <p:cNvPr id="21" name="Group 21"/>
            <p:cNvGrpSpPr/>
            <p:nvPr/>
          </p:nvGrpSpPr>
          <p:grpSpPr>
            <a:xfrm>
              <a:off x="609600" y="1619250"/>
              <a:ext cx="4572000" cy="3810000"/>
              <a:chOff x="609600" y="1619250"/>
              <a:chExt cx="4572000" cy="3810000"/>
            </a:xfrm>
          </p:grpSpPr>
          <p:sp>
            <p:nvSpPr>
              <p:cNvPr id="5" name="Rectangle 5"/>
              <p:cNvSpPr/>
              <p:nvPr/>
            </p:nvSpPr>
            <p:spPr>
              <a:xfrm>
                <a:off x="609600" y="1619250"/>
                <a:ext cx="4572000" cy="3810000"/>
              </a:xfrm>
              <a:prstGeom prst="roundRect">
                <a:avLst>
                  <a:gd name="adj" fmla="val 4000"/>
                </a:avLst>
              </a:prstGeom>
              <a:solidFill>
                <a:srgbClr val="FFFFFF"/>
              </a:solidFill>
              <a:ln w="14288">
                <a:solidFill>
                  <a:srgbClr val="E5E3DE"/>
                </a:solidFill>
              </a:ln>
            </p:spPr>
          </p:sp>
          <p:sp>
            <p:nvSpPr>
              <p:cNvPr id="6" name="Rectangle 6"/>
              <p:cNvSpPr/>
              <p:nvPr/>
            </p:nvSpPr>
            <p:spPr>
              <a:xfrm>
                <a:off x="609600" y="1619250"/>
                <a:ext cx="4572000" cy="38100"/>
              </a:xfrm>
              <a:prstGeom prst="roundRect">
                <a:avLst>
                  <a:gd name="adj" fmla="val 50000"/>
                </a:avLst>
              </a:prstGeom>
              <a:solidFill>
                <a:srgbClr val="153166"/>
              </a:solidFill>
              <a:ln>
                <a:noFill/>
              </a:ln>
            </p:spPr>
          </p:sp>
          <p:grpSp>
            <p:nvGrpSpPr>
              <p:cNvPr id="10" name="Group 10"/>
              <p:cNvGrpSpPr/>
              <p:nvPr/>
            </p:nvGrpSpPr>
            <p:grpSpPr>
              <a:xfrm>
                <a:off x="852488" y="1847850"/>
                <a:ext cx="200025" cy="228600"/>
                <a:chOff x="852488" y="1847850"/>
                <a:chExt cx="200025" cy="228600"/>
              </a:xfrm>
            </p:grpSpPr>
            <p:sp>
              <p:nvSpPr>
                <p:cNvPr id="7" name="Freeform 7"/>
                <p:cNvSpPr/>
                <p:nvPr/>
              </p:nvSpPr>
              <p:spPr>
                <a:xfrm>
                  <a:off x="852488" y="1847850"/>
                  <a:ext cx="200025" cy="114300"/>
                </a:xfrm>
                <a:custGeom>
                  <a:avLst/>
                  <a:gdLst/>
                  <a:ahLst/>
                  <a:cxnLst/>
                  <a:rect l="l" t="t" r="r" b="b"/>
                  <a:pathLst>
                    <a:path w="200025" h="114300">
                      <a:moveTo>
                        <a:pt x="0" y="71438"/>
                      </a:moveTo>
                      <a:lnTo>
                        <a:pt x="0" y="42862"/>
                      </a:lnTo>
                      <a:lnTo>
                        <a:pt x="100012" y="0"/>
                      </a:lnTo>
                      <a:lnTo>
                        <a:pt x="200025" y="42862"/>
                      </a:lnTo>
                      <a:lnTo>
                        <a:pt x="200025" y="71438"/>
                      </a:lnTo>
                      <a:lnTo>
                        <a:pt x="100012" y="114300"/>
                      </a:lnTo>
                      <a:lnTo>
                        <a:pt x="0" y="71438"/>
                      </a:lnTo>
                      <a:close/>
                    </a:path>
                  </a:pathLst>
                </a:custGeom>
                <a:solidFill>
                  <a:srgbClr val="153166"/>
                </a:solidFill>
                <a:ln>
                  <a:noFill/>
                </a:ln>
              </p:spPr>
            </p:sp>
            <p:sp>
              <p:nvSpPr>
                <p:cNvPr id="8" name="Freeform 8"/>
                <p:cNvSpPr/>
                <p:nvPr/>
              </p:nvSpPr>
              <p:spPr>
                <a:xfrm>
                  <a:off x="852488" y="2005012"/>
                  <a:ext cx="200025" cy="71438"/>
                </a:xfrm>
                <a:custGeom>
                  <a:avLst/>
                  <a:gdLst/>
                  <a:ahLst/>
                  <a:cxnLst/>
                  <a:rect l="l" t="t" r="r" b="b"/>
                  <a:pathLst>
                    <a:path w="200025" h="71438">
                      <a:moveTo>
                        <a:pt x="100012" y="71438"/>
                      </a:moveTo>
                      <a:lnTo>
                        <a:pt x="0" y="28575"/>
                      </a:lnTo>
                      <a:lnTo>
                        <a:pt x="0" y="0"/>
                      </a:lnTo>
                      <a:lnTo>
                        <a:pt x="100012" y="42862"/>
                      </a:lnTo>
                      <a:lnTo>
                        <a:pt x="200025" y="0"/>
                      </a:lnTo>
                      <a:lnTo>
                        <a:pt x="200025" y="28575"/>
                      </a:lnTo>
                      <a:lnTo>
                        <a:pt x="100012" y="71438"/>
                      </a:lnTo>
                      <a:close/>
                    </a:path>
                  </a:pathLst>
                </a:custGeom>
                <a:solidFill>
                  <a:srgbClr val="153166"/>
                </a:solidFill>
                <a:ln>
                  <a:noFill/>
                </a:ln>
              </p:spPr>
            </p:sp>
            <p:sp>
              <p:nvSpPr>
                <p:cNvPr id="9" name="Freeform 9"/>
                <p:cNvSpPr/>
                <p:nvPr/>
              </p:nvSpPr>
              <p:spPr>
                <a:xfrm>
                  <a:off x="852488" y="1947862"/>
                  <a:ext cx="200025" cy="71438"/>
                </a:xfrm>
                <a:custGeom>
                  <a:avLst/>
                  <a:gdLst/>
                  <a:ahLst/>
                  <a:cxnLst/>
                  <a:rect l="l" t="t" r="r" b="b"/>
                  <a:pathLst>
                    <a:path w="200025" h="71438">
                      <a:moveTo>
                        <a:pt x="0" y="28575"/>
                      </a:moveTo>
                      <a:lnTo>
                        <a:pt x="100012" y="71438"/>
                      </a:lnTo>
                      <a:lnTo>
                        <a:pt x="200025" y="28575"/>
                      </a:lnTo>
                      <a:lnTo>
                        <a:pt x="200025" y="0"/>
                      </a:lnTo>
                      <a:lnTo>
                        <a:pt x="100012" y="42862"/>
                      </a:lnTo>
                      <a:lnTo>
                        <a:pt x="0" y="0"/>
                      </a:lnTo>
                      <a:lnTo>
                        <a:pt x="0" y="28575"/>
                      </a:lnTo>
                      <a:close/>
                    </a:path>
                  </a:pathLst>
                </a:custGeom>
                <a:solidFill>
                  <a:srgbClr val="153166"/>
                </a:solidFill>
                <a:ln>
                  <a:noFill/>
                </a:ln>
              </p:spPr>
            </p:sp>
          </p:grpSp>
          <p:sp>
            <p:nvSpPr>
              <p:cNvPr id="11" name="TextBox 11"/>
              <p:cNvSpPr txBox="1"/>
              <p:nvPr/>
            </p:nvSpPr>
            <p:spPr>
              <a:xfrm>
                <a:off x="1163955" y="1873568"/>
                <a:ext cx="790384" cy="274320"/>
              </a:xfrm>
              <a:prstGeom prst="rect">
                <a:avLst/>
              </a:prstGeom>
              <a:noFill/>
              <a:ln>
                <a:noFill/>
              </a:ln>
            </p:spPr>
            <p:txBody>
              <a:bodyPr wrap="none" lIns="0" tIns="0" rIns="0" bIns="0" anchor="t" anchorCtr="0">
                <a:spAutoFit/>
              </a:bodyPr>
              <a:lstStyle/>
              <a:p>
                <a:pPr algn="l"/>
                <a:r>
                  <a:rPr lang="zh-CN" sz="1350" b="1" dirty="0">
                    <a:solidFill>
                      <a:srgbClr val="171C24"/>
                    </a:solidFill>
                    <a:latin typeface="Plus Jakarta Sans"/>
                    <a:ea typeface="Microsoft JhengHei"/>
                    <a:cs typeface="Plus Jakarta Sans"/>
                  </a:rPr>
                  <a:t>版面規剞</a:t>
                </a:r>
              </a:p>
            </p:txBody>
          </p:sp>
          <p:grpSp>
            <p:nvGrpSpPr>
              <p:cNvPr id="20" name="Group 20"/>
              <p:cNvGrpSpPr/>
              <p:nvPr/>
            </p:nvGrpSpPr>
            <p:grpSpPr>
              <a:xfrm>
                <a:off x="838200" y="2381250"/>
                <a:ext cx="4114800" cy="2762250"/>
                <a:chOff x="838200" y="2381250"/>
                <a:chExt cx="4114800" cy="2762250"/>
              </a:xfrm>
            </p:grpSpPr>
            <p:sp>
              <p:nvSpPr>
                <p:cNvPr id="12" name="Rectangle 12"/>
                <p:cNvSpPr/>
                <p:nvPr/>
              </p:nvSpPr>
              <p:spPr>
                <a:xfrm>
                  <a:off x="838200" y="2381250"/>
                  <a:ext cx="4114800" cy="2762250"/>
                </a:xfrm>
                <a:prstGeom prst="roundRect">
                  <a:avLst>
                    <a:gd name="adj" fmla="val 2759"/>
                  </a:avLst>
                </a:prstGeom>
                <a:solidFill>
                  <a:srgbClr val="F8F8F6"/>
                </a:solidFill>
                <a:ln w="9525">
                  <a:solidFill>
                    <a:srgbClr val="E5E3DE"/>
                  </a:solidFill>
                </a:ln>
              </p:spPr>
            </p:sp>
            <p:sp>
              <p:nvSpPr>
                <p:cNvPr id="13" name="TextBox 13"/>
                <p:cNvSpPr txBox="1"/>
                <p:nvPr/>
              </p:nvSpPr>
              <p:spPr>
                <a:xfrm>
                  <a:off x="1013460" y="2556510"/>
                  <a:ext cx="1299039" cy="243840"/>
                </a:xfrm>
                <a:prstGeom prst="rect">
                  <a:avLst/>
                </a:prstGeom>
                <a:noFill/>
                <a:ln>
                  <a:noFill/>
                </a:ln>
              </p:spPr>
              <p:txBody>
                <a:bodyPr wrap="none" lIns="0" tIns="0" rIns="0" bIns="0" anchor="t" anchorCtr="0">
                  <a:spAutoFit/>
                </a:bodyPr>
                <a:lstStyle/>
                <a:p>
                  <a:pPr algn="l"/>
                  <a:r>
                    <a:rPr lang="zh-CN" sz="1200" b="1" dirty="0">
                      <a:solidFill>
                        <a:srgbClr val="153166"/>
                      </a:solidFill>
                      <a:latin typeface="Plus Jakarta Sans"/>
                      <a:ea typeface="Microsoft JhengHei"/>
                      <a:cs typeface="Plus Jakarta Sans"/>
                    </a:rPr>
                    <a:t>Wizard 嚮導介面</a:t>
                  </a:r>
                </a:p>
              </p:txBody>
            </p:sp>
            <p:sp>
              <p:nvSpPr>
                <p:cNvPr id="14" name="TextBox 14"/>
                <p:cNvSpPr txBox="1"/>
                <p:nvPr/>
              </p:nvSpPr>
              <p:spPr>
                <a:xfrm>
                  <a:off x="1014412" y="2926556"/>
                  <a:ext cx="2162967" cy="228600"/>
                </a:xfrm>
                <a:prstGeom prst="rect">
                  <a:avLst/>
                </a:prstGeom>
                <a:noFill/>
                <a:ln>
                  <a:noFill/>
                </a:ln>
              </p:spPr>
              <p:txBody>
                <a:bodyPr wrap="none" lIns="0" tIns="0" rIns="0" bIns="0" anchor="t" anchorCtr="0">
                  <a:spAutoFit/>
                </a:bodyPr>
                <a:lstStyle/>
                <a:p>
                  <a:pPr algn="l"/>
                  <a:r>
                    <a:rPr lang="zh-CN" sz="1125" b="1" dirty="0">
                      <a:solidFill>
                        <a:srgbClr val="171C24"/>
                      </a:solidFill>
                      <a:latin typeface="Manrope"/>
                      <a:ea typeface="Microsoft JhengHei"/>
                      <a:cs typeface="Manrope"/>
                    </a:rPr>
                    <a:t>1. 輸入三項關鍵字 &amp; 產品概述</a:t>
                  </a:r>
                </a:p>
              </p:txBody>
            </p:sp>
            <p:sp>
              <p:nvSpPr>
                <p:cNvPr id="15" name="TextBox 15"/>
                <p:cNvSpPr txBox="1"/>
                <p:nvPr/>
              </p:nvSpPr>
              <p:spPr>
                <a:xfrm>
                  <a:off x="1167765" y="3182302"/>
                  <a:ext cx="2687002" cy="213360"/>
                </a:xfrm>
                <a:prstGeom prst="rect">
                  <a:avLst/>
                </a:prstGeom>
                <a:noFill/>
                <a:ln>
                  <a:noFill/>
                </a:ln>
              </p:spPr>
              <p:txBody>
                <a:bodyPr wrap="none" lIns="0" tIns="0" rIns="0" bIns="0" anchor="t" anchorCtr="0">
                  <a:spAutoFit/>
                </a:bodyPr>
                <a:lstStyle/>
                <a:p>
                  <a:pPr algn="l"/>
                  <a:r>
                    <a:rPr lang="zh-CN" sz="1050" dirty="0">
                      <a:solidFill>
                        <a:srgbClr val="525864"/>
                      </a:solidFill>
                      <a:latin typeface="Manrope"/>
                      <a:ea typeface="Microsoft JhengHei"/>
                      <a:cs typeface="Manrope"/>
                    </a:rPr>
                    <a:t>產品名稱、目標受眾、核心場景與願景概述</a:t>
                  </a:r>
                </a:p>
              </p:txBody>
            </p:sp>
            <p:sp>
              <p:nvSpPr>
                <p:cNvPr id="16" name="TextBox 16"/>
                <p:cNvSpPr txBox="1"/>
                <p:nvPr/>
              </p:nvSpPr>
              <p:spPr>
                <a:xfrm>
                  <a:off x="1014412" y="3640931"/>
                  <a:ext cx="1194221" cy="228600"/>
                </a:xfrm>
                <a:prstGeom prst="rect">
                  <a:avLst/>
                </a:prstGeom>
                <a:noFill/>
                <a:ln>
                  <a:noFill/>
                </a:ln>
              </p:spPr>
              <p:txBody>
                <a:bodyPr wrap="none" lIns="0" tIns="0" rIns="0" bIns="0" anchor="t" anchorCtr="0">
                  <a:spAutoFit/>
                </a:bodyPr>
                <a:lstStyle/>
                <a:p>
                  <a:pPr algn="l"/>
                  <a:r>
                    <a:rPr lang="zh-CN" sz="1125" b="1" dirty="0">
                      <a:solidFill>
                        <a:srgbClr val="171C24"/>
                      </a:solidFill>
                      <a:latin typeface="Manrope"/>
                      <a:ea typeface="Microsoft JhengHei"/>
                      <a:cs typeface="Manrope"/>
                    </a:rPr>
                    <a:t>2. 右側動態渲染</a:t>
                  </a:r>
                </a:p>
              </p:txBody>
            </p:sp>
            <p:sp>
              <p:nvSpPr>
                <p:cNvPr id="17" name="TextBox 17"/>
                <p:cNvSpPr txBox="1"/>
                <p:nvPr/>
              </p:nvSpPr>
              <p:spPr>
                <a:xfrm>
                  <a:off x="1167765" y="3896678"/>
                  <a:ext cx="3282077" cy="213360"/>
                </a:xfrm>
                <a:prstGeom prst="rect">
                  <a:avLst/>
                </a:prstGeom>
                <a:noFill/>
                <a:ln>
                  <a:noFill/>
                </a:ln>
              </p:spPr>
              <p:txBody>
                <a:bodyPr wrap="none" lIns="0" tIns="0" rIns="0" bIns="0" anchor="t" anchorCtr="0">
                  <a:spAutoFit/>
                </a:bodyPr>
                <a:lstStyle/>
                <a:p>
                  <a:pPr algn="l"/>
                  <a:r>
                    <a:rPr lang="zh-CN" sz="1050" dirty="0">
                      <a:solidFill>
                        <a:srgbClr val="525864"/>
                      </a:solidFill>
                      <a:latin typeface="Manrope"/>
                      <a:ea typeface="Microsoft JhengHei"/>
                      <a:cs typeface="Manrope"/>
                    </a:rPr>
                    <a:t>即時生成標準規格結構（含功能清單、User Story）</a:t>
                  </a:r>
                </a:p>
              </p:txBody>
            </p:sp>
            <p:sp>
              <p:nvSpPr>
                <p:cNvPr id="18" name="TextBox 18"/>
                <p:cNvSpPr txBox="1"/>
                <p:nvPr/>
              </p:nvSpPr>
              <p:spPr>
                <a:xfrm>
                  <a:off x="1014412" y="4355306"/>
                  <a:ext cx="1036701" cy="228600"/>
                </a:xfrm>
                <a:prstGeom prst="rect">
                  <a:avLst/>
                </a:prstGeom>
                <a:noFill/>
                <a:ln>
                  <a:noFill/>
                </a:ln>
              </p:spPr>
              <p:txBody>
                <a:bodyPr wrap="none" lIns="0" tIns="0" rIns="0" bIns="0" anchor="t" anchorCtr="0">
                  <a:spAutoFit/>
                </a:bodyPr>
                <a:lstStyle/>
                <a:p>
                  <a:pPr algn="l"/>
                  <a:r>
                    <a:rPr lang="zh-CN" sz="1125" b="1" dirty="0">
                      <a:solidFill>
                        <a:srgbClr val="171C24"/>
                      </a:solidFill>
                      <a:latin typeface="Manrope"/>
                      <a:ea typeface="Microsoft JhengHei"/>
                      <a:cs typeface="Manrope"/>
                    </a:rPr>
                    <a:t>3. 交付物初稿</a:t>
                  </a:r>
                </a:p>
              </p:txBody>
            </p:sp>
            <p:sp>
              <p:nvSpPr>
                <p:cNvPr id="19" name="TextBox 19"/>
                <p:cNvSpPr txBox="1"/>
                <p:nvPr/>
              </p:nvSpPr>
              <p:spPr>
                <a:xfrm>
                  <a:off x="1167765" y="4611052"/>
                  <a:ext cx="2722007" cy="213360"/>
                </a:xfrm>
                <a:prstGeom prst="rect">
                  <a:avLst/>
                </a:prstGeom>
                <a:noFill/>
                <a:ln>
                  <a:noFill/>
                </a:ln>
              </p:spPr>
              <p:txBody>
                <a:bodyPr wrap="none" lIns="0" tIns="0" rIns="0" bIns="0" anchor="t" anchorCtr="0">
                  <a:spAutoFit/>
                </a:bodyPr>
                <a:lstStyle/>
                <a:p>
                  <a:pPr algn="l"/>
                  <a:r>
                    <a:rPr lang="zh-CN" sz="1050" dirty="0">
                      <a:solidFill>
                        <a:srgbClr val="525864"/>
                      </a:solidFill>
                      <a:latin typeface="Manrope"/>
                      <a:ea typeface="Microsoft JhengHei"/>
                      <a:cs typeface="Manrope"/>
                    </a:rPr>
                    <a:t>一鍵匯出可供開發團隊閱讀的標準 PRD 草稿</a:t>
                  </a:r>
                </a:p>
              </p:txBody>
            </p:sp>
          </p:grpSp>
        </p:grpSp>
        <p:grpSp>
          <p:nvGrpSpPr>
            <p:cNvPr id="44" name="Group 44"/>
            <p:cNvGrpSpPr/>
            <p:nvPr/>
          </p:nvGrpSpPr>
          <p:grpSpPr>
            <a:xfrm>
              <a:off x="5562600" y="1619250"/>
              <a:ext cx="6019800" cy="3810000"/>
              <a:chOff x="5562600" y="1619250"/>
              <a:chExt cx="6019800" cy="3810000"/>
            </a:xfrm>
          </p:grpSpPr>
          <p:sp>
            <p:nvSpPr>
              <p:cNvPr id="22" name="Rectangle 22"/>
              <p:cNvSpPr/>
              <p:nvPr/>
            </p:nvSpPr>
            <p:spPr>
              <a:xfrm>
                <a:off x="5562600" y="1619250"/>
                <a:ext cx="6019800" cy="3810000"/>
              </a:xfrm>
              <a:prstGeom prst="roundRect">
                <a:avLst>
                  <a:gd name="adj" fmla="val 4000"/>
                </a:avLst>
              </a:prstGeom>
              <a:solidFill>
                <a:srgbClr val="FFFFFF"/>
              </a:solidFill>
              <a:ln w="14288">
                <a:solidFill>
                  <a:srgbClr val="E5E3DE"/>
                </a:solidFill>
              </a:ln>
            </p:spPr>
          </p:sp>
          <p:sp>
            <p:nvSpPr>
              <p:cNvPr id="23" name="Freeform 23"/>
              <p:cNvSpPr/>
              <p:nvPr/>
            </p:nvSpPr>
            <p:spPr>
              <a:xfrm>
                <a:off x="5819775" y="1847850"/>
                <a:ext cx="171450" cy="228600"/>
              </a:xfrm>
              <a:custGeom>
                <a:avLst/>
                <a:gdLst/>
                <a:ahLst/>
                <a:cxnLst/>
                <a:rect l="l" t="t" r="r" b="b"/>
                <a:pathLst>
                  <a:path w="171450" h="228600">
                    <a:moveTo>
                      <a:pt x="100012" y="100012"/>
                    </a:moveTo>
                    <a:lnTo>
                      <a:pt x="114300" y="0"/>
                    </a:lnTo>
                    <a:lnTo>
                      <a:pt x="85725" y="0"/>
                    </a:lnTo>
                    <a:lnTo>
                      <a:pt x="0" y="100012"/>
                    </a:lnTo>
                    <a:lnTo>
                      <a:pt x="0" y="128588"/>
                    </a:lnTo>
                    <a:lnTo>
                      <a:pt x="71438" y="128588"/>
                    </a:lnTo>
                    <a:lnTo>
                      <a:pt x="57150" y="228600"/>
                    </a:lnTo>
                    <a:lnTo>
                      <a:pt x="85725" y="228600"/>
                    </a:lnTo>
                    <a:lnTo>
                      <a:pt x="171450" y="128588"/>
                    </a:lnTo>
                    <a:lnTo>
                      <a:pt x="171450" y="100012"/>
                    </a:lnTo>
                    <a:lnTo>
                      <a:pt x="100012" y="100012"/>
                    </a:lnTo>
                    <a:close/>
                  </a:path>
                </a:pathLst>
              </a:custGeom>
              <a:solidFill>
                <a:srgbClr val="00969D"/>
              </a:solidFill>
              <a:ln>
                <a:noFill/>
              </a:ln>
            </p:spPr>
          </p:sp>
          <p:sp>
            <p:nvSpPr>
              <p:cNvPr id="24" name="TextBox 24"/>
              <p:cNvSpPr txBox="1"/>
              <p:nvPr/>
            </p:nvSpPr>
            <p:spPr>
              <a:xfrm>
                <a:off x="6116955" y="1873568"/>
                <a:ext cx="1546479" cy="274320"/>
              </a:xfrm>
              <a:prstGeom prst="rect">
                <a:avLst/>
              </a:prstGeom>
              <a:noFill/>
              <a:ln>
                <a:noFill/>
              </a:ln>
            </p:spPr>
            <p:txBody>
              <a:bodyPr wrap="none" lIns="0" tIns="0" rIns="0" bIns="0" anchor="t" anchorCtr="0">
                <a:spAutoFit/>
              </a:bodyPr>
              <a:lstStyle/>
              <a:p>
                <a:pPr algn="l"/>
                <a:r>
                  <a:rPr lang="zh-CN" sz="1350" b="1" dirty="0">
                    <a:solidFill>
                      <a:srgbClr val="171C24"/>
                    </a:solidFill>
                    <a:latin typeface="Plus Jakarta Sans"/>
                    <a:ea typeface="Microsoft JhengHei"/>
                    <a:cs typeface="Plus Jakarta Sans"/>
                  </a:rPr>
                  <a:t>主浅程與運作機制</a:t>
                </a:r>
              </a:p>
            </p:txBody>
          </p:sp>
          <p:grpSp>
            <p:nvGrpSpPr>
              <p:cNvPr id="28" name="Group 28"/>
              <p:cNvGrpSpPr/>
              <p:nvPr/>
            </p:nvGrpSpPr>
            <p:grpSpPr>
              <a:xfrm>
                <a:off x="5943600" y="2381250"/>
                <a:ext cx="2286000" cy="914400"/>
                <a:chOff x="5943600" y="2381250"/>
                <a:chExt cx="2286000" cy="914400"/>
              </a:xfrm>
            </p:grpSpPr>
            <p:sp>
              <p:nvSpPr>
                <p:cNvPr id="25" name="Rectangle 25"/>
                <p:cNvSpPr/>
                <p:nvPr/>
              </p:nvSpPr>
              <p:spPr>
                <a:xfrm>
                  <a:off x="5943600" y="2381250"/>
                  <a:ext cx="2286000" cy="914400"/>
                </a:xfrm>
                <a:prstGeom prst="roundRect">
                  <a:avLst>
                    <a:gd name="adj" fmla="val 8333"/>
                  </a:avLst>
                </a:prstGeom>
                <a:solidFill>
                  <a:srgbClr val="FFFFFF"/>
                </a:solidFill>
                <a:ln w="14288">
                  <a:solidFill>
                    <a:srgbClr val="153166"/>
                  </a:solidFill>
                </a:ln>
              </p:spPr>
            </p:sp>
            <p:sp>
              <p:nvSpPr>
                <p:cNvPr id="26" name="TextBox 26"/>
                <p:cNvSpPr txBox="1"/>
                <p:nvPr/>
              </p:nvSpPr>
              <p:spPr>
                <a:xfrm>
                  <a:off x="6632210" y="2629852"/>
                  <a:ext cx="908780" cy="213360"/>
                </a:xfrm>
                <a:prstGeom prst="rect">
                  <a:avLst/>
                </a:prstGeom>
                <a:noFill/>
                <a:ln>
                  <a:noFill/>
                </a:ln>
              </p:spPr>
              <p:txBody>
                <a:bodyPr wrap="none" lIns="0" tIns="0" rIns="0" bIns="0" anchor="t" anchorCtr="0">
                  <a:spAutoFit/>
                </a:bodyPr>
                <a:lstStyle/>
                <a:p>
                  <a:pPr algn="ctr"/>
                  <a:r>
                    <a:rPr lang="zh-CN" sz="1050" b="1" dirty="0">
                      <a:solidFill>
                        <a:srgbClr val="153166"/>
                      </a:solidFill>
                      <a:latin typeface="Plus Jakarta Sans"/>
                      <a:ea typeface="Microsoft JhengHei"/>
                      <a:cs typeface="Plus Jakarta Sans"/>
                    </a:rPr>
                    <a:t>輸入關鍵資訊</a:t>
                  </a:r>
                </a:p>
              </p:txBody>
            </p:sp>
            <p:sp>
              <p:nvSpPr>
                <p:cNvPr id="27" name="TextBox 27"/>
                <p:cNvSpPr txBox="1"/>
                <p:nvPr/>
              </p:nvSpPr>
              <p:spPr>
                <a:xfrm>
                  <a:off x="6466094" y="2893695"/>
                  <a:ext cx="1241012" cy="182880"/>
                </a:xfrm>
                <a:prstGeom prst="rect">
                  <a:avLst/>
                </a:prstGeom>
                <a:noFill/>
                <a:ln>
                  <a:noFill/>
                </a:ln>
              </p:spPr>
              <p:txBody>
                <a:bodyPr wrap="none" lIns="0" tIns="0" rIns="0" bIns="0" anchor="t" anchorCtr="0">
                  <a:spAutoFit/>
                </a:bodyPr>
                <a:lstStyle/>
                <a:p>
                  <a:pPr algn="ctr"/>
                  <a:r>
                    <a:rPr lang="zh-CN" sz="900" dirty="0">
                      <a:solidFill>
                        <a:srgbClr val="525864"/>
                      </a:solidFill>
                      <a:latin typeface="Plus Jakarta Sans"/>
                      <a:ea typeface="Microsoft JhengHei"/>
                      <a:cs typeface="Plus Jakarta Sans"/>
                    </a:rPr>
                    <a:t>三項關鵵字 &amp; 產品概述</a:t>
                  </a:r>
                </a:p>
              </p:txBody>
            </p:sp>
          </p:grpSp>
          <p:sp>
            <p:nvSpPr>
              <p:cNvPr id="29" name="Freeform 29"/>
              <p:cNvSpPr/>
              <p:nvPr/>
            </p:nvSpPr>
            <p:spPr>
              <a:xfrm>
                <a:off x="8324850" y="2838450"/>
                <a:ext cx="381000" cy="9525"/>
              </a:xfrm>
              <a:custGeom>
                <a:avLst/>
                <a:gdLst/>
                <a:ahLst/>
                <a:cxnLst/>
                <a:rect l="l" t="t" r="r" b="b"/>
                <a:pathLst>
                  <a:path w="381000" h="9525">
                    <a:moveTo>
                      <a:pt x="0" y="0"/>
                    </a:moveTo>
                    <a:lnTo>
                      <a:pt x="381000" y="0"/>
                    </a:lnTo>
                  </a:path>
                </a:pathLst>
              </a:custGeom>
              <a:noFill/>
              <a:ln w="19050">
                <a:solidFill>
                  <a:srgbClr val="E5E3DE"/>
                </a:solidFill>
              </a:ln>
            </p:spPr>
          </p:sp>
          <p:sp>
            <p:nvSpPr>
              <p:cNvPr id="30" name="Polygon 30"/>
              <p:cNvSpPr/>
              <p:nvPr/>
            </p:nvSpPr>
            <p:spPr>
              <a:xfrm>
                <a:off x="8667750" y="2800350"/>
                <a:ext cx="76200" cy="76200"/>
              </a:xfrm>
              <a:custGeom>
                <a:avLst/>
                <a:gdLst/>
                <a:ahLst/>
                <a:cxnLst/>
                <a:rect l="l" t="t" r="r" b="b"/>
                <a:pathLst>
                  <a:path w="76200" h="76200">
                    <a:moveTo>
                      <a:pt x="76200" y="38100"/>
                    </a:moveTo>
                    <a:lnTo>
                      <a:pt x="0" y="0"/>
                    </a:lnTo>
                    <a:lnTo>
                      <a:pt x="0" y="76200"/>
                    </a:lnTo>
                    <a:close/>
                  </a:path>
                </a:pathLst>
              </a:custGeom>
              <a:solidFill>
                <a:srgbClr val="E5E3DE"/>
              </a:solidFill>
              <a:ln>
                <a:noFill/>
              </a:ln>
            </p:spPr>
          </p:sp>
          <p:grpSp>
            <p:nvGrpSpPr>
              <p:cNvPr id="33" name="Group 33"/>
              <p:cNvGrpSpPr/>
              <p:nvPr/>
            </p:nvGrpSpPr>
            <p:grpSpPr>
              <a:xfrm>
                <a:off x="8801100" y="2381250"/>
                <a:ext cx="2286000" cy="914400"/>
                <a:chOff x="8801100" y="2381250"/>
                <a:chExt cx="2286000" cy="914400"/>
              </a:xfrm>
            </p:grpSpPr>
            <p:sp>
              <p:nvSpPr>
                <p:cNvPr id="31" name="Rectangle 31"/>
                <p:cNvSpPr/>
                <p:nvPr/>
              </p:nvSpPr>
              <p:spPr>
                <a:xfrm>
                  <a:off x="8801100" y="2381250"/>
                  <a:ext cx="2286000" cy="914400"/>
                </a:xfrm>
                <a:prstGeom prst="roundRect">
                  <a:avLst>
                    <a:gd name="adj" fmla="val 8333"/>
                  </a:avLst>
                </a:prstGeom>
                <a:solidFill>
                  <a:srgbClr val="FFFFFF"/>
                </a:solidFill>
                <a:ln w="14288">
                  <a:solidFill>
                    <a:srgbClr val="153166"/>
                  </a:solidFill>
                </a:ln>
              </p:spPr>
            </p:sp>
            <p:sp>
              <p:nvSpPr>
                <p:cNvPr id="32" name="TextBox 32"/>
                <p:cNvSpPr txBox="1"/>
                <p:nvPr/>
              </p:nvSpPr>
              <p:spPr>
                <a:xfrm>
                  <a:off x="9408850" y="2782252"/>
                  <a:ext cx="1070500" cy="213360"/>
                </a:xfrm>
                <a:prstGeom prst="rect">
                  <a:avLst/>
                </a:prstGeom>
                <a:noFill/>
                <a:ln>
                  <a:noFill/>
                </a:ln>
              </p:spPr>
              <p:txBody>
                <a:bodyPr wrap="none" lIns="0" tIns="0" rIns="0" bIns="0" anchor="t" anchorCtr="0">
                  <a:spAutoFit/>
                </a:bodyPr>
                <a:lstStyle/>
                <a:p>
                  <a:pPr algn="ctr"/>
                  <a:r>
                    <a:rPr lang="zh-CN" sz="1050" b="1" dirty="0">
                      <a:solidFill>
                        <a:srgbClr val="171C24"/>
                      </a:solidFill>
                      <a:latin typeface="Plus Jakarta Sans"/>
                      <a:ea typeface="Microsoft JhengHei"/>
                      <a:cs typeface="Plus Jakarta Sans"/>
                    </a:rPr>
                    <a:t>AI PRD 引擎處理</a:t>
                  </a:r>
                </a:p>
              </p:txBody>
            </p:sp>
          </p:grpSp>
          <p:sp>
            <p:nvSpPr>
              <p:cNvPr id="34" name="Freeform 34"/>
              <p:cNvSpPr/>
              <p:nvPr/>
            </p:nvSpPr>
            <p:spPr>
              <a:xfrm>
                <a:off x="7086600" y="3390900"/>
                <a:ext cx="2857500" cy="514350"/>
              </a:xfrm>
              <a:custGeom>
                <a:avLst/>
                <a:gdLst/>
                <a:ahLst/>
                <a:cxnLst/>
                <a:rect l="l" t="t" r="r" b="b"/>
                <a:pathLst>
                  <a:path w="2857500" h="514350">
                    <a:moveTo>
                      <a:pt x="2857500" y="0"/>
                    </a:moveTo>
                    <a:lnTo>
                      <a:pt x="2857500" y="228600"/>
                    </a:lnTo>
                    <a:lnTo>
                      <a:pt x="0" y="228600"/>
                    </a:lnTo>
                    <a:lnTo>
                      <a:pt x="0" y="514350"/>
                    </a:lnTo>
                  </a:path>
                </a:pathLst>
              </a:custGeom>
              <a:noFill/>
              <a:ln w="19050">
                <a:solidFill>
                  <a:srgbClr val="00969D"/>
                </a:solidFill>
              </a:ln>
            </p:spPr>
          </p:sp>
          <p:sp>
            <p:nvSpPr>
              <p:cNvPr id="35" name="Polygon 35"/>
              <p:cNvSpPr/>
              <p:nvPr/>
            </p:nvSpPr>
            <p:spPr>
              <a:xfrm>
                <a:off x="7048500" y="3867150"/>
                <a:ext cx="76200" cy="76200"/>
              </a:xfrm>
              <a:custGeom>
                <a:avLst/>
                <a:gdLst/>
                <a:ahLst/>
                <a:cxnLst/>
                <a:rect l="l" t="t" r="r" b="b"/>
                <a:pathLst>
                  <a:path w="76200" h="76200">
                    <a:moveTo>
                      <a:pt x="38100" y="76200"/>
                    </a:moveTo>
                    <a:lnTo>
                      <a:pt x="0" y="0"/>
                    </a:lnTo>
                    <a:lnTo>
                      <a:pt x="76200" y="0"/>
                    </a:lnTo>
                    <a:close/>
                  </a:path>
                </a:pathLst>
              </a:custGeom>
              <a:solidFill>
                <a:srgbClr val="00969D"/>
              </a:solidFill>
              <a:ln>
                <a:noFill/>
              </a:ln>
            </p:spPr>
          </p:sp>
          <p:grpSp>
            <p:nvGrpSpPr>
              <p:cNvPr id="38" name="Group 38"/>
              <p:cNvGrpSpPr/>
              <p:nvPr/>
            </p:nvGrpSpPr>
            <p:grpSpPr>
              <a:xfrm>
                <a:off x="5943600" y="3905250"/>
                <a:ext cx="2286000" cy="914400"/>
                <a:chOff x="5943600" y="3905250"/>
                <a:chExt cx="2286000" cy="914400"/>
              </a:xfrm>
            </p:grpSpPr>
            <p:sp>
              <p:nvSpPr>
                <p:cNvPr id="36" name="Rectangle 36"/>
                <p:cNvSpPr/>
                <p:nvPr/>
              </p:nvSpPr>
              <p:spPr>
                <a:xfrm>
                  <a:off x="5943600" y="3905250"/>
                  <a:ext cx="2286000" cy="914400"/>
                </a:xfrm>
                <a:prstGeom prst="roundRect">
                  <a:avLst>
                    <a:gd name="adj" fmla="val 8333"/>
                  </a:avLst>
                </a:prstGeom>
                <a:solidFill>
                  <a:srgbClr val="FFFFFF"/>
                </a:solidFill>
                <a:ln w="14288">
                  <a:solidFill>
                    <a:srgbClr val="00969D"/>
                  </a:solidFill>
                </a:ln>
              </p:spPr>
            </p:sp>
            <p:sp>
              <p:nvSpPr>
                <p:cNvPr id="37" name="TextBox 37"/>
                <p:cNvSpPr txBox="1"/>
                <p:nvPr/>
              </p:nvSpPr>
              <p:spPr>
                <a:xfrm>
                  <a:off x="6466814" y="4306252"/>
                  <a:ext cx="1239572" cy="213360"/>
                </a:xfrm>
                <a:prstGeom prst="rect">
                  <a:avLst/>
                </a:prstGeom>
                <a:noFill/>
                <a:ln>
                  <a:noFill/>
                </a:ln>
              </p:spPr>
              <p:txBody>
                <a:bodyPr wrap="none" lIns="0" tIns="0" rIns="0" bIns="0" anchor="t" anchorCtr="0">
                  <a:spAutoFit/>
                </a:bodyPr>
                <a:lstStyle/>
                <a:p>
                  <a:pPr algn="ctr"/>
                  <a:r>
                    <a:rPr lang="zh-CN" sz="1050" b="1" dirty="0">
                      <a:solidFill>
                        <a:srgbClr val="171C24"/>
                      </a:solidFill>
                      <a:latin typeface="Plus Jakarta Sans"/>
                      <a:ea typeface="Microsoft JhengHei"/>
                      <a:cs typeface="Plus Jakarta Sans"/>
                    </a:rPr>
                    <a:t>動態渲染 PRD 入稿</a:t>
                  </a:r>
                </a:p>
              </p:txBody>
            </p:sp>
          </p:grpSp>
          <p:sp>
            <p:nvSpPr>
              <p:cNvPr id="39" name="Freeform 39"/>
              <p:cNvSpPr/>
              <p:nvPr/>
            </p:nvSpPr>
            <p:spPr>
              <a:xfrm>
                <a:off x="8324850" y="4362450"/>
                <a:ext cx="381000" cy="9525"/>
              </a:xfrm>
              <a:custGeom>
                <a:avLst/>
                <a:gdLst/>
                <a:ahLst/>
                <a:cxnLst/>
                <a:rect l="l" t="t" r="r" b="b"/>
                <a:pathLst>
                  <a:path w="381000" h="9525">
                    <a:moveTo>
                      <a:pt x="0" y="0"/>
                    </a:moveTo>
                    <a:lnTo>
                      <a:pt x="381000" y="0"/>
                    </a:lnTo>
                  </a:path>
                </a:pathLst>
              </a:custGeom>
              <a:noFill/>
              <a:ln w="19050">
                <a:solidFill>
                  <a:srgbClr val="E5E3DE"/>
                </a:solidFill>
              </a:ln>
            </p:spPr>
          </p:sp>
          <p:sp>
            <p:nvSpPr>
              <p:cNvPr id="40" name="Polygon 40"/>
              <p:cNvSpPr/>
              <p:nvPr/>
            </p:nvSpPr>
            <p:spPr>
              <a:xfrm>
                <a:off x="8667750" y="4324350"/>
                <a:ext cx="76200" cy="76200"/>
              </a:xfrm>
              <a:custGeom>
                <a:avLst/>
                <a:gdLst/>
                <a:ahLst/>
                <a:cxnLst/>
                <a:rect l="l" t="t" r="r" b="b"/>
                <a:pathLst>
                  <a:path w="76200" h="76200">
                    <a:moveTo>
                      <a:pt x="76200" y="38100"/>
                    </a:moveTo>
                    <a:lnTo>
                      <a:pt x="0" y="0"/>
                    </a:lnTo>
                    <a:lnTo>
                      <a:pt x="0" y="76200"/>
                    </a:lnTo>
                    <a:close/>
                  </a:path>
                </a:pathLst>
              </a:custGeom>
              <a:solidFill>
                <a:srgbClr val="E5E3DE"/>
              </a:solidFill>
              <a:ln>
                <a:noFill/>
              </a:ln>
            </p:spPr>
          </p:sp>
          <p:grpSp>
            <p:nvGrpSpPr>
              <p:cNvPr id="43" name="Group 43"/>
              <p:cNvGrpSpPr/>
              <p:nvPr/>
            </p:nvGrpSpPr>
            <p:grpSpPr>
              <a:xfrm>
                <a:off x="8801100" y="3905250"/>
                <a:ext cx="2286000" cy="914400"/>
                <a:chOff x="8801100" y="3905250"/>
                <a:chExt cx="2286000" cy="914400"/>
              </a:xfrm>
            </p:grpSpPr>
            <p:sp>
              <p:nvSpPr>
                <p:cNvPr id="41" name="Rectangle 41"/>
                <p:cNvSpPr/>
                <p:nvPr/>
              </p:nvSpPr>
              <p:spPr>
                <a:xfrm>
                  <a:off x="8801100" y="3905250"/>
                  <a:ext cx="2286000" cy="914400"/>
                </a:xfrm>
                <a:prstGeom prst="roundRect">
                  <a:avLst>
                    <a:gd name="adj" fmla="val 8333"/>
                  </a:avLst>
                </a:prstGeom>
                <a:solidFill>
                  <a:srgbClr val="FFFFFF"/>
                </a:solidFill>
                <a:ln w="14288">
                  <a:solidFill>
                    <a:srgbClr val="00969D"/>
                  </a:solidFill>
                </a:ln>
              </p:spPr>
            </p:sp>
            <p:sp>
              <p:nvSpPr>
                <p:cNvPr id="42" name="TextBox 42"/>
                <p:cNvSpPr txBox="1"/>
                <p:nvPr/>
              </p:nvSpPr>
              <p:spPr>
                <a:xfrm>
                  <a:off x="9416201" y="4306252"/>
                  <a:ext cx="1055799" cy="213360"/>
                </a:xfrm>
                <a:prstGeom prst="rect">
                  <a:avLst/>
                </a:prstGeom>
                <a:noFill/>
                <a:ln>
                  <a:noFill/>
                </a:ln>
              </p:spPr>
              <p:txBody>
                <a:bodyPr wrap="none" lIns="0" tIns="0" rIns="0" bIns="0" anchor="t" anchorCtr="0">
                  <a:spAutoFit/>
                </a:bodyPr>
                <a:lstStyle/>
                <a:p>
                  <a:pPr algn="ctr"/>
                  <a:r>
                    <a:rPr lang="zh-CN" sz="1050" b="1" dirty="0">
                      <a:solidFill>
                        <a:srgbClr val="00969D"/>
                      </a:solidFill>
                      <a:latin typeface="Plus Jakarta Sans"/>
                      <a:ea typeface="Microsoft JhengHei"/>
                      <a:cs typeface="Plus Jakarta Sans"/>
                    </a:rPr>
                    <a:t>匯出標準規格書</a:t>
                  </a:r>
                </a:p>
              </p:txBody>
            </p:sp>
          </p:grpSp>
        </p:grpSp>
      </p:grpSp>
      <p:sp>
        <p:nvSpPr>
          <p:cNvPr id="46" name="TextBox 46"/>
          <p:cNvSpPr txBox="1"/>
          <p:nvPr/>
        </p:nvSpPr>
        <p:spPr>
          <a:xfrm>
            <a:off x="598170" y="6475095"/>
            <a:ext cx="2579179" cy="182880"/>
          </a:xfrm>
          <a:prstGeom prst="rect">
            <a:avLst/>
          </a:prstGeom>
          <a:noFill/>
          <a:ln>
            <a:noFill/>
          </a:ln>
        </p:spPr>
        <p:txBody>
          <a:bodyPr wrap="none" lIns="0" tIns="0" rIns="0" bIns="0" anchor="t" anchorCtr="0">
            <a:spAutoFit/>
          </a:bodyPr>
          <a:lstStyle/>
          <a:p>
            <a:pPr algn="l"/>
            <a:r>
              <a:rPr lang="zh-CN" sz="900" dirty="0">
                <a:solidFill>
                  <a:srgbClr val="525864"/>
                </a:solidFill>
                <a:latin typeface="Manrope"/>
                <a:ea typeface="Microsoft JhengHei"/>
                <a:cs typeface="Manrope"/>
              </a:rPr>
              <a:t>PM PROPOSAL &amp; METRICS EDUCATION · PAGE 22</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400"/>
                                        <p:tgtEl>
                                          <p:spTgt spid="2"/>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slide(fromBottom)">
                                      <p:cBhvr>
                                        <p:cTn id="11" dur="400"/>
                                        <p:tgtEl>
                                          <p:spTgt spid="3"/>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image">
                                      <p:cBhvr>
                                        <p:cTn id="15" dur="400"/>
                                        <p:tgtEl>
                                          <p:spTgt spid="4"/>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45"/>
                                        </p:tgtEl>
                                        <p:attrNameLst>
                                          <p:attrName>style.visibility</p:attrName>
                                        </p:attrNameLst>
                                      </p:cBhvr>
                                      <p:to>
                                        <p:strVal val="visible"/>
                                      </p:to>
                                    </p:set>
                                    <p:animEffect transition="in" filter="fade">
                                      <p:cBhvr>
                                        <p:cTn id="19" dur="400"/>
                                        <p:tgtEl>
                                          <p:spTgt spid="45"/>
                                        </p:tgtEl>
                                      </p:cBhvr>
                                    </p:animEffect>
                                  </p:childTnLst>
                                </p:cTn>
                              </p:par>
                            </p:childTnLst>
                          </p:cTn>
                        </p:par>
                        <p:par>
                          <p:cTn id="20" fill="hold">
                            <p:stCondLst>
                              <p:cond delay="3600"/>
                            </p:stCondLst>
                            <p:childTnLst>
                              <p:par>
                                <p:cTn id="21" presetID="22" presetClass="entr" presetSubtype="1" fill="hold" nodeType="afterEffect">
                                  <p:stCondLst>
                                    <p:cond delay="0"/>
                                  </p:stCondLst>
                                  <p:childTnLst>
                                    <p:set>
                                      <p:cBhvr>
                                        <p:cTn id="22" dur="1" fill="hold">
                                          <p:stCondLst>
                                            <p:cond delay="0"/>
                                          </p:stCondLst>
                                        </p:cTn>
                                        <p:tgtEl>
                                          <p:spTgt spid="46"/>
                                        </p:tgtEl>
                                        <p:attrNameLst>
                                          <p:attrName>style.visibility</p:attrName>
                                        </p:attrNameLst>
                                      </p:cBhvr>
                                      <p:to>
                                        <p:strVal val="visible"/>
                                      </p:to>
                                    </p:set>
                                    <p:animEffect transition="in" filter="wipe(left)">
                                      <p:cBhvr>
                                        <p:cTn id="23" dur="4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45" grpId="0"/>
      <p:bldP spid="4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DFCF9"/>
          </a:solidFill>
          <a:ln>
            <a:noFill/>
          </a:ln>
        </p:spPr>
      </p:sp>
      <p:sp>
        <p:nvSpPr>
          <p:cNvPr id="3" name="TextBox 3"/>
          <p:cNvSpPr txBox="1"/>
          <p:nvPr/>
        </p:nvSpPr>
        <p:spPr>
          <a:xfrm>
            <a:off x="596265" y="648652"/>
            <a:ext cx="2114331" cy="213360"/>
          </a:xfrm>
          <a:prstGeom prst="rect">
            <a:avLst/>
          </a:prstGeom>
          <a:noFill/>
          <a:ln>
            <a:noFill/>
          </a:ln>
        </p:spPr>
        <p:txBody>
          <a:bodyPr wrap="none" lIns="0" tIns="0" rIns="0" bIns="0" anchor="t" anchorCtr="0">
            <a:spAutoFit/>
          </a:bodyPr>
          <a:lstStyle/>
          <a:p>
            <a:pPr algn="l"/>
            <a:r>
              <a:rPr lang="zh-CN" sz="1050" b="1" dirty="0">
                <a:solidFill>
                  <a:srgbClr val="007583"/>
                </a:solidFill>
                <a:latin typeface="Plus Jakarta Sans"/>
                <a:ea typeface="Microsoft JhengHei"/>
                <a:cs typeface="Plus Jakarta Sans"/>
              </a:rPr>
              <a:t>APPENDIX 02: AI PRD ASSISTANT</a:t>
            </a:r>
          </a:p>
        </p:txBody>
      </p:sp>
      <p:sp>
        <p:nvSpPr>
          <p:cNvPr id="4" name="TextBox 4"/>
          <p:cNvSpPr txBox="1"/>
          <p:nvPr/>
        </p:nvSpPr>
        <p:spPr>
          <a:xfrm>
            <a:off x="582930" y="916305"/>
            <a:ext cx="6595658" cy="426720"/>
          </a:xfrm>
          <a:prstGeom prst="rect">
            <a:avLst/>
          </a:prstGeom>
          <a:noFill/>
          <a:ln>
            <a:noFill/>
          </a:ln>
        </p:spPr>
        <p:txBody>
          <a:bodyPr wrap="none" lIns="0" tIns="0" rIns="0" bIns="0" anchor="t" anchorCtr="0">
            <a:spAutoFit/>
          </a:bodyPr>
          <a:lstStyle/>
          <a:p>
            <a:pPr algn="l"/>
            <a:r>
              <a:rPr lang="zh-CN" sz="2100" b="1" dirty="0">
                <a:solidFill>
                  <a:srgbClr val="171C24"/>
                </a:solidFill>
                <a:latin typeface="Plus Jakarta Sans"/>
                <a:ea typeface="Microsoft JhengHei"/>
                <a:cs typeface="Plus Jakarta Sans"/>
              </a:rPr>
              <a:t>我們承諾以每週成功匯出的 PRD 數量衡量產品價值</a:t>
            </a:r>
          </a:p>
        </p:txBody>
      </p:sp>
      <p:grpSp>
        <p:nvGrpSpPr>
          <p:cNvPr id="30" name="Group 30"/>
          <p:cNvGrpSpPr/>
          <p:nvPr/>
        </p:nvGrpSpPr>
        <p:grpSpPr>
          <a:xfrm>
            <a:off x="609600" y="1714500"/>
            <a:ext cx="10972800" cy="3810000"/>
            <a:chOff x="609600" y="1714500"/>
            <a:chExt cx="10972800" cy="3810000"/>
          </a:xfrm>
        </p:grpSpPr>
        <p:grpSp>
          <p:nvGrpSpPr>
            <p:cNvPr id="16" name="Group 16"/>
            <p:cNvGrpSpPr/>
            <p:nvPr/>
          </p:nvGrpSpPr>
          <p:grpSpPr>
            <a:xfrm>
              <a:off x="609600" y="1714500"/>
              <a:ext cx="4572000" cy="3810000"/>
              <a:chOff x="609600" y="1714500"/>
              <a:chExt cx="4572000" cy="3810000"/>
            </a:xfrm>
          </p:grpSpPr>
          <p:sp>
            <p:nvSpPr>
              <p:cNvPr id="5" name="Rectangle 5"/>
              <p:cNvSpPr/>
              <p:nvPr/>
            </p:nvSpPr>
            <p:spPr>
              <a:xfrm>
                <a:off x="609600" y="1714500"/>
                <a:ext cx="4572000" cy="3810000"/>
              </a:xfrm>
              <a:prstGeom prst="roundRect">
                <a:avLst>
                  <a:gd name="adj" fmla="val 4000"/>
                </a:avLst>
              </a:prstGeom>
              <a:solidFill>
                <a:srgbClr val="FFFFFF"/>
              </a:solidFill>
              <a:ln w="14288">
                <a:solidFill>
                  <a:srgbClr val="E5E3DE"/>
                </a:solidFill>
              </a:ln>
            </p:spPr>
          </p:sp>
          <p:sp>
            <p:nvSpPr>
              <p:cNvPr id="6" name="Rectangle 6"/>
              <p:cNvSpPr/>
              <p:nvPr/>
            </p:nvSpPr>
            <p:spPr>
              <a:xfrm>
                <a:off x="609600" y="1714500"/>
                <a:ext cx="4572000" cy="38100"/>
              </a:xfrm>
              <a:prstGeom prst="roundRect">
                <a:avLst>
                  <a:gd name="adj" fmla="val 50000"/>
                </a:avLst>
              </a:prstGeom>
              <a:solidFill>
                <a:srgbClr val="153166"/>
              </a:solidFill>
              <a:ln>
                <a:noFill/>
              </a:ln>
            </p:spPr>
          </p:sp>
          <p:grpSp>
            <p:nvGrpSpPr>
              <p:cNvPr id="9" name="Group 9"/>
              <p:cNvGrpSpPr/>
              <p:nvPr/>
            </p:nvGrpSpPr>
            <p:grpSpPr>
              <a:xfrm>
                <a:off x="838200" y="1943100"/>
                <a:ext cx="228600" cy="228600"/>
                <a:chOff x="838200" y="1943100"/>
                <a:chExt cx="228600" cy="228600"/>
              </a:xfrm>
            </p:grpSpPr>
            <p:sp>
              <p:nvSpPr>
                <p:cNvPr id="7" name="Freeform 7"/>
                <p:cNvSpPr/>
                <p:nvPr/>
              </p:nvSpPr>
              <p:spPr>
                <a:xfrm>
                  <a:off x="895350" y="2000250"/>
                  <a:ext cx="114300" cy="114300"/>
                </a:xfrm>
                <a:custGeom>
                  <a:avLst/>
                  <a:gdLst/>
                  <a:ahLst/>
                  <a:cxnLst/>
                  <a:rect l="l" t="t" r="r" b="b"/>
                  <a:pathLst>
                    <a:path w="114300" h="114300">
                      <a:moveTo>
                        <a:pt x="57150" y="0"/>
                      </a:moveTo>
                      <a:cubicBezTo>
                        <a:pt x="25587" y="0"/>
                        <a:pt x="0" y="25587"/>
                        <a:pt x="0" y="57150"/>
                      </a:cubicBezTo>
                      <a:cubicBezTo>
                        <a:pt x="0" y="88713"/>
                        <a:pt x="25587" y="114300"/>
                        <a:pt x="57150" y="114300"/>
                      </a:cubicBezTo>
                      <a:cubicBezTo>
                        <a:pt x="88713" y="114300"/>
                        <a:pt x="114300" y="88713"/>
                        <a:pt x="114300" y="57150"/>
                      </a:cubicBezTo>
                      <a:cubicBezTo>
                        <a:pt x="114300" y="25587"/>
                        <a:pt x="88713" y="0"/>
                        <a:pt x="57150" y="0"/>
                      </a:cubicBezTo>
                      <a:close/>
                      <a:moveTo>
                        <a:pt x="28575" y="57150"/>
                      </a:moveTo>
                      <a:cubicBezTo>
                        <a:pt x="28575" y="41368"/>
                        <a:pt x="41368" y="28575"/>
                        <a:pt x="57150" y="28575"/>
                      </a:cubicBezTo>
                      <a:cubicBezTo>
                        <a:pt x="72932" y="28575"/>
                        <a:pt x="85725" y="41368"/>
                        <a:pt x="85725" y="57150"/>
                      </a:cubicBezTo>
                      <a:cubicBezTo>
                        <a:pt x="85725" y="72932"/>
                        <a:pt x="72932" y="85725"/>
                        <a:pt x="57150" y="85725"/>
                      </a:cubicBezTo>
                      <a:cubicBezTo>
                        <a:pt x="41368" y="85725"/>
                        <a:pt x="28575" y="72932"/>
                        <a:pt x="28575" y="57150"/>
                      </a:cubicBezTo>
                      <a:close/>
                    </a:path>
                  </a:pathLst>
                </a:custGeom>
                <a:solidFill>
                  <a:srgbClr val="153166"/>
                </a:solidFill>
                <a:ln>
                  <a:noFill/>
                </a:ln>
              </p:spPr>
            </p:sp>
            <p:sp>
              <p:nvSpPr>
                <p:cNvPr id="8" name="Freeform 8"/>
                <p:cNvSpPr/>
                <p:nvPr/>
              </p:nvSpPr>
              <p:spPr>
                <a:xfrm>
                  <a:off x="838200" y="1943100"/>
                  <a:ext cx="228600" cy="228600"/>
                </a:xfrm>
                <a:custGeom>
                  <a:avLst/>
                  <a:gdLst/>
                  <a:ahLst/>
                  <a:cxnLst/>
                  <a:rect l="l" t="t" r="r" b="b"/>
                  <a:pathLst>
                    <a:path w="228600" h="228600">
                      <a:moveTo>
                        <a:pt x="114300" y="0"/>
                      </a:moveTo>
                      <a:cubicBezTo>
                        <a:pt x="51174" y="0"/>
                        <a:pt x="0" y="51174"/>
                        <a:pt x="0" y="114300"/>
                      </a:cubicBezTo>
                      <a:cubicBezTo>
                        <a:pt x="0" y="177426"/>
                        <a:pt x="51174" y="228600"/>
                        <a:pt x="114300" y="228600"/>
                      </a:cubicBezTo>
                      <a:cubicBezTo>
                        <a:pt x="177426" y="228600"/>
                        <a:pt x="228600" y="177426"/>
                        <a:pt x="228600" y="114300"/>
                      </a:cubicBezTo>
                      <a:cubicBezTo>
                        <a:pt x="228600" y="51174"/>
                        <a:pt x="177426" y="0"/>
                        <a:pt x="114300" y="0"/>
                      </a:cubicBezTo>
                      <a:close/>
                      <a:moveTo>
                        <a:pt x="28575" y="114300"/>
                      </a:moveTo>
                      <a:cubicBezTo>
                        <a:pt x="28575" y="66955"/>
                        <a:pt x="66955" y="28575"/>
                        <a:pt x="114300" y="28575"/>
                      </a:cubicBezTo>
                      <a:cubicBezTo>
                        <a:pt x="161644" y="28575"/>
                        <a:pt x="200025" y="66955"/>
                        <a:pt x="200025" y="114300"/>
                      </a:cubicBezTo>
                      <a:cubicBezTo>
                        <a:pt x="200025" y="161644"/>
                        <a:pt x="161644" y="200025"/>
                        <a:pt x="114300" y="200025"/>
                      </a:cubicBezTo>
                      <a:cubicBezTo>
                        <a:pt x="66955" y="200025"/>
                        <a:pt x="28575" y="161644"/>
                        <a:pt x="28575" y="114300"/>
                      </a:cubicBezTo>
                      <a:close/>
                    </a:path>
                  </a:pathLst>
                </a:custGeom>
                <a:solidFill>
                  <a:srgbClr val="153166"/>
                </a:solidFill>
                <a:ln>
                  <a:noFill/>
                </a:ln>
              </p:spPr>
            </p:sp>
          </p:grpSp>
          <p:sp>
            <p:nvSpPr>
              <p:cNvPr id="10" name="TextBox 10"/>
              <p:cNvSpPr txBox="1"/>
              <p:nvPr/>
            </p:nvSpPr>
            <p:spPr>
              <a:xfrm>
                <a:off x="1163955" y="1968818"/>
                <a:ext cx="1971782" cy="274320"/>
              </a:xfrm>
              <a:prstGeom prst="rect">
                <a:avLst/>
              </a:prstGeom>
              <a:noFill/>
              <a:ln>
                <a:noFill/>
              </a:ln>
            </p:spPr>
            <p:txBody>
              <a:bodyPr wrap="none" lIns="0" tIns="0" rIns="0" bIns="0" anchor="t" anchorCtr="0">
                <a:spAutoFit/>
              </a:bodyPr>
              <a:lstStyle/>
              <a:p>
                <a:pPr algn="l"/>
                <a:r>
                  <a:rPr lang="zh-CN" sz="1350" b="1" dirty="0">
                    <a:solidFill>
                      <a:srgbClr val="171C24"/>
                    </a:solidFill>
                    <a:latin typeface="Plus Jakarta Sans"/>
                    <a:ea typeface="Microsoft JhengHei"/>
                    <a:cs typeface="Plus Jakarta Sans"/>
                  </a:rPr>
                  <a:t>未來北極星指標 (NSM)</a:t>
                </a:r>
              </a:p>
            </p:txBody>
          </p:sp>
          <p:sp>
            <p:nvSpPr>
              <p:cNvPr id="11" name="Rectangle 11"/>
              <p:cNvSpPr/>
              <p:nvPr/>
            </p:nvSpPr>
            <p:spPr>
              <a:xfrm>
                <a:off x="838200" y="2476500"/>
                <a:ext cx="4114800" cy="2762250"/>
              </a:xfrm>
              <a:prstGeom prst="roundRect">
                <a:avLst>
                  <a:gd name="adj" fmla="val 4138"/>
                </a:avLst>
              </a:prstGeom>
              <a:solidFill>
                <a:srgbClr val="F3F2ED"/>
              </a:solidFill>
              <a:ln>
                <a:noFill/>
              </a:ln>
            </p:spPr>
          </p:sp>
          <p:sp>
            <p:nvSpPr>
              <p:cNvPr id="12" name="Freeform 12"/>
              <p:cNvSpPr/>
              <p:nvPr/>
            </p:nvSpPr>
            <p:spPr>
              <a:xfrm>
                <a:off x="2577804" y="2946903"/>
                <a:ext cx="635583" cy="524752"/>
              </a:xfrm>
              <a:custGeom>
                <a:avLst/>
                <a:gdLst/>
                <a:ahLst/>
                <a:cxnLst/>
                <a:rect l="l" t="t" r="r" b="b"/>
                <a:pathLst>
                  <a:path w="635583" h="524752">
                    <a:moveTo>
                      <a:pt x="635583" y="121233"/>
                    </a:moveTo>
                    <a:lnTo>
                      <a:pt x="232067" y="524752"/>
                    </a:lnTo>
                    <a:lnTo>
                      <a:pt x="0" y="292683"/>
                    </a:lnTo>
                    <a:lnTo>
                      <a:pt x="121233" y="171450"/>
                    </a:lnTo>
                    <a:lnTo>
                      <a:pt x="232067" y="282283"/>
                    </a:lnTo>
                    <a:lnTo>
                      <a:pt x="514350" y="0"/>
                    </a:lnTo>
                    <a:lnTo>
                      <a:pt x="635583" y="121233"/>
                    </a:lnTo>
                    <a:close/>
                  </a:path>
                </a:pathLst>
              </a:custGeom>
              <a:solidFill>
                <a:srgbClr val="153166"/>
              </a:solidFill>
              <a:ln>
                <a:noFill/>
              </a:ln>
            </p:spPr>
          </p:sp>
          <p:sp>
            <p:nvSpPr>
              <p:cNvPr id="13" name="TextBox 13"/>
              <p:cNvSpPr txBox="1"/>
              <p:nvPr/>
            </p:nvSpPr>
            <p:spPr>
              <a:xfrm>
                <a:off x="1398356" y="3806190"/>
                <a:ext cx="2994489" cy="365760"/>
              </a:xfrm>
              <a:prstGeom prst="rect">
                <a:avLst/>
              </a:prstGeom>
              <a:noFill/>
              <a:ln>
                <a:noFill/>
              </a:ln>
            </p:spPr>
            <p:txBody>
              <a:bodyPr wrap="none" lIns="0" tIns="0" rIns="0" bIns="0" anchor="t" anchorCtr="0">
                <a:spAutoFit/>
              </a:bodyPr>
              <a:lstStyle/>
              <a:p>
                <a:pPr algn="ctr"/>
                <a:r>
                  <a:rPr lang="zh-CN" sz="1800" b="1" dirty="0">
                    <a:solidFill>
                      <a:srgbClr val="153166"/>
                    </a:solidFill>
                    <a:latin typeface="Plus Jakarta Sans"/>
                    <a:ea typeface="Microsoft JhengHei"/>
                    <a:cs typeface="Plus Jakarta Sans"/>
                  </a:rPr>
                  <a:t>每週被成功匯出 (Export)</a:t>
                </a:r>
              </a:p>
            </p:txBody>
          </p:sp>
          <p:sp>
            <p:nvSpPr>
              <p:cNvPr id="14" name="TextBox 14"/>
              <p:cNvSpPr txBox="1"/>
              <p:nvPr/>
            </p:nvSpPr>
            <p:spPr>
              <a:xfrm>
                <a:off x="2085142" y="4187190"/>
                <a:ext cx="1620917" cy="365760"/>
              </a:xfrm>
              <a:prstGeom prst="rect">
                <a:avLst/>
              </a:prstGeom>
              <a:noFill/>
              <a:ln>
                <a:noFill/>
              </a:ln>
            </p:spPr>
            <p:txBody>
              <a:bodyPr wrap="none" lIns="0" tIns="0" rIns="0" bIns="0" anchor="t" anchorCtr="0">
                <a:spAutoFit/>
              </a:bodyPr>
              <a:lstStyle/>
              <a:p>
                <a:pPr algn="ctr"/>
                <a:r>
                  <a:rPr lang="zh-CN" sz="1800" b="1" dirty="0">
                    <a:solidFill>
                      <a:srgbClr val="153166"/>
                    </a:solidFill>
                    <a:latin typeface="Plus Jakarta Sans"/>
                    <a:ea typeface="Microsoft JhengHei"/>
                    <a:cs typeface="Plus Jakarta Sans"/>
                  </a:rPr>
                  <a:t>的 PRD 總數量</a:t>
                </a:r>
              </a:p>
            </p:txBody>
          </p:sp>
          <p:sp>
            <p:nvSpPr>
              <p:cNvPr id="15" name="TextBox 15"/>
              <p:cNvSpPr txBox="1"/>
              <p:nvPr/>
            </p:nvSpPr>
            <p:spPr>
              <a:xfrm>
                <a:off x="1412081" y="4649152"/>
                <a:ext cx="2967038" cy="213360"/>
              </a:xfrm>
              <a:prstGeom prst="rect">
                <a:avLst/>
              </a:prstGeom>
              <a:noFill/>
              <a:ln>
                <a:noFill/>
              </a:ln>
            </p:spPr>
            <p:txBody>
              <a:bodyPr wrap="none" lIns="0" tIns="0" rIns="0" bIns="0" anchor="t" anchorCtr="0">
                <a:spAutoFit/>
              </a:bodyPr>
              <a:lstStyle/>
              <a:p>
                <a:pPr algn="ctr"/>
                <a:r>
                  <a:rPr lang="zh-CN" sz="1050" b="1" dirty="0">
                    <a:solidFill>
                      <a:srgbClr val="525864"/>
                    </a:solidFill>
                    <a:latin typeface="Manrope"/>
                    <a:ea typeface="Microsoft JhengHei"/>
                    <a:cs typeface="Manrope"/>
                  </a:rPr>
                  <a:t>以「絕對計數」衡量業務規模與實質價值總和</a:t>
                </a:r>
              </a:p>
            </p:txBody>
          </p:sp>
        </p:grpSp>
        <p:grpSp>
          <p:nvGrpSpPr>
            <p:cNvPr id="29" name="Group 29"/>
            <p:cNvGrpSpPr/>
            <p:nvPr/>
          </p:nvGrpSpPr>
          <p:grpSpPr>
            <a:xfrm>
              <a:off x="5732145" y="1917382"/>
              <a:ext cx="5850255" cy="2711768"/>
              <a:chOff x="5732145" y="1917382"/>
              <a:chExt cx="5850255" cy="2711768"/>
            </a:xfrm>
          </p:grpSpPr>
          <p:sp>
            <p:nvSpPr>
              <p:cNvPr id="17" name="TextBox 17"/>
              <p:cNvSpPr txBox="1"/>
              <p:nvPr/>
            </p:nvSpPr>
            <p:spPr>
              <a:xfrm>
                <a:off x="5732145" y="1917382"/>
                <a:ext cx="2352199" cy="335280"/>
              </a:xfrm>
              <a:prstGeom prst="rect">
                <a:avLst/>
              </a:prstGeom>
              <a:noFill/>
              <a:ln>
                <a:noFill/>
              </a:ln>
            </p:spPr>
            <p:txBody>
              <a:bodyPr wrap="none" lIns="0" tIns="0" rIns="0" bIns="0" anchor="t" anchorCtr="0">
                <a:spAutoFit/>
              </a:bodyPr>
              <a:lstStyle/>
              <a:p>
                <a:pPr algn="l"/>
                <a:r>
                  <a:rPr lang="zh-CN" sz="1650" b="1" dirty="0">
                    <a:solidFill>
                      <a:srgbClr val="153166"/>
                    </a:solidFill>
                    <a:latin typeface="Plus Jakarta Sans"/>
                    <a:ea typeface="Microsoft JhengHei"/>
                    <a:cs typeface="Plus Jakarta Sans"/>
                  </a:rPr>
                  <a:t>指標設計理由與說服力</a:t>
                </a:r>
              </a:p>
            </p:txBody>
          </p:sp>
          <p:sp>
            <p:nvSpPr>
              <p:cNvPr id="18" name="Line 18"/>
              <p:cNvSpPr/>
              <p:nvPr/>
            </p:nvSpPr>
            <p:spPr>
              <a:xfrm>
                <a:off x="5753100" y="2286000"/>
                <a:ext cx="5829300" cy="9525"/>
              </a:xfrm>
              <a:custGeom>
                <a:avLst/>
                <a:gdLst/>
                <a:ahLst/>
                <a:cxnLst/>
                <a:rect l="l" t="t" r="r" b="b"/>
                <a:pathLst>
                  <a:path w="5829300" h="9525">
                    <a:moveTo>
                      <a:pt x="0" y="0"/>
                    </a:moveTo>
                    <a:lnTo>
                      <a:pt x="5829300" y="0"/>
                    </a:lnTo>
                  </a:path>
                </a:pathLst>
              </a:custGeom>
              <a:noFill/>
              <a:ln w="14288">
                <a:solidFill>
                  <a:srgbClr val="E5E3DE"/>
                </a:solidFill>
              </a:ln>
            </p:spPr>
          </p:sp>
          <p:grpSp>
            <p:nvGrpSpPr>
              <p:cNvPr id="23" name="Group 23"/>
              <p:cNvGrpSpPr/>
              <p:nvPr/>
            </p:nvGrpSpPr>
            <p:grpSpPr>
              <a:xfrm>
                <a:off x="5810250" y="2597468"/>
                <a:ext cx="3719322" cy="793432"/>
                <a:chOff x="5810250" y="2597468"/>
                <a:chExt cx="3719322" cy="793432"/>
              </a:xfrm>
            </p:grpSpPr>
            <p:sp>
              <p:nvSpPr>
                <p:cNvPr id="19" name="Ellipse 19"/>
                <p:cNvSpPr/>
                <p:nvPr/>
              </p:nvSpPr>
              <p:spPr>
                <a:xfrm>
                  <a:off x="5810250" y="2628900"/>
                  <a:ext cx="114300" cy="114300"/>
                </a:xfrm>
                <a:prstGeom prst="ellipse">
                  <a:avLst/>
                </a:prstGeom>
                <a:solidFill>
                  <a:srgbClr val="00969D"/>
                </a:solidFill>
                <a:ln>
                  <a:noFill/>
                </a:ln>
              </p:spPr>
            </p:sp>
            <p:sp>
              <p:nvSpPr>
                <p:cNvPr id="20" name="TextBox 20"/>
                <p:cNvSpPr txBox="1"/>
                <p:nvPr/>
              </p:nvSpPr>
              <p:spPr>
                <a:xfrm>
                  <a:off x="6040755" y="2597468"/>
                  <a:ext cx="1735503" cy="274320"/>
                </a:xfrm>
                <a:prstGeom prst="rect">
                  <a:avLst/>
                </a:prstGeom>
                <a:noFill/>
                <a:ln>
                  <a:noFill/>
                </a:ln>
              </p:spPr>
              <p:txBody>
                <a:bodyPr wrap="none" lIns="0" tIns="0" rIns="0" bIns="0" anchor="t" anchorCtr="0">
                  <a:spAutoFit/>
                </a:bodyPr>
                <a:lstStyle/>
                <a:p>
                  <a:pPr algn="l"/>
                  <a:r>
                    <a:rPr lang="zh-CN" sz="1350" b="1" dirty="0">
                      <a:solidFill>
                        <a:srgbClr val="171C24"/>
                      </a:solidFill>
                      <a:latin typeface="Manrope"/>
                      <a:ea typeface="Microsoft JhengHei"/>
                      <a:cs typeface="Manrope"/>
                    </a:rPr>
                    <a:t>代表真正的價值交付</a:t>
                  </a:r>
                </a:p>
              </p:txBody>
            </p:sp>
            <p:sp>
              <p:nvSpPr>
                <p:cNvPr id="21" name="TextBox 21"/>
                <p:cNvSpPr txBox="1"/>
                <p:nvPr/>
              </p:nvSpPr>
              <p:spPr>
                <a:xfrm>
                  <a:off x="6042660" y="2899410"/>
                  <a:ext cx="3486912" cy="243840"/>
                </a:xfrm>
                <a:prstGeom prst="rect">
                  <a:avLst/>
                </a:prstGeom>
                <a:noFill/>
                <a:ln>
                  <a:noFill/>
                </a:ln>
              </p:spPr>
              <p:txBody>
                <a:bodyPr wrap="none" lIns="0" tIns="0" rIns="0" bIns="0" anchor="t" anchorCtr="0">
                  <a:spAutoFit/>
                </a:bodyPr>
                <a:lstStyle/>
                <a:p>
                  <a:pPr algn="l"/>
                  <a:r>
                    <a:rPr lang="zh-CN" sz="1200" dirty="0">
                      <a:solidFill>
                        <a:srgbClr val="525864"/>
                      </a:solidFill>
                      <a:latin typeface="Manrope"/>
                      <a:ea typeface="Microsoft JhengHei"/>
                      <a:cs typeface="Manrope"/>
                    </a:rPr>
                    <a:t>PM 只有在認為文件已經達到可以交付給開發團隊</a:t>
                  </a:r>
                </a:p>
              </p:txBody>
            </p:sp>
            <p:sp>
              <p:nvSpPr>
                <p:cNvPr id="22" name="TextBox 22"/>
                <p:cNvSpPr txBox="1"/>
                <p:nvPr/>
              </p:nvSpPr>
              <p:spPr>
                <a:xfrm>
                  <a:off x="6042660" y="3147060"/>
                  <a:ext cx="1950720" cy="243840"/>
                </a:xfrm>
                <a:prstGeom prst="rect">
                  <a:avLst/>
                </a:prstGeom>
                <a:noFill/>
                <a:ln>
                  <a:noFill/>
                </a:ln>
              </p:spPr>
              <p:txBody>
                <a:bodyPr wrap="none" lIns="0" tIns="0" rIns="0" bIns="0" anchor="t" anchorCtr="0">
                  <a:spAutoFit/>
                </a:bodyPr>
                <a:lstStyle/>
                <a:p>
                  <a:pPr algn="l"/>
                  <a:r>
                    <a:rPr lang="zh-CN" sz="1200" dirty="0">
                      <a:solidFill>
                        <a:srgbClr val="525864"/>
                      </a:solidFill>
                      <a:latin typeface="Manrope"/>
                      <a:ea typeface="Microsoft JhengHei"/>
                      <a:cs typeface="Manrope"/>
                    </a:rPr>
                    <a:t>的標準時，才會點擊匯出。</a:t>
                  </a:r>
                </a:p>
              </p:txBody>
            </p:sp>
          </p:grpSp>
          <p:grpSp>
            <p:nvGrpSpPr>
              <p:cNvPr id="28" name="Group 28"/>
              <p:cNvGrpSpPr/>
              <p:nvPr/>
            </p:nvGrpSpPr>
            <p:grpSpPr>
              <a:xfrm>
                <a:off x="5810250" y="3835718"/>
                <a:ext cx="3623310" cy="793432"/>
                <a:chOff x="5810250" y="3835718"/>
                <a:chExt cx="3623310" cy="793432"/>
              </a:xfrm>
            </p:grpSpPr>
            <p:sp>
              <p:nvSpPr>
                <p:cNvPr id="24" name="Ellipse 24"/>
                <p:cNvSpPr/>
                <p:nvPr/>
              </p:nvSpPr>
              <p:spPr>
                <a:xfrm>
                  <a:off x="5810250" y="3867150"/>
                  <a:ext cx="114300" cy="114300"/>
                </a:xfrm>
                <a:prstGeom prst="ellipse">
                  <a:avLst/>
                </a:prstGeom>
                <a:solidFill>
                  <a:srgbClr val="153166"/>
                </a:solidFill>
                <a:ln>
                  <a:noFill/>
                </a:ln>
              </p:spPr>
            </p:sp>
            <p:sp>
              <p:nvSpPr>
                <p:cNvPr id="25" name="TextBox 25"/>
                <p:cNvSpPr txBox="1"/>
                <p:nvPr/>
              </p:nvSpPr>
              <p:spPr>
                <a:xfrm>
                  <a:off x="6040755" y="3835718"/>
                  <a:ext cx="1924526" cy="274320"/>
                </a:xfrm>
                <a:prstGeom prst="rect">
                  <a:avLst/>
                </a:prstGeom>
                <a:noFill/>
                <a:ln>
                  <a:noFill/>
                </a:ln>
              </p:spPr>
              <p:txBody>
                <a:bodyPr wrap="none" lIns="0" tIns="0" rIns="0" bIns="0" anchor="t" anchorCtr="0">
                  <a:spAutoFit/>
                </a:bodyPr>
                <a:lstStyle/>
                <a:p>
                  <a:pPr algn="l"/>
                  <a:r>
                    <a:rPr lang="zh-CN" sz="1350" b="1" dirty="0">
                      <a:solidFill>
                        <a:srgbClr val="171C24"/>
                      </a:solidFill>
                      <a:latin typeface="Manrope"/>
                      <a:ea typeface="Microsoft JhengHei"/>
                      <a:cs typeface="Manrope"/>
                    </a:rPr>
                    <a:t>高統計精準度與代理性</a:t>
                  </a:r>
                </a:p>
              </p:txBody>
            </p:sp>
            <p:sp>
              <p:nvSpPr>
                <p:cNvPr id="26" name="TextBox 26"/>
                <p:cNvSpPr txBox="1"/>
                <p:nvPr/>
              </p:nvSpPr>
              <p:spPr>
                <a:xfrm>
                  <a:off x="6042660" y="4137660"/>
                  <a:ext cx="3390900" cy="243840"/>
                </a:xfrm>
                <a:prstGeom prst="rect">
                  <a:avLst/>
                </a:prstGeom>
                <a:noFill/>
                <a:ln>
                  <a:noFill/>
                </a:ln>
              </p:spPr>
              <p:txBody>
                <a:bodyPr wrap="none" lIns="0" tIns="0" rIns="0" bIns="0" anchor="t" anchorCtr="0">
                  <a:spAutoFit/>
                </a:bodyPr>
                <a:lstStyle/>
                <a:p>
                  <a:pPr algn="l"/>
                  <a:r>
                    <a:rPr lang="zh-CN" sz="1200" dirty="0">
                      <a:solidFill>
                        <a:srgbClr val="525864"/>
                      </a:solidFill>
                      <a:latin typeface="Manrope"/>
                      <a:ea typeface="Microsoft JhengHei"/>
                      <a:cs typeface="Manrope"/>
                    </a:rPr>
                    <a:t>這是最容易在後台系統日誌中統計、且最精準的</a:t>
                  </a:r>
                </a:p>
              </p:txBody>
            </p:sp>
            <p:sp>
              <p:nvSpPr>
                <p:cNvPr id="27" name="TextBox 27"/>
                <p:cNvSpPr txBox="1"/>
                <p:nvPr/>
              </p:nvSpPr>
              <p:spPr>
                <a:xfrm>
                  <a:off x="6042660" y="4385310"/>
                  <a:ext cx="1150620" cy="243840"/>
                </a:xfrm>
                <a:prstGeom prst="rect">
                  <a:avLst/>
                </a:prstGeom>
                <a:noFill/>
                <a:ln>
                  <a:noFill/>
                </a:ln>
              </p:spPr>
              <p:txBody>
                <a:bodyPr wrap="none" lIns="0" tIns="0" rIns="0" bIns="0" anchor="t" anchorCtr="0">
                  <a:spAutoFit/>
                </a:bodyPr>
                <a:lstStyle/>
                <a:p>
                  <a:pPr algn="l"/>
                  <a:r>
                    <a:rPr lang="zh-CN" sz="1200" dirty="0">
                      <a:solidFill>
                        <a:srgbClr val="525864"/>
                      </a:solidFill>
                      <a:latin typeface="Manrope"/>
                      <a:ea typeface="Microsoft JhengHei"/>
                      <a:cs typeface="Manrope"/>
                    </a:rPr>
                    <a:t>價值代理指標。</a:t>
                  </a:r>
                </a:p>
              </p:txBody>
            </p:sp>
          </p:grpSp>
        </p:grpSp>
      </p:grpSp>
      <p:grpSp>
        <p:nvGrpSpPr>
          <p:cNvPr id="34" name="Group 34"/>
          <p:cNvGrpSpPr/>
          <p:nvPr/>
        </p:nvGrpSpPr>
        <p:grpSpPr>
          <a:xfrm>
            <a:off x="609600" y="5619750"/>
            <a:ext cx="10972800" cy="571500"/>
            <a:chOff x="609600" y="5619750"/>
            <a:chExt cx="10972800" cy="571500"/>
          </a:xfrm>
        </p:grpSpPr>
        <p:sp>
          <p:nvSpPr>
            <p:cNvPr id="31" name="Rectangle 31"/>
            <p:cNvSpPr/>
            <p:nvPr/>
          </p:nvSpPr>
          <p:spPr>
            <a:xfrm>
              <a:off x="609600" y="5619750"/>
              <a:ext cx="10972800" cy="571500"/>
            </a:xfrm>
            <a:prstGeom prst="roundRect">
              <a:avLst>
                <a:gd name="adj" fmla="val 13333"/>
              </a:avLst>
            </a:prstGeom>
            <a:solidFill>
              <a:srgbClr val="F3F2ED"/>
            </a:solidFill>
            <a:ln>
              <a:noFill/>
            </a:ln>
          </p:spPr>
        </p:sp>
        <p:sp>
          <p:nvSpPr>
            <p:cNvPr id="32" name="Freeform 32"/>
            <p:cNvSpPr/>
            <p:nvPr/>
          </p:nvSpPr>
          <p:spPr>
            <a:xfrm>
              <a:off x="800100" y="5791200"/>
              <a:ext cx="228600" cy="228600"/>
            </a:xfrm>
            <a:custGeom>
              <a:avLst/>
              <a:gdLst/>
              <a:ahLst/>
              <a:cxnLst/>
              <a:rect l="l" t="t" r="r" b="b"/>
              <a:pathLst>
                <a:path w="228600" h="228600">
                  <a:moveTo>
                    <a:pt x="228600" y="114300"/>
                  </a:moveTo>
                  <a:cubicBezTo>
                    <a:pt x="228600" y="177426"/>
                    <a:pt x="177426" y="228600"/>
                    <a:pt x="114300" y="228600"/>
                  </a:cubicBezTo>
                  <a:cubicBezTo>
                    <a:pt x="51174" y="228600"/>
                    <a:pt x="0" y="177426"/>
                    <a:pt x="0" y="114300"/>
                  </a:cubicBezTo>
                  <a:cubicBezTo>
                    <a:pt x="0" y="51174"/>
                    <a:pt x="51174" y="0"/>
                    <a:pt x="114300" y="0"/>
                  </a:cubicBezTo>
                  <a:cubicBezTo>
                    <a:pt x="177426" y="0"/>
                    <a:pt x="228600" y="51174"/>
                    <a:pt x="228600" y="114300"/>
                  </a:cubicBezTo>
                  <a:close/>
                  <a:moveTo>
                    <a:pt x="100012" y="114300"/>
                  </a:moveTo>
                  <a:lnTo>
                    <a:pt x="85725" y="114300"/>
                  </a:lnTo>
                  <a:lnTo>
                    <a:pt x="85725" y="85725"/>
                  </a:lnTo>
                  <a:lnTo>
                    <a:pt x="128588" y="85725"/>
                  </a:lnTo>
                  <a:lnTo>
                    <a:pt x="128588" y="157162"/>
                  </a:lnTo>
                  <a:lnTo>
                    <a:pt x="142875" y="157162"/>
                  </a:lnTo>
                  <a:lnTo>
                    <a:pt x="142875" y="185738"/>
                  </a:lnTo>
                  <a:lnTo>
                    <a:pt x="100012" y="185738"/>
                  </a:lnTo>
                  <a:lnTo>
                    <a:pt x="100012" y="114300"/>
                  </a:lnTo>
                  <a:close/>
                  <a:moveTo>
                    <a:pt x="128588" y="71438"/>
                  </a:moveTo>
                  <a:lnTo>
                    <a:pt x="128588" y="42862"/>
                  </a:lnTo>
                  <a:lnTo>
                    <a:pt x="100012" y="42862"/>
                  </a:lnTo>
                  <a:lnTo>
                    <a:pt x="100012" y="71438"/>
                  </a:lnTo>
                  <a:lnTo>
                    <a:pt x="128588" y="71438"/>
                  </a:lnTo>
                  <a:close/>
                </a:path>
              </a:pathLst>
            </a:custGeom>
            <a:solidFill>
              <a:srgbClr val="007583"/>
            </a:solidFill>
            <a:ln>
              <a:noFill/>
            </a:ln>
          </p:spPr>
        </p:sp>
        <p:sp>
          <p:nvSpPr>
            <p:cNvPr id="33" name="TextBox 33"/>
            <p:cNvSpPr txBox="1"/>
            <p:nvPr/>
          </p:nvSpPr>
          <p:spPr>
            <a:xfrm>
              <a:off x="1128712" y="5831681"/>
              <a:ext cx="8969692" cy="228600"/>
            </a:xfrm>
            <a:prstGeom prst="rect">
              <a:avLst/>
            </a:prstGeom>
            <a:noFill/>
            <a:ln>
              <a:noFill/>
            </a:ln>
          </p:spPr>
          <p:txBody>
            <a:bodyPr wrap="none" lIns="0" tIns="0" rIns="0" bIns="0" anchor="t" anchorCtr="0">
              <a:spAutoFit/>
            </a:bodyPr>
            <a:lstStyle/>
            <a:p>
              <a:pPr algn="l"/>
              <a:r>
                <a:rPr lang="zh-CN" sz="1125" b="1" dirty="0">
                  <a:solidFill>
                    <a:srgbClr val="007583"/>
                  </a:solidFill>
                  <a:latin typeface="Manrope"/>
                  <a:ea typeface="Microsoft JhengHei"/>
                  <a:cs typeface="Manrope"/>
                </a:rPr>
                <a:t>主管視角說明：</a:t>
              </a:r>
              <a:r>
                <a:rPr lang="zh-CN" sz="1125" dirty="0">
                  <a:solidFill>
                    <a:srgbClr val="171C24"/>
                  </a:solidFill>
                  <a:latin typeface="Manrope"/>
                  <a:ea typeface="Microsoft JhengHei"/>
                  <a:cs typeface="Manrope"/>
                </a:rPr>
                <a:t>PM 只有在認為文件已經達到可以交付給開發團隊的標準時，才會點擊匯出。這是最容易統計且最精準的價值代理指標。</a:t>
              </a:r>
            </a:p>
          </p:txBody>
        </p:sp>
      </p:grpSp>
      <p:sp>
        <p:nvSpPr>
          <p:cNvPr id="35" name="TextBox 35"/>
          <p:cNvSpPr txBox="1"/>
          <p:nvPr/>
        </p:nvSpPr>
        <p:spPr>
          <a:xfrm>
            <a:off x="598170" y="6475095"/>
            <a:ext cx="2579179" cy="182880"/>
          </a:xfrm>
          <a:prstGeom prst="rect">
            <a:avLst/>
          </a:prstGeom>
          <a:noFill/>
          <a:ln>
            <a:noFill/>
          </a:ln>
        </p:spPr>
        <p:txBody>
          <a:bodyPr wrap="none" lIns="0" tIns="0" rIns="0" bIns="0" anchor="t" anchorCtr="0">
            <a:spAutoFit/>
          </a:bodyPr>
          <a:lstStyle/>
          <a:p>
            <a:pPr algn="l"/>
            <a:r>
              <a:rPr lang="zh-CN" sz="900" dirty="0">
                <a:solidFill>
                  <a:srgbClr val="525864"/>
                </a:solidFill>
                <a:latin typeface="Manrope"/>
                <a:ea typeface="Microsoft JhengHei"/>
                <a:cs typeface="Manrope"/>
              </a:rPr>
              <a:t>PM PROPOSAL &amp; METRICS EDUCATION · PAGE 23</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400"/>
                                        <p:tgtEl>
                                          <p:spTgt spid="2"/>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image">
                                      <p:cBhvr>
                                        <p:cTn id="11" dur="400"/>
                                        <p:tgtEl>
                                          <p:spTgt spid="3"/>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400"/>
                                        <p:tgtEl>
                                          <p:spTgt spid="4"/>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wipe(left)">
                                      <p:cBhvr>
                                        <p:cTn id="19" dur="400"/>
                                        <p:tgtEl>
                                          <p:spTgt spid="30"/>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slide(fromBottom)">
                                      <p:cBhvr>
                                        <p:cTn id="23" dur="400"/>
                                        <p:tgtEl>
                                          <p:spTgt spid="34"/>
                                        </p:tgtEl>
                                      </p:cBhvr>
                                    </p:animEffect>
                                  </p:childTnLst>
                                </p:cTn>
                              </p:par>
                            </p:childTnLst>
                          </p:cTn>
                        </p:par>
                        <p:par>
                          <p:cTn id="24" fill="hold">
                            <p:stCondLst>
                              <p:cond delay="4500"/>
                            </p:stCondLst>
                            <p:childTnLst>
                              <p:par>
                                <p:cTn id="25" presetID="23" presetClass="entr" presetSubtype="0" fill="hold" nodeType="after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image">
                                      <p:cBhvr>
                                        <p:cTn id="27"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30" grpId="0"/>
      <p:bldP spid="34" grpId="0"/>
      <p:bldP spid="3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DFCF9"/>
          </a:solidFill>
          <a:ln>
            <a:noFill/>
          </a:ln>
        </p:spPr>
      </p:sp>
      <p:sp>
        <p:nvSpPr>
          <p:cNvPr id="3" name="TextBox 3"/>
          <p:cNvSpPr txBox="1"/>
          <p:nvPr/>
        </p:nvSpPr>
        <p:spPr>
          <a:xfrm>
            <a:off x="596265" y="648652"/>
            <a:ext cx="2114331" cy="213360"/>
          </a:xfrm>
          <a:prstGeom prst="rect">
            <a:avLst/>
          </a:prstGeom>
          <a:noFill/>
          <a:ln>
            <a:noFill/>
          </a:ln>
        </p:spPr>
        <p:txBody>
          <a:bodyPr wrap="none" lIns="0" tIns="0" rIns="0" bIns="0" anchor="t" anchorCtr="0">
            <a:spAutoFit/>
          </a:bodyPr>
          <a:lstStyle/>
          <a:p>
            <a:pPr algn="l"/>
            <a:r>
              <a:rPr lang="zh-CN" sz="1050" b="1" dirty="0">
                <a:solidFill>
                  <a:srgbClr val="007583"/>
                </a:solidFill>
                <a:latin typeface="Plus Jakarta Sans"/>
                <a:ea typeface="Microsoft JhengHei"/>
                <a:cs typeface="Plus Jakarta Sans"/>
              </a:rPr>
              <a:t>APPENDIX 02: AI PRD ASSISTANT</a:t>
            </a:r>
          </a:p>
        </p:txBody>
      </p:sp>
      <p:sp>
        <p:nvSpPr>
          <p:cNvPr id="4" name="TextBox 4"/>
          <p:cNvSpPr txBox="1"/>
          <p:nvPr/>
        </p:nvSpPr>
        <p:spPr>
          <a:xfrm>
            <a:off x="582930" y="916305"/>
            <a:ext cx="6816185" cy="426720"/>
          </a:xfrm>
          <a:prstGeom prst="rect">
            <a:avLst/>
          </a:prstGeom>
          <a:noFill/>
          <a:ln>
            <a:noFill/>
          </a:ln>
        </p:spPr>
        <p:txBody>
          <a:bodyPr wrap="none" lIns="0" tIns="0" rIns="0" bIns="0" anchor="t" anchorCtr="0">
            <a:spAutoFit/>
          </a:bodyPr>
          <a:lstStyle/>
          <a:p>
            <a:pPr algn="l"/>
            <a:r>
              <a:rPr lang="zh-CN" sz="2100" b="1" dirty="0">
                <a:solidFill>
                  <a:srgbClr val="171C24"/>
                </a:solidFill>
                <a:latin typeface="Plus Jakarta Sans"/>
                <a:ea typeface="Microsoft JhengHei"/>
                <a:cs typeface="Plus Jakarta Sans"/>
              </a:rPr>
              <a:t>驗譅計畫：以匯出量、量能與編修欅數護欄戊關成效</a:t>
            </a:r>
          </a:p>
        </p:txBody>
      </p:sp>
      <p:grpSp>
        <p:nvGrpSpPr>
          <p:cNvPr id="36" name="Group 36"/>
          <p:cNvGrpSpPr/>
          <p:nvPr/>
        </p:nvGrpSpPr>
        <p:grpSpPr>
          <a:xfrm>
            <a:off x="952500" y="1905000"/>
            <a:ext cx="10287000" cy="2857500"/>
            <a:chOff x="952500" y="1905000"/>
            <a:chExt cx="10287000" cy="2857500"/>
          </a:xfrm>
        </p:grpSpPr>
        <p:grpSp>
          <p:nvGrpSpPr>
            <p:cNvPr id="9" name="Group 9"/>
            <p:cNvGrpSpPr/>
            <p:nvPr/>
          </p:nvGrpSpPr>
          <p:grpSpPr>
            <a:xfrm>
              <a:off x="3333750" y="2952750"/>
              <a:ext cx="5534025" cy="762000"/>
              <a:chOff x="3333750" y="2952750"/>
              <a:chExt cx="5534025" cy="762000"/>
            </a:xfrm>
          </p:grpSpPr>
          <p:sp>
            <p:nvSpPr>
              <p:cNvPr id="5" name="Line 5"/>
              <p:cNvSpPr/>
              <p:nvPr/>
            </p:nvSpPr>
            <p:spPr>
              <a:xfrm>
                <a:off x="6096000" y="2952750"/>
                <a:ext cx="9525" cy="381000"/>
              </a:xfrm>
              <a:custGeom>
                <a:avLst/>
                <a:gdLst/>
                <a:ahLst/>
                <a:cxnLst/>
                <a:rect l="l" t="t" r="r" b="b"/>
                <a:pathLst>
                  <a:path w="9525" h="381000">
                    <a:moveTo>
                      <a:pt x="0" y="0"/>
                    </a:moveTo>
                    <a:lnTo>
                      <a:pt x="0" y="381000"/>
                    </a:lnTo>
                  </a:path>
                </a:pathLst>
              </a:custGeom>
              <a:noFill/>
              <a:ln w="19050">
                <a:solidFill>
                  <a:srgbClr val="E5E3DE"/>
                </a:solidFill>
              </a:ln>
            </p:spPr>
          </p:sp>
          <p:sp>
            <p:nvSpPr>
              <p:cNvPr id="6" name="Line 6"/>
              <p:cNvSpPr/>
              <p:nvPr/>
            </p:nvSpPr>
            <p:spPr>
              <a:xfrm>
                <a:off x="3333750" y="3333750"/>
                <a:ext cx="5524500" cy="9525"/>
              </a:xfrm>
              <a:custGeom>
                <a:avLst/>
                <a:gdLst/>
                <a:ahLst/>
                <a:cxnLst/>
                <a:rect l="l" t="t" r="r" b="b"/>
                <a:pathLst>
                  <a:path w="5524500" h="9525">
                    <a:moveTo>
                      <a:pt x="0" y="0"/>
                    </a:moveTo>
                    <a:lnTo>
                      <a:pt x="5524500" y="0"/>
                    </a:lnTo>
                  </a:path>
                </a:pathLst>
              </a:custGeom>
              <a:noFill/>
              <a:ln w="19050">
                <a:solidFill>
                  <a:srgbClr val="E5E3DE"/>
                </a:solidFill>
              </a:ln>
            </p:spPr>
          </p:sp>
          <p:sp>
            <p:nvSpPr>
              <p:cNvPr id="7" name="Line 7"/>
              <p:cNvSpPr/>
              <p:nvPr/>
            </p:nvSpPr>
            <p:spPr>
              <a:xfrm>
                <a:off x="3333750" y="3333750"/>
                <a:ext cx="9525" cy="381000"/>
              </a:xfrm>
              <a:custGeom>
                <a:avLst/>
                <a:gdLst/>
                <a:ahLst/>
                <a:cxnLst/>
                <a:rect l="l" t="t" r="r" b="b"/>
                <a:pathLst>
                  <a:path w="9525" h="381000">
                    <a:moveTo>
                      <a:pt x="0" y="0"/>
                    </a:moveTo>
                    <a:lnTo>
                      <a:pt x="0" y="381000"/>
                    </a:lnTo>
                  </a:path>
                </a:pathLst>
              </a:custGeom>
              <a:noFill/>
              <a:ln w="19050">
                <a:solidFill>
                  <a:srgbClr val="E5E3DE"/>
                </a:solidFill>
              </a:ln>
            </p:spPr>
          </p:sp>
          <p:sp>
            <p:nvSpPr>
              <p:cNvPr id="8" name="Line 8"/>
              <p:cNvSpPr/>
              <p:nvPr/>
            </p:nvSpPr>
            <p:spPr>
              <a:xfrm>
                <a:off x="8858250" y="3333750"/>
                <a:ext cx="9525" cy="381000"/>
              </a:xfrm>
              <a:custGeom>
                <a:avLst/>
                <a:gdLst/>
                <a:ahLst/>
                <a:cxnLst/>
                <a:rect l="l" t="t" r="r" b="b"/>
                <a:pathLst>
                  <a:path w="9525" h="381000">
                    <a:moveTo>
                      <a:pt x="0" y="0"/>
                    </a:moveTo>
                    <a:lnTo>
                      <a:pt x="0" y="381000"/>
                    </a:lnTo>
                  </a:path>
                </a:pathLst>
              </a:custGeom>
              <a:noFill/>
              <a:ln w="19050">
                <a:solidFill>
                  <a:srgbClr val="E5E3DE"/>
                </a:solidFill>
              </a:ln>
            </p:spPr>
          </p:sp>
        </p:grpSp>
        <p:grpSp>
          <p:nvGrpSpPr>
            <p:cNvPr id="18" name="Group 18"/>
            <p:cNvGrpSpPr/>
            <p:nvPr/>
          </p:nvGrpSpPr>
          <p:grpSpPr>
            <a:xfrm>
              <a:off x="3714750" y="1905000"/>
              <a:ext cx="4762500" cy="1047750"/>
              <a:chOff x="3714750" y="1905000"/>
              <a:chExt cx="4762500" cy="1047750"/>
            </a:xfrm>
          </p:grpSpPr>
          <p:sp>
            <p:nvSpPr>
              <p:cNvPr id="10" name="Rectangle 10"/>
              <p:cNvSpPr/>
              <p:nvPr/>
            </p:nvSpPr>
            <p:spPr>
              <a:xfrm>
                <a:off x="3714750" y="1905000"/>
                <a:ext cx="4762500" cy="1047750"/>
              </a:xfrm>
              <a:prstGeom prst="roundRect">
                <a:avLst>
                  <a:gd name="adj" fmla="val 10909"/>
                </a:avLst>
              </a:prstGeom>
              <a:solidFill>
                <a:srgbClr val="FFFFFF"/>
              </a:solidFill>
              <a:ln w="19050">
                <a:solidFill>
                  <a:srgbClr val="153166"/>
                </a:solidFill>
              </a:ln>
            </p:spPr>
          </p:sp>
          <p:sp>
            <p:nvSpPr>
              <p:cNvPr id="11" name="Rectangle 11"/>
              <p:cNvSpPr/>
              <p:nvPr/>
            </p:nvSpPr>
            <p:spPr>
              <a:xfrm>
                <a:off x="3714750" y="1905000"/>
                <a:ext cx="57150" cy="1047750"/>
              </a:xfrm>
              <a:prstGeom prst="roundRect">
                <a:avLst>
                  <a:gd name="adj" fmla="val 50000"/>
                </a:avLst>
              </a:prstGeom>
              <a:solidFill>
                <a:srgbClr val="153166"/>
              </a:solidFill>
              <a:ln>
                <a:noFill/>
              </a:ln>
            </p:spPr>
          </p:sp>
          <p:grpSp>
            <p:nvGrpSpPr>
              <p:cNvPr id="14" name="Group 14"/>
              <p:cNvGrpSpPr/>
              <p:nvPr/>
            </p:nvGrpSpPr>
            <p:grpSpPr>
              <a:xfrm>
                <a:off x="3905250" y="2314575"/>
                <a:ext cx="228600" cy="228600"/>
                <a:chOff x="3905250" y="2314575"/>
                <a:chExt cx="228600" cy="228600"/>
              </a:xfrm>
            </p:grpSpPr>
            <p:sp>
              <p:nvSpPr>
                <p:cNvPr id="12" name="Freeform 12"/>
                <p:cNvSpPr/>
                <p:nvPr/>
              </p:nvSpPr>
              <p:spPr>
                <a:xfrm>
                  <a:off x="3962400" y="2371725"/>
                  <a:ext cx="114300" cy="114300"/>
                </a:xfrm>
                <a:custGeom>
                  <a:avLst/>
                  <a:gdLst/>
                  <a:ahLst/>
                  <a:cxnLst/>
                  <a:rect l="l" t="t" r="r" b="b"/>
                  <a:pathLst>
                    <a:path w="114300" h="114300">
                      <a:moveTo>
                        <a:pt x="57150" y="0"/>
                      </a:moveTo>
                      <a:cubicBezTo>
                        <a:pt x="25587" y="0"/>
                        <a:pt x="0" y="25587"/>
                        <a:pt x="0" y="57150"/>
                      </a:cubicBezTo>
                      <a:cubicBezTo>
                        <a:pt x="0" y="88713"/>
                        <a:pt x="25587" y="114300"/>
                        <a:pt x="57150" y="114300"/>
                      </a:cubicBezTo>
                      <a:cubicBezTo>
                        <a:pt x="88713" y="114300"/>
                        <a:pt x="114300" y="88713"/>
                        <a:pt x="114300" y="57150"/>
                      </a:cubicBezTo>
                      <a:cubicBezTo>
                        <a:pt x="114300" y="25587"/>
                        <a:pt x="88713" y="0"/>
                        <a:pt x="57150" y="0"/>
                      </a:cubicBezTo>
                      <a:close/>
                      <a:moveTo>
                        <a:pt x="28575" y="57150"/>
                      </a:moveTo>
                      <a:cubicBezTo>
                        <a:pt x="28575" y="41368"/>
                        <a:pt x="41368" y="28575"/>
                        <a:pt x="57150" y="28575"/>
                      </a:cubicBezTo>
                      <a:cubicBezTo>
                        <a:pt x="72932" y="28575"/>
                        <a:pt x="85725" y="41368"/>
                        <a:pt x="85725" y="57150"/>
                      </a:cubicBezTo>
                      <a:cubicBezTo>
                        <a:pt x="85725" y="72932"/>
                        <a:pt x="72932" y="85725"/>
                        <a:pt x="57150" y="85725"/>
                      </a:cubicBezTo>
                      <a:cubicBezTo>
                        <a:pt x="41368" y="85725"/>
                        <a:pt x="28575" y="72932"/>
                        <a:pt x="28575" y="57150"/>
                      </a:cubicBezTo>
                      <a:close/>
                    </a:path>
                  </a:pathLst>
                </a:custGeom>
                <a:solidFill>
                  <a:srgbClr val="153166"/>
                </a:solidFill>
                <a:ln>
                  <a:noFill/>
                </a:ln>
              </p:spPr>
            </p:sp>
            <p:sp>
              <p:nvSpPr>
                <p:cNvPr id="13" name="Freeform 13"/>
                <p:cNvSpPr/>
                <p:nvPr/>
              </p:nvSpPr>
              <p:spPr>
                <a:xfrm>
                  <a:off x="3905250" y="2314575"/>
                  <a:ext cx="228600" cy="228600"/>
                </a:xfrm>
                <a:custGeom>
                  <a:avLst/>
                  <a:gdLst/>
                  <a:ahLst/>
                  <a:cxnLst/>
                  <a:rect l="l" t="t" r="r" b="b"/>
                  <a:pathLst>
                    <a:path w="228600" h="228600">
                      <a:moveTo>
                        <a:pt x="114300" y="0"/>
                      </a:moveTo>
                      <a:cubicBezTo>
                        <a:pt x="51174" y="0"/>
                        <a:pt x="0" y="51174"/>
                        <a:pt x="0" y="114300"/>
                      </a:cubicBezTo>
                      <a:cubicBezTo>
                        <a:pt x="0" y="177426"/>
                        <a:pt x="51174" y="228600"/>
                        <a:pt x="114300" y="228600"/>
                      </a:cubicBezTo>
                      <a:cubicBezTo>
                        <a:pt x="177426" y="228600"/>
                        <a:pt x="228600" y="177426"/>
                        <a:pt x="228600" y="114300"/>
                      </a:cubicBezTo>
                      <a:cubicBezTo>
                        <a:pt x="228600" y="51174"/>
                        <a:pt x="177426" y="0"/>
                        <a:pt x="114300" y="0"/>
                      </a:cubicBezTo>
                      <a:close/>
                      <a:moveTo>
                        <a:pt x="28575" y="114300"/>
                      </a:moveTo>
                      <a:cubicBezTo>
                        <a:pt x="28575" y="66955"/>
                        <a:pt x="66955" y="28575"/>
                        <a:pt x="114300" y="28575"/>
                      </a:cubicBezTo>
                      <a:cubicBezTo>
                        <a:pt x="161644" y="28575"/>
                        <a:pt x="200025" y="66955"/>
                        <a:pt x="200025" y="114300"/>
                      </a:cubicBezTo>
                      <a:cubicBezTo>
                        <a:pt x="200025" y="161644"/>
                        <a:pt x="161644" y="200025"/>
                        <a:pt x="114300" y="200025"/>
                      </a:cubicBezTo>
                      <a:cubicBezTo>
                        <a:pt x="66955" y="200025"/>
                        <a:pt x="28575" y="161644"/>
                        <a:pt x="28575" y="114300"/>
                      </a:cubicBezTo>
                      <a:close/>
                    </a:path>
                  </a:pathLst>
                </a:custGeom>
                <a:solidFill>
                  <a:srgbClr val="153166"/>
                </a:solidFill>
                <a:ln>
                  <a:noFill/>
                </a:ln>
              </p:spPr>
            </p:sp>
          </p:grpSp>
          <p:sp>
            <p:nvSpPr>
              <p:cNvPr id="15" name="TextBox 15"/>
              <p:cNvSpPr txBox="1"/>
              <p:nvPr/>
            </p:nvSpPr>
            <p:spPr>
              <a:xfrm>
                <a:off x="4236720" y="2074545"/>
                <a:ext cx="1963503" cy="182880"/>
              </a:xfrm>
              <a:prstGeom prst="rect">
                <a:avLst/>
              </a:prstGeom>
              <a:noFill/>
              <a:ln>
                <a:noFill/>
              </a:ln>
            </p:spPr>
            <p:txBody>
              <a:bodyPr wrap="none" lIns="0" tIns="0" rIns="0" bIns="0" anchor="t" anchorCtr="0">
                <a:spAutoFit/>
              </a:bodyPr>
              <a:lstStyle/>
              <a:p>
                <a:pPr algn="l"/>
                <a:r>
                  <a:rPr lang="zh-CN" sz="900" b="1" dirty="0">
                    <a:solidFill>
                      <a:srgbClr val="153166"/>
                    </a:solidFill>
                    <a:latin typeface="Plus Jakarta Sans"/>
                    <a:ea typeface="Microsoft JhengHei"/>
                    <a:cs typeface="Plus Jakarta Sans"/>
                  </a:rPr>
                  <a:t>產品北榅星指標 (NSM) — 價值總量</a:t>
                </a:r>
              </a:p>
            </p:txBody>
          </p:sp>
          <p:sp>
            <p:nvSpPr>
              <p:cNvPr id="16" name="TextBox 16"/>
              <p:cNvSpPr txBox="1"/>
              <p:nvPr/>
            </p:nvSpPr>
            <p:spPr>
              <a:xfrm>
                <a:off x="4235768" y="2333149"/>
                <a:ext cx="2789236" cy="198120"/>
              </a:xfrm>
              <a:prstGeom prst="rect">
                <a:avLst/>
              </a:prstGeom>
              <a:noFill/>
              <a:ln>
                <a:noFill/>
              </a:ln>
            </p:spPr>
            <p:txBody>
              <a:bodyPr wrap="none" lIns="0" tIns="0" rIns="0" bIns="0" anchor="t" anchorCtr="0">
                <a:spAutoFit/>
              </a:bodyPr>
              <a:lstStyle/>
              <a:p>
                <a:pPr algn="l"/>
                <a:r>
                  <a:rPr lang="zh-CN" sz="975" b="1" dirty="0">
                    <a:solidFill>
                      <a:srgbClr val="171C24"/>
                    </a:solidFill>
                    <a:latin typeface="Plus Jakarta Sans"/>
                    <a:ea typeface="Microsoft JhengHei"/>
                    <a:cs typeface="Plus Jakarta Sans"/>
                  </a:rPr>
                  <a:t>平均每週被成功匯出 (Export) 的 PRD 總數量</a:t>
                </a:r>
              </a:p>
            </p:txBody>
          </p:sp>
          <p:sp>
            <p:nvSpPr>
              <p:cNvPr id="17" name="TextBox 17"/>
              <p:cNvSpPr txBox="1"/>
              <p:nvPr/>
            </p:nvSpPr>
            <p:spPr>
              <a:xfrm>
                <a:off x="4236720" y="2626995"/>
                <a:ext cx="3713321" cy="182880"/>
              </a:xfrm>
              <a:prstGeom prst="rect">
                <a:avLst/>
              </a:prstGeom>
              <a:noFill/>
              <a:ln>
                <a:noFill/>
              </a:ln>
            </p:spPr>
            <p:txBody>
              <a:bodyPr wrap="none" lIns="0" tIns="0" rIns="0" bIns="0" anchor="t" anchorCtr="0">
                <a:spAutoFit/>
              </a:bodyPr>
              <a:lstStyle/>
              <a:p>
                <a:pPr algn="l"/>
                <a:r>
                  <a:rPr lang="zh-CN" sz="900" dirty="0">
                    <a:solidFill>
                      <a:srgbClr val="525864"/>
                    </a:solidFill>
                    <a:latin typeface="Manrope"/>
                    <a:ea typeface="Microsoft JhengHei"/>
                    <a:cs typeface="Manrope"/>
                  </a:rPr>
                  <a:t>· 採用理由：匯出代表 PM 認可規格已達交付標準，真實反映價值兑現</a:t>
                </a:r>
              </a:p>
            </p:txBody>
          </p:sp>
        </p:grpSp>
        <p:grpSp>
          <p:nvGrpSpPr>
            <p:cNvPr id="28" name="Group 28"/>
            <p:cNvGrpSpPr/>
            <p:nvPr/>
          </p:nvGrpSpPr>
          <p:grpSpPr>
            <a:xfrm>
              <a:off x="952500" y="3714750"/>
              <a:ext cx="4762500" cy="1047750"/>
              <a:chOff x="952500" y="3714750"/>
              <a:chExt cx="4762500" cy="1047750"/>
            </a:xfrm>
          </p:grpSpPr>
          <p:sp>
            <p:nvSpPr>
              <p:cNvPr id="19" name="Rectangle 19"/>
              <p:cNvSpPr/>
              <p:nvPr/>
            </p:nvSpPr>
            <p:spPr>
              <a:xfrm>
                <a:off x="952500" y="3714750"/>
                <a:ext cx="4762500" cy="1047750"/>
              </a:xfrm>
              <a:prstGeom prst="roundRect">
                <a:avLst>
                  <a:gd name="adj" fmla="val 10909"/>
                </a:avLst>
              </a:prstGeom>
              <a:solidFill>
                <a:srgbClr val="FFFFFF"/>
              </a:solidFill>
              <a:ln w="14288">
                <a:solidFill>
                  <a:srgbClr val="E5E3DE"/>
                </a:solidFill>
              </a:ln>
            </p:spPr>
          </p:sp>
          <p:sp>
            <p:nvSpPr>
              <p:cNvPr id="20" name="Rectangle 20"/>
              <p:cNvSpPr/>
              <p:nvPr/>
            </p:nvSpPr>
            <p:spPr>
              <a:xfrm>
                <a:off x="952500" y="3714750"/>
                <a:ext cx="57150" cy="1047750"/>
              </a:xfrm>
              <a:prstGeom prst="roundRect">
                <a:avLst>
                  <a:gd name="adj" fmla="val 50000"/>
                </a:avLst>
              </a:prstGeom>
              <a:solidFill>
                <a:srgbClr val="153166"/>
              </a:solidFill>
              <a:ln>
                <a:noFill/>
              </a:ln>
            </p:spPr>
          </p:sp>
          <p:grpSp>
            <p:nvGrpSpPr>
              <p:cNvPr id="24" name="Group 24"/>
              <p:cNvGrpSpPr/>
              <p:nvPr/>
            </p:nvGrpSpPr>
            <p:grpSpPr>
              <a:xfrm>
                <a:off x="1143000" y="4138612"/>
                <a:ext cx="228600" cy="200025"/>
                <a:chOff x="1143000" y="4138612"/>
                <a:chExt cx="228600" cy="200025"/>
              </a:xfrm>
            </p:grpSpPr>
            <p:sp>
              <p:nvSpPr>
                <p:cNvPr id="21" name="Freeform 21"/>
                <p:cNvSpPr/>
                <p:nvPr/>
              </p:nvSpPr>
              <p:spPr>
                <a:xfrm>
                  <a:off x="1314450" y="4138612"/>
                  <a:ext cx="57150" cy="200025"/>
                </a:xfrm>
                <a:custGeom>
                  <a:avLst/>
                  <a:gdLst/>
                  <a:ahLst/>
                  <a:cxnLst/>
                  <a:rect l="l" t="t" r="r" b="b"/>
                  <a:pathLst>
                    <a:path w="57150" h="200025">
                      <a:moveTo>
                        <a:pt x="57150" y="0"/>
                      </a:moveTo>
                      <a:lnTo>
                        <a:pt x="0" y="0"/>
                      </a:lnTo>
                      <a:lnTo>
                        <a:pt x="0" y="200025"/>
                      </a:lnTo>
                      <a:lnTo>
                        <a:pt x="57150" y="200025"/>
                      </a:lnTo>
                      <a:lnTo>
                        <a:pt x="57150" y="0"/>
                      </a:lnTo>
                      <a:close/>
                    </a:path>
                  </a:pathLst>
                </a:custGeom>
                <a:solidFill>
                  <a:srgbClr val="153166"/>
                </a:solidFill>
                <a:ln>
                  <a:noFill/>
                </a:ln>
              </p:spPr>
            </p:sp>
            <p:sp>
              <p:nvSpPr>
                <p:cNvPr id="22" name="Freeform 22"/>
                <p:cNvSpPr/>
                <p:nvPr/>
              </p:nvSpPr>
              <p:spPr>
                <a:xfrm>
                  <a:off x="1228725" y="4195762"/>
                  <a:ext cx="57150" cy="142875"/>
                </a:xfrm>
                <a:custGeom>
                  <a:avLst/>
                  <a:gdLst/>
                  <a:ahLst/>
                  <a:cxnLst/>
                  <a:rect l="l" t="t" r="r" b="b"/>
                  <a:pathLst>
                    <a:path w="57150" h="142875">
                      <a:moveTo>
                        <a:pt x="0" y="0"/>
                      </a:moveTo>
                      <a:lnTo>
                        <a:pt x="57150" y="0"/>
                      </a:lnTo>
                      <a:lnTo>
                        <a:pt x="57150" y="142875"/>
                      </a:lnTo>
                      <a:lnTo>
                        <a:pt x="0" y="142875"/>
                      </a:lnTo>
                      <a:lnTo>
                        <a:pt x="0" y="0"/>
                      </a:lnTo>
                      <a:close/>
                    </a:path>
                  </a:pathLst>
                </a:custGeom>
                <a:solidFill>
                  <a:srgbClr val="153166"/>
                </a:solidFill>
                <a:ln>
                  <a:noFill/>
                </a:ln>
              </p:spPr>
            </p:sp>
            <p:sp>
              <p:nvSpPr>
                <p:cNvPr id="23" name="Freeform 23"/>
                <p:cNvSpPr/>
                <p:nvPr/>
              </p:nvSpPr>
              <p:spPr>
                <a:xfrm>
                  <a:off x="1143000" y="4252912"/>
                  <a:ext cx="57150" cy="85725"/>
                </a:xfrm>
                <a:custGeom>
                  <a:avLst/>
                  <a:gdLst/>
                  <a:ahLst/>
                  <a:cxnLst/>
                  <a:rect l="l" t="t" r="r" b="b"/>
                  <a:pathLst>
                    <a:path w="57150" h="85725">
                      <a:moveTo>
                        <a:pt x="0" y="0"/>
                      </a:moveTo>
                      <a:lnTo>
                        <a:pt x="57150" y="0"/>
                      </a:lnTo>
                      <a:lnTo>
                        <a:pt x="57150" y="85725"/>
                      </a:lnTo>
                      <a:lnTo>
                        <a:pt x="0" y="85725"/>
                      </a:lnTo>
                      <a:lnTo>
                        <a:pt x="0" y="0"/>
                      </a:lnTo>
                      <a:close/>
                    </a:path>
                  </a:pathLst>
                </a:custGeom>
                <a:solidFill>
                  <a:srgbClr val="153166"/>
                </a:solidFill>
                <a:ln>
                  <a:noFill/>
                </a:ln>
              </p:spPr>
            </p:sp>
          </p:grpSp>
          <p:sp>
            <p:nvSpPr>
              <p:cNvPr id="25" name="TextBox 25"/>
              <p:cNvSpPr txBox="1"/>
              <p:nvPr/>
            </p:nvSpPr>
            <p:spPr>
              <a:xfrm>
                <a:off x="1474470" y="3884295"/>
                <a:ext cx="1175904" cy="182880"/>
              </a:xfrm>
              <a:prstGeom prst="rect">
                <a:avLst/>
              </a:prstGeom>
              <a:noFill/>
              <a:ln>
                <a:noFill/>
              </a:ln>
            </p:spPr>
            <p:txBody>
              <a:bodyPr wrap="none" lIns="0" tIns="0" rIns="0" bIns="0" anchor="t" anchorCtr="0">
                <a:spAutoFit/>
              </a:bodyPr>
              <a:lstStyle/>
              <a:p>
                <a:pPr algn="l"/>
                <a:r>
                  <a:rPr lang="zh-CN" sz="900" b="1" dirty="0">
                    <a:solidFill>
                      <a:srgbClr val="525864"/>
                    </a:solidFill>
                    <a:latin typeface="Plus Jakarta Sans"/>
                    <a:ea typeface="Microsoft JhengHei"/>
                    <a:cs typeface="Plus Jakarta Sans"/>
                  </a:rPr>
                  <a:t>量能指標 — 入口流量</a:t>
                </a:r>
              </a:p>
            </p:txBody>
          </p:sp>
          <p:sp>
            <p:nvSpPr>
              <p:cNvPr id="26" name="TextBox 26"/>
              <p:cNvSpPr txBox="1"/>
              <p:nvPr/>
            </p:nvSpPr>
            <p:spPr>
              <a:xfrm>
                <a:off x="1473518" y="4142899"/>
                <a:ext cx="2243167" cy="198120"/>
              </a:xfrm>
              <a:prstGeom prst="rect">
                <a:avLst/>
              </a:prstGeom>
              <a:noFill/>
              <a:ln>
                <a:noFill/>
              </a:ln>
            </p:spPr>
            <p:txBody>
              <a:bodyPr wrap="none" lIns="0" tIns="0" rIns="0" bIns="0" anchor="t" anchorCtr="0">
                <a:spAutoFit/>
              </a:bodyPr>
              <a:lstStyle/>
              <a:p>
                <a:pPr algn="l"/>
                <a:r>
                  <a:rPr lang="zh-CN" sz="975" b="1" dirty="0">
                    <a:solidFill>
                      <a:srgbClr val="171C24"/>
                    </a:solidFill>
                    <a:latin typeface="Plus Jakarta Sans"/>
                    <a:ea typeface="Microsoft JhengHei"/>
                    <a:cs typeface="Plus Jakarta Sans"/>
                  </a:rPr>
                  <a:t>平均每週嗟動 PRD 甯成助理的總數量</a:t>
                </a:r>
              </a:p>
            </p:txBody>
          </p:sp>
          <p:sp>
            <p:nvSpPr>
              <p:cNvPr id="27" name="TextBox 27"/>
              <p:cNvSpPr txBox="1"/>
              <p:nvPr/>
            </p:nvSpPr>
            <p:spPr>
              <a:xfrm>
                <a:off x="1474470" y="4436745"/>
                <a:ext cx="3365278" cy="182880"/>
              </a:xfrm>
              <a:prstGeom prst="rect">
                <a:avLst/>
              </a:prstGeom>
              <a:noFill/>
              <a:ln>
                <a:noFill/>
              </a:ln>
            </p:spPr>
            <p:txBody>
              <a:bodyPr wrap="none" lIns="0" tIns="0" rIns="0" bIns="0" anchor="t" anchorCtr="0">
                <a:spAutoFit/>
              </a:bodyPr>
              <a:lstStyle/>
              <a:p>
                <a:pPr algn="l"/>
                <a:r>
                  <a:rPr lang="zh-CN" sz="900" dirty="0">
                    <a:solidFill>
                      <a:srgbClr val="525864"/>
                    </a:solidFill>
                    <a:latin typeface="Manrope"/>
                    <a:ea typeface="Microsoft JhengHei"/>
                    <a:cs typeface="Manrope"/>
                  </a:rPr>
                  <a:t>· 採用理由：監控產品最上游的採用規模，做為轉化漏斗的基礎</a:t>
                </a:r>
              </a:p>
            </p:txBody>
          </p:sp>
        </p:grpSp>
        <p:grpSp>
          <p:nvGrpSpPr>
            <p:cNvPr id="35" name="Group 35"/>
            <p:cNvGrpSpPr/>
            <p:nvPr/>
          </p:nvGrpSpPr>
          <p:grpSpPr>
            <a:xfrm>
              <a:off x="6477000" y="3714750"/>
              <a:ext cx="4762500" cy="1047750"/>
              <a:chOff x="6477000" y="3714750"/>
              <a:chExt cx="4762500" cy="1047750"/>
            </a:xfrm>
          </p:grpSpPr>
          <p:sp>
            <p:nvSpPr>
              <p:cNvPr id="29" name="Rectangle 29"/>
              <p:cNvSpPr/>
              <p:nvPr/>
            </p:nvSpPr>
            <p:spPr>
              <a:xfrm>
                <a:off x="6477000" y="3714750"/>
                <a:ext cx="4762500" cy="1047750"/>
              </a:xfrm>
              <a:prstGeom prst="roundRect">
                <a:avLst>
                  <a:gd name="adj" fmla="val 10909"/>
                </a:avLst>
              </a:prstGeom>
              <a:solidFill>
                <a:srgbClr val="FFFFFF"/>
              </a:solidFill>
              <a:ln w="14288">
                <a:solidFill>
                  <a:srgbClr val="E5E3DE"/>
                </a:solidFill>
              </a:ln>
            </p:spPr>
          </p:sp>
          <p:sp>
            <p:nvSpPr>
              <p:cNvPr id="30" name="Rectangle 30"/>
              <p:cNvSpPr/>
              <p:nvPr/>
            </p:nvSpPr>
            <p:spPr>
              <a:xfrm>
                <a:off x="6477000" y="3714750"/>
                <a:ext cx="57150" cy="1047750"/>
              </a:xfrm>
              <a:prstGeom prst="roundRect">
                <a:avLst>
                  <a:gd name="adj" fmla="val 50000"/>
                </a:avLst>
              </a:prstGeom>
              <a:solidFill>
                <a:srgbClr val="B91C1C"/>
              </a:solidFill>
              <a:ln>
                <a:noFill/>
              </a:ln>
            </p:spPr>
          </p:sp>
          <p:sp>
            <p:nvSpPr>
              <p:cNvPr id="31" name="Freeform 31"/>
              <p:cNvSpPr/>
              <p:nvPr/>
            </p:nvSpPr>
            <p:spPr>
              <a:xfrm>
                <a:off x="6681788" y="4124325"/>
                <a:ext cx="200025" cy="228600"/>
              </a:xfrm>
              <a:custGeom>
                <a:avLst/>
                <a:gdLst/>
                <a:ahLst/>
                <a:cxnLst/>
                <a:rect l="l" t="t" r="r" b="b"/>
                <a:pathLst>
                  <a:path w="200025" h="228600">
                    <a:moveTo>
                      <a:pt x="47864" y="191351"/>
                    </a:moveTo>
                    <a:lnTo>
                      <a:pt x="100012" y="228600"/>
                    </a:lnTo>
                    <a:lnTo>
                      <a:pt x="152160" y="191351"/>
                    </a:lnTo>
                    <a:cubicBezTo>
                      <a:pt x="182198" y="169896"/>
                      <a:pt x="200025" y="135255"/>
                      <a:pt x="200025" y="98342"/>
                    </a:cubicBezTo>
                    <a:lnTo>
                      <a:pt x="200025" y="42862"/>
                    </a:lnTo>
                    <a:lnTo>
                      <a:pt x="100012" y="0"/>
                    </a:lnTo>
                    <a:lnTo>
                      <a:pt x="0" y="42862"/>
                    </a:lnTo>
                    <a:lnTo>
                      <a:pt x="0" y="98342"/>
                    </a:lnTo>
                    <a:cubicBezTo>
                      <a:pt x="0" y="135255"/>
                      <a:pt x="17827" y="169896"/>
                      <a:pt x="47864" y="191351"/>
                    </a:cubicBezTo>
                    <a:close/>
                  </a:path>
                </a:pathLst>
              </a:custGeom>
              <a:solidFill>
                <a:srgbClr val="B91C1C"/>
              </a:solidFill>
              <a:ln>
                <a:noFill/>
              </a:ln>
            </p:spPr>
          </p:sp>
          <p:sp>
            <p:nvSpPr>
              <p:cNvPr id="32" name="TextBox 32"/>
              <p:cNvSpPr txBox="1"/>
              <p:nvPr/>
            </p:nvSpPr>
            <p:spPr>
              <a:xfrm>
                <a:off x="6998970" y="3884295"/>
                <a:ext cx="1175904" cy="182880"/>
              </a:xfrm>
              <a:prstGeom prst="rect">
                <a:avLst/>
              </a:prstGeom>
              <a:noFill/>
              <a:ln>
                <a:noFill/>
              </a:ln>
            </p:spPr>
            <p:txBody>
              <a:bodyPr wrap="none" lIns="0" tIns="0" rIns="0" bIns="0" anchor="t" anchorCtr="0">
                <a:spAutoFit/>
              </a:bodyPr>
              <a:lstStyle/>
              <a:p>
                <a:pPr algn="l"/>
                <a:r>
                  <a:rPr lang="zh-CN" sz="900" b="1" dirty="0">
                    <a:solidFill>
                      <a:srgbClr val="B91C1C"/>
                    </a:solidFill>
                    <a:latin typeface="Plus Jakarta Sans"/>
                    <a:ea typeface="Microsoft JhengHei"/>
                    <a:cs typeface="Plus Jakarta Sans"/>
                  </a:rPr>
                  <a:t>護欄指標 — 品質防守</a:t>
                </a:r>
              </a:p>
            </p:txBody>
          </p:sp>
          <p:sp>
            <p:nvSpPr>
              <p:cNvPr id="33" name="TextBox 33"/>
              <p:cNvSpPr txBox="1"/>
              <p:nvPr/>
            </p:nvSpPr>
            <p:spPr>
              <a:xfrm>
                <a:off x="6998018" y="4142899"/>
                <a:ext cx="1936004" cy="198120"/>
              </a:xfrm>
              <a:prstGeom prst="rect">
                <a:avLst/>
              </a:prstGeom>
              <a:noFill/>
              <a:ln>
                <a:noFill/>
              </a:ln>
            </p:spPr>
            <p:txBody>
              <a:bodyPr wrap="none" lIns="0" tIns="0" rIns="0" bIns="0" anchor="t" anchorCtr="0">
                <a:spAutoFit/>
              </a:bodyPr>
              <a:lstStyle/>
              <a:p>
                <a:pPr algn="l"/>
                <a:r>
                  <a:rPr lang="zh-CN" sz="975" b="1" dirty="0">
                    <a:solidFill>
                      <a:srgbClr val="171C24"/>
                    </a:solidFill>
                    <a:latin typeface="Plus Jakarta Sans"/>
                    <a:ea typeface="Microsoft JhengHei"/>
                    <a:cs typeface="Plus Jakarta Sans"/>
                  </a:rPr>
                  <a:t>匯出前，編修欅數中位數 ≦ 5 次</a:t>
                </a:r>
              </a:p>
            </p:txBody>
          </p:sp>
          <p:sp>
            <p:nvSpPr>
              <p:cNvPr id="34" name="TextBox 34"/>
              <p:cNvSpPr txBox="1"/>
              <p:nvPr/>
            </p:nvSpPr>
            <p:spPr>
              <a:xfrm>
                <a:off x="6998970" y="4436745"/>
                <a:ext cx="3965353" cy="182880"/>
              </a:xfrm>
              <a:prstGeom prst="rect">
                <a:avLst/>
              </a:prstGeom>
              <a:noFill/>
              <a:ln>
                <a:noFill/>
              </a:ln>
            </p:spPr>
            <p:txBody>
              <a:bodyPr wrap="none" lIns="0" tIns="0" rIns="0" bIns="0" anchor="t" anchorCtr="0">
                <a:spAutoFit/>
              </a:bodyPr>
              <a:lstStyle/>
              <a:p>
                <a:pPr algn="l"/>
                <a:r>
                  <a:rPr lang="zh-CN" sz="900" dirty="0">
                    <a:solidFill>
                      <a:srgbClr val="525864"/>
                    </a:solidFill>
                    <a:latin typeface="Manrope"/>
                    <a:ea typeface="Microsoft JhengHei"/>
                    <a:cs typeface="Manrope"/>
                  </a:rPr>
                  <a:t>· 採用理由：以 Log 的問答輪數 (query_round) 統計，戊關首次甯成品質</a:t>
                </a:r>
              </a:p>
            </p:txBody>
          </p:sp>
        </p:grpSp>
      </p:grpSp>
      <p:grpSp>
        <p:nvGrpSpPr>
          <p:cNvPr id="41" name="Group 41"/>
          <p:cNvGrpSpPr/>
          <p:nvPr/>
        </p:nvGrpSpPr>
        <p:grpSpPr>
          <a:xfrm>
            <a:off x="609600" y="5524500"/>
            <a:ext cx="10972800" cy="666750"/>
            <a:chOff x="609600" y="5524500"/>
            <a:chExt cx="10972800" cy="666750"/>
          </a:xfrm>
        </p:grpSpPr>
        <p:sp>
          <p:nvSpPr>
            <p:cNvPr id="37" name="Rectangle 37"/>
            <p:cNvSpPr/>
            <p:nvPr/>
          </p:nvSpPr>
          <p:spPr>
            <a:xfrm>
              <a:off x="609600" y="5524500"/>
              <a:ext cx="10972800" cy="666750"/>
            </a:xfrm>
            <a:prstGeom prst="roundRect">
              <a:avLst>
                <a:gd name="adj" fmla="val 11429"/>
              </a:avLst>
            </a:prstGeom>
            <a:solidFill>
              <a:srgbClr val="F3F2ED"/>
            </a:solidFill>
            <a:ln>
              <a:noFill/>
            </a:ln>
          </p:spPr>
        </p:sp>
        <p:sp>
          <p:nvSpPr>
            <p:cNvPr id="38" name="Freeform 38"/>
            <p:cNvSpPr/>
            <p:nvPr/>
          </p:nvSpPr>
          <p:spPr>
            <a:xfrm>
              <a:off x="800100" y="5743575"/>
              <a:ext cx="228600" cy="228600"/>
            </a:xfrm>
            <a:custGeom>
              <a:avLst/>
              <a:gdLst/>
              <a:ahLst/>
              <a:cxnLst/>
              <a:rect l="l" t="t" r="r" b="b"/>
              <a:pathLst>
                <a:path w="228600" h="228600">
                  <a:moveTo>
                    <a:pt x="228600" y="114300"/>
                  </a:moveTo>
                  <a:cubicBezTo>
                    <a:pt x="228600" y="177426"/>
                    <a:pt x="177426" y="228600"/>
                    <a:pt x="114300" y="228600"/>
                  </a:cubicBezTo>
                  <a:cubicBezTo>
                    <a:pt x="51174" y="228600"/>
                    <a:pt x="0" y="177426"/>
                    <a:pt x="0" y="114300"/>
                  </a:cubicBezTo>
                  <a:cubicBezTo>
                    <a:pt x="0" y="51174"/>
                    <a:pt x="51174" y="0"/>
                    <a:pt x="114300" y="0"/>
                  </a:cubicBezTo>
                  <a:cubicBezTo>
                    <a:pt x="177426" y="0"/>
                    <a:pt x="228600" y="51174"/>
                    <a:pt x="228600" y="114300"/>
                  </a:cubicBezTo>
                  <a:close/>
                  <a:moveTo>
                    <a:pt x="100012" y="114300"/>
                  </a:moveTo>
                  <a:lnTo>
                    <a:pt x="85725" y="114300"/>
                  </a:lnTo>
                  <a:lnTo>
                    <a:pt x="85725" y="85725"/>
                  </a:lnTo>
                  <a:lnTo>
                    <a:pt x="128588" y="85725"/>
                  </a:lnTo>
                  <a:lnTo>
                    <a:pt x="128588" y="157162"/>
                  </a:lnTo>
                  <a:lnTo>
                    <a:pt x="142875" y="157162"/>
                  </a:lnTo>
                  <a:lnTo>
                    <a:pt x="142875" y="185738"/>
                  </a:lnTo>
                  <a:lnTo>
                    <a:pt x="100012" y="185738"/>
                  </a:lnTo>
                  <a:lnTo>
                    <a:pt x="100012" y="114300"/>
                  </a:lnTo>
                  <a:close/>
                  <a:moveTo>
                    <a:pt x="128588" y="71438"/>
                  </a:moveTo>
                  <a:lnTo>
                    <a:pt x="128588" y="42862"/>
                  </a:lnTo>
                  <a:lnTo>
                    <a:pt x="100012" y="42862"/>
                  </a:lnTo>
                  <a:lnTo>
                    <a:pt x="100012" y="71438"/>
                  </a:lnTo>
                  <a:lnTo>
                    <a:pt x="128588" y="71438"/>
                  </a:lnTo>
                  <a:close/>
                </a:path>
              </a:pathLst>
            </a:custGeom>
            <a:solidFill>
              <a:srgbClr val="007583"/>
            </a:solidFill>
            <a:ln>
              <a:noFill/>
            </a:ln>
          </p:spPr>
        </p:sp>
        <p:sp>
          <p:nvSpPr>
            <p:cNvPr id="39" name="TextBox 39"/>
            <p:cNvSpPr txBox="1"/>
            <p:nvPr/>
          </p:nvSpPr>
          <p:spPr>
            <a:xfrm>
              <a:off x="1129665" y="5715952"/>
              <a:ext cx="4507230" cy="213360"/>
            </a:xfrm>
            <a:prstGeom prst="rect">
              <a:avLst/>
            </a:prstGeom>
            <a:noFill/>
            <a:ln>
              <a:noFill/>
            </a:ln>
          </p:spPr>
          <p:txBody>
            <a:bodyPr wrap="none" lIns="0" tIns="0" rIns="0" bIns="0" anchor="t" anchorCtr="0">
              <a:spAutoFit/>
            </a:bodyPr>
            <a:lstStyle/>
            <a:p>
              <a:pPr algn="l"/>
              <a:r>
                <a:rPr lang="zh-CN" sz="1050" b="1" dirty="0">
                  <a:solidFill>
                    <a:srgbClr val="007583"/>
                  </a:solidFill>
                  <a:latin typeface="Manrope"/>
                  <a:ea typeface="Microsoft JhengHei"/>
                  <a:cs typeface="Manrope"/>
                </a:rPr>
                <a:t>主管視角：</a:t>
              </a:r>
              <a:r>
                <a:rPr lang="zh-CN" sz="1050" dirty="0">
                  <a:solidFill>
                    <a:srgbClr val="171C24"/>
                  </a:solidFill>
                  <a:latin typeface="Manrope"/>
                  <a:ea typeface="Microsoft JhengHei"/>
                  <a:cs typeface="Manrope"/>
                </a:rPr>
                <a:t>全新產品暫無既有大盤可對齚，故以「匯出量」作為北榅星。</a:t>
              </a:r>
            </a:p>
          </p:txBody>
        </p:sp>
        <p:sp>
          <p:nvSpPr>
            <p:cNvPr id="40" name="TextBox 40"/>
            <p:cNvSpPr txBox="1"/>
            <p:nvPr/>
          </p:nvSpPr>
          <p:spPr>
            <a:xfrm>
              <a:off x="1131570" y="5941695"/>
              <a:ext cx="4589431" cy="182880"/>
            </a:xfrm>
            <a:prstGeom prst="rect">
              <a:avLst/>
            </a:prstGeom>
            <a:noFill/>
            <a:ln>
              <a:noFill/>
            </a:ln>
          </p:spPr>
          <p:txBody>
            <a:bodyPr wrap="none" lIns="0" tIns="0" rIns="0" bIns="0" anchor="t" anchorCtr="0">
              <a:spAutoFit/>
            </a:bodyPr>
            <a:lstStyle/>
            <a:p>
              <a:pPr algn="l"/>
              <a:r>
                <a:rPr lang="zh-CN" sz="900" dirty="0">
                  <a:solidFill>
                    <a:srgbClr val="525864"/>
                  </a:solidFill>
                  <a:latin typeface="Manrope"/>
                  <a:ea typeface="Microsoft JhengHei"/>
                  <a:cs typeface="Manrope"/>
                </a:rPr>
                <a:t>核心違輺：防範 PM 因試用或無效甯成澉脹數據，配合 5 次對詺護欄確保甯成准確性。</a:t>
              </a:r>
            </a:p>
          </p:txBody>
        </p:sp>
      </p:grpSp>
      <p:sp>
        <p:nvSpPr>
          <p:cNvPr id="42" name="TextBox 42"/>
          <p:cNvSpPr txBox="1"/>
          <p:nvPr/>
        </p:nvSpPr>
        <p:spPr>
          <a:xfrm>
            <a:off x="598170" y="6475095"/>
            <a:ext cx="2579179" cy="182880"/>
          </a:xfrm>
          <a:prstGeom prst="rect">
            <a:avLst/>
          </a:prstGeom>
          <a:noFill/>
          <a:ln>
            <a:noFill/>
          </a:ln>
        </p:spPr>
        <p:txBody>
          <a:bodyPr wrap="none" lIns="0" tIns="0" rIns="0" bIns="0" anchor="t" anchorCtr="0">
            <a:spAutoFit/>
          </a:bodyPr>
          <a:lstStyle/>
          <a:p>
            <a:pPr algn="l"/>
            <a:r>
              <a:rPr lang="zh-CN" sz="900" dirty="0">
                <a:solidFill>
                  <a:srgbClr val="525864"/>
                </a:solidFill>
                <a:latin typeface="Manrope"/>
                <a:ea typeface="Microsoft JhengHei"/>
                <a:cs typeface="Manrope"/>
              </a:rPr>
              <a:t>PM PROPOSAL &amp; METRICS EDUCATION · PAGE 24</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left)">
                                      <p:cBhvr>
                                        <p:cTn id="7"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24</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2026-06-30T06:35:09Z</dcterms:created>
  <dcterms:modified xsi:type="dcterms:W3CDTF">2026-06-30T06:35:09Z</dcterms:modified>
  <cp:category/>
  <cp:contentStatus/>
</cp:coreProperties>
</file>