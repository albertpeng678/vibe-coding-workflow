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我們先對齊一件事：Open NCCU 現在到底是用什麼指標判斷自己有沒有在幫學生。今天要提案的職涯選課 AI，核心想解決的問題只有一句話——把「不知道要選什麼」的學生，也導入既有的排課流程，而不是另外重造一套系統。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們選的產品北極星指標，是選課期間、每週成功匯出批量選課字串的人次，因為這是系統裡真的能記錄、也最誠實反映學生完成排課決策的動作。用每週而不是每學期，是因為我們的流量非常尖峰式，平均掉就看不出壓力點在哪。目前推估初選高峰週大概是一千七百二十八人次，這是待實測的基準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現在的搜尋是給已經知道要查什麼的學生用的。但有一群學生只有職涯目標、沒有課程詞彙——他們打不出統計、Python、SQL這種課綱用語，只會打資料分析師，搜尋引擎當然回應不了。這群人很可能在課程搜尋這一步就放棄了，根本沒進到我們的漏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我們要做的事情很單純：幫這群學生把我想做什麼翻譯成我該修什麼。學生講一句職涯目標，AI幫他找到政大真的開的課、給具體理由，剩下的收藏、排課、批量選課，完全沿用大家現在用的流程，我們不重造輪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功長什麼樣子？我們定義成：用了職涯選課AI對話、拿到推薦的學生裡，有多少比例會真的把課加進模擬課表。現在這個數字是零，因為功能還不存在；目標是百分之五十五，這個數字沿用我們前面對採用率的同一組假設，不是憑空拍腦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個互動很直接：學生打一句職涯目標，後端先辨識職業、把它拆成技能關鍵字，接著只呼叫一次OpenAI的檢索端點，同時做去重和零幻覺校驗，確保每一門推薦課都是政大真的開的課，最後生成三條理由、依學期分組，直接接上大家現在用的模擬課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體驗上最大的差別是：以前學生要自己想關鍵字、自己篩選對不對，現在只要說出想做的工作，馬上拿到具體課程和理由。我們沒有動到後面的排課邏輯，只是在最前面加了一個翻譯層，用同樣的課號接上既有的模擬課表模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是我們怎麼驗收自己有沒有做對。頂層看北極星指標有沒有真的被拉動；中間看功能本身有沒有被採用、且真的產生價值；下面兩個是把關用的——量能看有多少人被這個新入口帶進來，護欄看滿意度跟實際刪除率，避免我們自己騙自己說學生很滿意，結果他們默默把課刪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9dee1c6307c903b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96bbfd852aafad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487177cf8f403e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DFCFA">
                    <a:alpha val="72000"/>
                  </a:srgbClr>
                </a:gs>
                <a:gs pos="45000">
                  <a:srgbClr val="FDFCFA">
                    <a:alpha val="40000"/>
                  </a:srgbClr>
                </a:gs>
                <a:gs pos="100000">
                  <a:srgbClr val="FDFCFA">
                    <a:alpha val="0"/>
                  </a:srgbClr>
                </a:gs>
              </a:gsLst>
              <a:lin ang="1080000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373505" y="1707356"/>
            <a:ext cx="8028480" cy="3050382"/>
            <a:chOff x="1373505" y="1707356"/>
            <a:chExt cx="8028480" cy="3050382"/>
          </a:xfrm>
        </p:grpSpPr>
        <p:sp>
          <p:nvSpPr>
            <p:cNvPr id="6" name="TextBox 6"/>
            <p:cNvSpPr txBox="1"/>
            <p:nvPr/>
          </p:nvSpPr>
          <p:spPr>
            <a:xfrm>
              <a:off x="1414462" y="1707356"/>
              <a:ext cx="14383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FEATURE PROPOSAL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73505" y="2102168"/>
              <a:ext cx="6201251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用職涯目標反查課程，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3505" y="2826068"/>
              <a:ext cx="802848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把「不知道要選什麼」的學生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3505" y="3549968"/>
              <a:ext cx="559217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也導入既有排課流程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3985" y="4361498"/>
              <a:ext cx="63033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職涯選課 AI —— Open NCCU 排課系統的新增對話式入口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8750" y="5829300"/>
            <a:ext cx="2204084" cy="469106"/>
            <a:chOff x="1428750" y="5829300"/>
            <a:chExt cx="2204084" cy="469106"/>
          </a:xfrm>
        </p:grpSpPr>
        <p:sp>
          <p:nvSpPr>
            <p:cNvPr id="12" name="Line 12"/>
            <p:cNvSpPr/>
            <p:nvPr/>
          </p:nvSpPr>
          <p:spPr>
            <a:xfrm>
              <a:off x="1428750" y="58293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E4E1D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24012" y="5860256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職涯選課 AI 專案提案人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4012" y="6069806"/>
              <a:ext cx="2008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Open NCCU 內部技術評審簡報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17716" y="6284595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8F98"/>
                </a:solidFill>
                <a:latin typeface="Arial"/>
                <a:ea typeface="Microsoft YaHei"/>
                <a:cs typeface="Arial"/>
              </a:rPr>
              <a:t>CAREER-AI · 00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01015" y="545306"/>
            <a:ext cx="6848618" cy="1145382"/>
            <a:chOff x="501015" y="545306"/>
            <a:chExt cx="6848618" cy="1145382"/>
          </a:xfrm>
        </p:grpSpPr>
        <p:grpSp>
          <p:nvGrpSpPr>
            <p:cNvPr id="5" name="Group 5"/>
            <p:cNvGrpSpPr/>
            <p:nvPr/>
          </p:nvGrpSpPr>
          <p:grpSpPr>
            <a:xfrm>
              <a:off x="559594" y="556419"/>
              <a:ext cx="157163" cy="87312"/>
              <a:chOff x="559594" y="556419"/>
              <a:chExt cx="157163" cy="8731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59594" y="556419"/>
                <a:ext cx="15716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7312">
                    <a:moveTo>
                      <a:pt x="0" y="87312"/>
                    </a:moveTo>
                    <a:lnTo>
                      <a:pt x="52388" y="34925"/>
                    </a:lnTo>
                    <a:lnTo>
                      <a:pt x="87313" y="69850"/>
                    </a:ln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55638" y="556419"/>
                <a:ext cx="61119" cy="61119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1119">
                    <a:moveTo>
                      <a:pt x="0" y="0"/>
                    </a:moveTo>
                    <a:lnTo>
                      <a:pt x="61119" y="0"/>
                    </a:lnTo>
                    <a:lnTo>
                      <a:pt x="61119" y="61119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804862" y="545306"/>
              <a:ext cx="1572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PRODUCT NORTH STAR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01015" y="791528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選課期間每週「匯出批量選課字串」人次，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1015" y="1172528"/>
              <a:ext cx="52419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是 Open NCCU 的產品北極星指標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85275" y="2711167"/>
            <a:ext cx="3021449" cy="1665571"/>
            <a:chOff x="4585275" y="2711167"/>
            <a:chExt cx="3021449" cy="1665571"/>
          </a:xfrm>
        </p:grpSpPr>
        <p:sp>
          <p:nvSpPr>
            <p:cNvPr id="10" name="TextBox 10"/>
            <p:cNvSpPr txBox="1"/>
            <p:nvPr/>
          </p:nvSpPr>
          <p:spPr>
            <a:xfrm>
              <a:off x="4585275" y="3783806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基準值 · 初選高峰週 · MECE 推估，待實測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18387" y="2711167"/>
              <a:ext cx="295522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1,728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43257" y="398049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人次 ／ 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14462" y="4736306"/>
            <a:ext cx="8660606" cy="1390650"/>
            <a:chOff x="1414462" y="4736306"/>
            <a:chExt cx="8660606" cy="1390650"/>
          </a:xfrm>
        </p:grpSpPr>
        <p:sp>
          <p:nvSpPr>
            <p:cNvPr id="14" name="Line 14"/>
            <p:cNvSpPr/>
            <p:nvPr/>
          </p:nvSpPr>
          <p:spPr>
            <a:xfrm>
              <a:off x="6096000" y="4762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4288">
              <a:solidFill>
                <a:srgbClr val="E4E1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4462" y="47363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主產品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4462" y="4983956"/>
              <a:ext cx="3471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Open NCCU 排課系統（course.opennccu.com）——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4462" y="52125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政大學生自製的非官方選課輔助工具，整合課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4462" y="544115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程搜尋、收藏清單、視覺化模擬課表、批量選課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96062" y="4736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採用理由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6062" y="49839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系統內部可直接記錄、且代表「學生已完成排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6062" y="52125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課決策、正要進入官方登記」的誠實動作；刻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6062" y="5441156"/>
              <a:ext cx="31114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意排除訪問量、搜尋次數等供給面/落後指標；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6062" y="56697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用「選課期間、每週」而非「每學期」，是因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6062" y="58983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為使用型態有顯著週期性，總量平均會蓋過尖峰壓力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362700"/>
            <a:ext cx="11148060" cy="295275"/>
            <a:chOff x="521970" y="6362700"/>
            <a:chExt cx="11148060" cy="295275"/>
          </a:xfrm>
        </p:grpSpPr>
        <p:sp>
          <p:nvSpPr>
            <p:cNvPr id="26" name="Line 26"/>
            <p:cNvSpPr/>
            <p:nvPr/>
          </p:nvSpPr>
          <p:spPr>
            <a:xfrm>
              <a:off x="533400" y="6362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6475095"/>
              <a:ext cx="30292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Source: Open NCCU 內部系統埋點推估（MECE 待實測）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13066" y="64750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2920" y="469106"/>
            <a:ext cx="8125968" cy="1092994"/>
            <a:chOff x="502920" y="469106"/>
            <a:chExt cx="8125968" cy="1092994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69106"/>
              <a:ext cx="698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2920" y="712470"/>
              <a:ext cx="812596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多條件搜尋要求「先知道要查什麼」，讓有職涯方向、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2920" y="1074420"/>
              <a:ext cx="67818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卻沒有具體課程關鍵字的學生卡在漏斗最上游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524000"/>
            <a:ext cx="11125200" cy="438150"/>
            <a:chOff x="533400" y="1524000"/>
            <a:chExt cx="11125200" cy="438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53166">
                <a:alpha val="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533400" y="15240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38100">
              <a:solidFill>
                <a:srgbClr val="1531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9610" y="1670685"/>
              <a:ext cx="6096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學生查得到課，卻查不到「跟自己職涯有關的課」——問題出在搜尋介面沒有翻譯層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2209800"/>
            <a:ext cx="5410200" cy="3619500"/>
            <a:chOff x="533400" y="2209800"/>
            <a:chExt cx="54102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33400" y="2209800"/>
              <a:ext cx="54102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114300" dist="38100" dir="5400000" algn="ctr" rotWithShape="0">
                <a:srgbClr val="153166">
                  <a:alpha val="6000"/>
                </a:srgbClr>
              </a:outerShdw>
            </a:effectLst>
          </p:spPr>
        </p:sp>
        <p:grpSp>
          <p:nvGrpSpPr>
            <p:cNvPr id="14" name="Group 14"/>
            <p:cNvGrpSpPr/>
            <p:nvPr/>
          </p:nvGrpSpPr>
          <p:grpSpPr>
            <a:xfrm>
              <a:off x="873919" y="2550319"/>
              <a:ext cx="214313" cy="214313"/>
              <a:chOff x="873919" y="2550319"/>
              <a:chExt cx="214313" cy="21431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73919" y="25503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52586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6794" y="26931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25864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17295" y="2565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現況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008" y="3024664"/>
              <a:ext cx="30672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搜尋介面假設使用者已經知道要找什麼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960" y="33756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課程搜尋介面要求輸入課名、教師、課程編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960" y="36423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號等具體關鍵字。有明確職涯目標、但不熟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960" y="39090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悉政大課程體系的學生，往往因為打不出對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960" y="41757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的關鍵字，而查無結果或查到大量不相關課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960" y="44424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程，在「課程搜尋」這一步就放棄，從未進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2960" y="4709160"/>
              <a:ext cx="2926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入「收藏→模擬課表→批量選課」這條既有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2960" y="49758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核心流程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2209800"/>
            <a:ext cx="5410200" cy="3619500"/>
            <a:chOff x="6248400" y="2209800"/>
            <a:chExt cx="54102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6248400" y="2209800"/>
              <a:ext cx="5410200" cy="3619500"/>
            </a:xfrm>
            <a:prstGeom prst="roundRect">
              <a:avLst>
                <a:gd name="adj" fmla="val 3158"/>
              </a:avLst>
            </a:prstGeom>
            <a:solidFill>
              <a:srgbClr val="153166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75999" y="2546363"/>
              <a:ext cx="240143" cy="206314"/>
              <a:chOff x="6575999" y="2546363"/>
              <a:chExt cx="240143" cy="20631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96075" y="26217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DFCF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75999" y="25463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FDFCF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96075" y="2705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FDFCF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932295" y="2565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真因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37008" y="3024664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「職涯目標」與「課程關鍵字」之間，完全沒有翻譯層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37960" y="33756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學生必須自己把「我想當資料分析師」硬轉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37960" y="3642360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換成「統計、Python、SQL」這類課綱用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37960" y="39090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語。多數學生做不到這一步，直接卡死在漏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7960" y="41757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斗最上游，從未觸及北極星指標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362700"/>
            <a:ext cx="11148060" cy="295275"/>
            <a:chOff x="521970" y="6362700"/>
            <a:chExt cx="11148060" cy="295275"/>
          </a:xfrm>
        </p:grpSpPr>
        <p:sp>
          <p:nvSpPr>
            <p:cNvPr id="37" name="Line 37"/>
            <p:cNvSpPr/>
            <p:nvPr/>
          </p:nvSpPr>
          <p:spPr>
            <a:xfrm>
              <a:off x="533400" y="6362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1970" y="6475095"/>
              <a:ext cx="58255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Source: Open NCCU 操作手冊功能設計；既有搜尋欄位僅支援課程名稱／教師／課程編號／類型／地點／時間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13066" y="64750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841206" y="1069975"/>
            <a:ext cx="1184713" cy="256381"/>
            <a:chOff x="5841206" y="1069975"/>
            <a:chExt cx="1184713" cy="256381"/>
          </a:xfrm>
        </p:grpSpPr>
        <p:grpSp>
          <p:nvGrpSpPr>
            <p:cNvPr id="6" name="Group 6"/>
            <p:cNvGrpSpPr/>
            <p:nvPr/>
          </p:nvGrpSpPr>
          <p:grpSpPr>
            <a:xfrm>
              <a:off x="5841206" y="1069975"/>
              <a:ext cx="185738" cy="175419"/>
              <a:chOff x="5841206" y="1069975"/>
              <a:chExt cx="185738" cy="17541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892800" y="1121569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892800" y="116284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5841206" y="1069975"/>
                <a:ext cx="18573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5419">
                    <a:moveTo>
                      <a:pt x="61912" y="144463"/>
                    </a:moveTo>
                    <a:lnTo>
                      <a:pt x="30956" y="144463"/>
                    </a:lnTo>
                    <a:cubicBezTo>
                      <a:pt x="13860" y="144463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113506"/>
                    </a:lnTo>
                    <a:cubicBezTo>
                      <a:pt x="185738" y="130603"/>
                      <a:pt x="171878" y="144463"/>
                      <a:pt x="154781" y="144463"/>
                    </a:cubicBezTo>
                    <a:lnTo>
                      <a:pt x="123825" y="144463"/>
                    </a:lnTo>
                    <a:lnTo>
                      <a:pt x="92869" y="175419"/>
                    </a:lnTo>
                    <a:lnTo>
                      <a:pt x="61912" y="144463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6138862" y="1097756"/>
              <a:ext cx="8870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USER STORY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819494" y="1588770"/>
            <a:ext cx="553012" cy="1097280"/>
            <a:chOff x="5819494" y="1588770"/>
            <a:chExt cx="553012" cy="1097280"/>
          </a:xfrm>
        </p:grpSpPr>
        <p:sp>
          <p:nvSpPr>
            <p:cNvPr id="9" name="TextBox 9"/>
            <p:cNvSpPr txBox="1"/>
            <p:nvPr/>
          </p:nvSpPr>
          <p:spPr>
            <a:xfrm>
              <a:off x="5819494" y="1588770"/>
              <a:ext cx="55301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53166">
                      <a:alphaMod val="14000"/>
                    </a:srgbClr>
                  </a:solidFill>
                  <a:latin typeface="Georgia"/>
                  <a:ea typeface="Microsoft YaHei"/>
                  <a:cs typeface="Georgia"/>
                </a:rPr>
                <a:t>“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93813" y="2285048"/>
            <a:ext cx="8404374" cy="1996440"/>
            <a:chOff x="1893813" y="2285048"/>
            <a:chExt cx="8404374" cy="1996440"/>
          </a:xfrm>
        </p:grpSpPr>
        <p:sp>
          <p:nvSpPr>
            <p:cNvPr id="11" name="TextBox 11"/>
            <p:cNvSpPr txBox="1"/>
            <p:nvPr/>
          </p:nvSpPr>
          <p:spPr>
            <a:xfrm>
              <a:off x="2385274" y="2285048"/>
              <a:ext cx="74214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身為一名不知道怎麼把職涯目標轉換成具體課程的政大學生，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0894" y="2685098"/>
              <a:ext cx="551021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我想要只用一句自然語言描述我的職涯目標，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4290" y="3085148"/>
              <a:ext cx="83634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就能得到 AI 反查推薦、真實存在且可回溯原文的課程與排好的課表，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3813" y="3485198"/>
              <a:ext cx="84043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以便我能直接沿用 Open NCCU 既有的收藏→模擬課表→批量選課流程，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5274" y="3885248"/>
              <a:ext cx="74214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完成選課決策，而不必自己土法煉鋼地一個一個關鍵字去試。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10250" y="4552950"/>
            <a:ext cx="571500" cy="9525"/>
            <a:chOff x="5810250" y="4552950"/>
            <a:chExt cx="571500" cy="9525"/>
          </a:xfrm>
        </p:grpSpPr>
        <p:sp>
          <p:nvSpPr>
            <p:cNvPr id="17" name="Line 17"/>
            <p:cNvSpPr/>
            <p:nvPr/>
          </p:nvSpPr>
          <p:spPr>
            <a:xfrm>
              <a:off x="5810250" y="4552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007583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2838450" y="4788218"/>
            <a:ext cx="6515100" cy="902970"/>
            <a:chOff x="2838450" y="4788218"/>
            <a:chExt cx="6515100" cy="902970"/>
          </a:xfrm>
        </p:grpSpPr>
        <p:grpSp>
          <p:nvGrpSpPr>
            <p:cNvPr id="22" name="Group 22"/>
            <p:cNvGrpSpPr/>
            <p:nvPr/>
          </p:nvGrpSpPr>
          <p:grpSpPr>
            <a:xfrm>
              <a:off x="5738812" y="4805362"/>
              <a:ext cx="142875" cy="142875"/>
              <a:chOff x="5738812" y="4805362"/>
              <a:chExt cx="14287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738812" y="48053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525864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767197" y="48371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525864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791994" y="49164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525864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174105" y="47882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核心承諾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26048" y="51311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AI 只做「職涯目標→課程關鍵字→真實課程」這段翻譯與推薦，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38450" y="5416868"/>
              <a:ext cx="65151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選課決策後續動作（收藏、排課、批量匯出）完全沿用既有流程，不重建、不取代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1970" y="6362700"/>
            <a:ext cx="11148060" cy="295275"/>
            <a:chOff x="521970" y="6362700"/>
            <a:chExt cx="11148060" cy="295275"/>
          </a:xfrm>
        </p:grpSpPr>
        <p:sp>
          <p:nvSpPr>
            <p:cNvPr id="27" name="Line 27"/>
            <p:cNvSpPr/>
            <p:nvPr/>
          </p:nvSpPr>
          <p:spPr>
            <a:xfrm>
              <a:off x="533400" y="6362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1970" y="647509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職涯選課 AI —— 用職涯目標反查課程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13066" y="64750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469106"/>
            <a:ext cx="11561607" cy="745332"/>
            <a:chOff x="501015" y="469106"/>
            <a:chExt cx="11561607" cy="745332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69106"/>
              <a:ext cx="14620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SUCCESS DEFINITION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96278"/>
              <a:ext cx="115616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成功定義：將「AI 推薦後成功加入模擬課表」的比例，從 0% 提升至 55%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162050"/>
            <a:ext cx="11125200" cy="438150"/>
            <a:chOff x="533400" y="116205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116205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53166">
                <a:alpha val="6000"/>
              </a:srgb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33400" y="11620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38100">
              <a:solidFill>
                <a:srgbClr val="15316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610" y="1308735"/>
              <a:ext cx="75914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每週完成至少一輪推薦對話的學生中，成功加入模擬課表的比例，沿用「知道且使用」採用率推估假設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847850"/>
            <a:ext cx="5048250" cy="3981450"/>
            <a:chOff x="533400" y="1847850"/>
            <a:chExt cx="5048250" cy="3981450"/>
          </a:xfrm>
        </p:grpSpPr>
        <p:sp>
          <p:nvSpPr>
            <p:cNvPr id="10" name="Rectangle 10"/>
            <p:cNvSpPr/>
            <p:nvPr/>
          </p:nvSpPr>
          <p:spPr>
            <a:xfrm>
              <a:off x="533400" y="1847850"/>
              <a:ext cx="5048250" cy="3981450"/>
            </a:xfrm>
            <a:prstGeom prst="roundRect">
              <a:avLst>
                <a:gd name="adj" fmla="val 2871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114300" dist="38100" dir="5400000" algn="ctr" rotWithShape="0">
                <a:srgbClr val="153166">
                  <a:alpha val="6000"/>
                </a:srgbClr>
              </a:outerShdw>
            </a:effectLst>
          </p:spPr>
        </p:sp>
        <p:grpSp>
          <p:nvGrpSpPr>
            <p:cNvPr id="13" name="Group 13"/>
            <p:cNvGrpSpPr/>
            <p:nvPr/>
          </p:nvGrpSpPr>
          <p:grpSpPr>
            <a:xfrm>
              <a:off x="869156" y="2183606"/>
              <a:ext cx="185737" cy="185737"/>
              <a:chOff x="869156" y="2183606"/>
              <a:chExt cx="185737" cy="1857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69156" y="21836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19050">
                <a:solidFill>
                  <a:srgbClr val="8A8F9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2981" y="23074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8A8F9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66812" y="2240756"/>
              <a:ext cx="11154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CURRENT STATE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2716530"/>
              <a:ext cx="1368990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008" y="382476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學生只能用多條件搜尋自行摸索，職涯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008" y="411051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目標與課程之間無任何翻譯機制，轉化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008" y="4396264"/>
              <a:ext cx="644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率為 0%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29300" y="3571875"/>
            <a:ext cx="533400" cy="533400"/>
            <a:chOff x="5829300" y="3571875"/>
            <a:chExt cx="533400" cy="533400"/>
          </a:xfrm>
        </p:grpSpPr>
        <p:sp>
          <p:nvSpPr>
            <p:cNvPr id="20" name="Ellipse 20"/>
            <p:cNvSpPr/>
            <p:nvPr/>
          </p:nvSpPr>
          <p:spPr>
            <a:xfrm>
              <a:off x="5829300" y="3571875"/>
              <a:ext cx="533400" cy="533400"/>
            </a:xfrm>
            <a:prstGeom prst="ellipse">
              <a:avLst/>
            </a:prstGeom>
            <a:solidFill>
              <a:srgbClr val="FDFCFA"/>
            </a:solidFill>
            <a:ln w="19050">
              <a:solidFill>
                <a:srgbClr val="007583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018212" y="3771900"/>
              <a:ext cx="155575" cy="133350"/>
              <a:chOff x="6018212" y="3771900"/>
              <a:chExt cx="155575" cy="1333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018212" y="3838575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07112" y="38385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07112" y="37719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6610350" y="1847850"/>
            <a:ext cx="5048250" cy="3981450"/>
            <a:chOff x="6610350" y="1847850"/>
            <a:chExt cx="5048250" cy="3981450"/>
          </a:xfrm>
        </p:grpSpPr>
        <p:sp>
          <p:nvSpPr>
            <p:cNvPr id="26" name="Rectangle 26"/>
            <p:cNvSpPr/>
            <p:nvPr/>
          </p:nvSpPr>
          <p:spPr>
            <a:xfrm>
              <a:off x="6610350" y="1847850"/>
              <a:ext cx="5048250" cy="3981450"/>
            </a:xfrm>
            <a:prstGeom prst="roundRect">
              <a:avLst>
                <a:gd name="adj" fmla="val 2871"/>
              </a:avLst>
            </a:prstGeom>
            <a:solidFill>
              <a:srgbClr val="153166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946106" y="2183606"/>
              <a:ext cx="185738" cy="185738"/>
              <a:chOff x="6946106" y="2183606"/>
              <a:chExt cx="185738" cy="1857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46106" y="2183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008019" y="2255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243762" y="2240756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6C6CE"/>
                  </a:solidFill>
                  <a:latin typeface="Arial"/>
                  <a:ea typeface="Microsoft YaHei"/>
                  <a:cs typeface="Arial"/>
                </a:rPr>
                <a:t>TARGET STATE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31330" y="2716530"/>
              <a:ext cx="1877254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55%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958" y="3824764"/>
              <a:ext cx="27782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學生描述職涯目標後，AI 反查推薦真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958" y="4110514"/>
              <a:ext cx="27782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實課程並附具體理由，55% 的對話會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8958" y="43962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促成至少一門課被加入模擬課表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1970" y="6115050"/>
            <a:ext cx="11148060" cy="295275"/>
            <a:chOff x="521970" y="6115050"/>
            <a:chExt cx="11148060" cy="295275"/>
          </a:xfrm>
        </p:grpSpPr>
        <p:sp>
          <p:nvSpPr>
            <p:cNvPr id="36" name="Line 36"/>
            <p:cNvSpPr/>
            <p:nvPr/>
          </p:nvSpPr>
          <p:spPr>
            <a:xfrm>
              <a:off x="533400" y="6115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1970" y="6227445"/>
              <a:ext cx="30412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Source: 沿用第一階段「知道且使用」採用率 MECE 推估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3066" y="622744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5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6730" y="373856"/>
            <a:ext cx="5978181" cy="969169"/>
            <a:chOff x="506730" y="373856"/>
            <a:chExt cx="5978181" cy="969169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373856"/>
              <a:ext cx="1422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MECHANISM &amp; FLOW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6730" y="611505"/>
              <a:ext cx="59781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學生輸入職涯目標 → AI 意圖辨識與查詢改寫 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6730" y="916305"/>
              <a:ext cx="539010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單次檢索與零幻覺校驗 → 產出理由與課表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333500"/>
            <a:ext cx="11125200" cy="1409700"/>
            <a:chOff x="533400" y="1333500"/>
            <a:chExt cx="11125200" cy="14097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11125200" cy="140970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9525">
              <a:solidFill>
                <a:srgbClr val="E4E1D9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800" y="1428750"/>
              <a:ext cx="9590400" cy="121920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533400" y="3009900"/>
            <a:ext cx="2609850" cy="2857500"/>
            <a:chOff x="533400" y="3009900"/>
            <a:chExt cx="2609850" cy="2857500"/>
          </a:xfrm>
        </p:grpSpPr>
        <p:sp>
          <p:nvSpPr>
            <p:cNvPr id="10" name="Rectangle 10"/>
            <p:cNvSpPr/>
            <p:nvPr/>
          </p:nvSpPr>
          <p:spPr>
            <a:xfrm>
              <a:off x="533400" y="3009900"/>
              <a:ext cx="2609850" cy="2857500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685800" y="3162300"/>
              <a:ext cx="419100" cy="419100"/>
            </a:xfrm>
            <a:prstGeom prst="ellipse">
              <a:avLst/>
            </a:prstGeom>
            <a:solidFill>
              <a:srgbClr val="1531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064" y="330088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297906" y="3222625"/>
              <a:ext cx="185738" cy="175419"/>
              <a:chOff x="2297906" y="3222625"/>
              <a:chExt cx="185738" cy="17541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349500" y="3274219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349500" y="331549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97906" y="3222625"/>
                <a:ext cx="18573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5419">
                    <a:moveTo>
                      <a:pt x="61912" y="144463"/>
                    </a:moveTo>
                    <a:lnTo>
                      <a:pt x="30956" y="144463"/>
                    </a:lnTo>
                    <a:cubicBezTo>
                      <a:pt x="13860" y="144463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113506"/>
                    </a:lnTo>
                    <a:cubicBezTo>
                      <a:pt x="185738" y="130603"/>
                      <a:pt x="171878" y="144463"/>
                      <a:pt x="154781" y="144463"/>
                    </a:cubicBezTo>
                    <a:lnTo>
                      <a:pt x="123825" y="144463"/>
                    </a:lnTo>
                    <a:lnTo>
                      <a:pt x="92869" y="175419"/>
                    </a:lnTo>
                    <a:lnTo>
                      <a:pt x="61912" y="144463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67715" y="38109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輸入端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5810" y="40614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自然語言輸入職涯目標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7715" y="4363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例如「我想當資料分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7715" y="45729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析師」，無需具備任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7715" y="4782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何課程檢索詞彙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352800" y="3009900"/>
            <a:ext cx="2609850" cy="2857500"/>
            <a:chOff x="3352800" y="3009900"/>
            <a:chExt cx="2609850" cy="2857500"/>
          </a:xfrm>
        </p:grpSpPr>
        <p:sp>
          <p:nvSpPr>
            <p:cNvPr id="23" name="Rectangle 23"/>
            <p:cNvSpPr/>
            <p:nvPr/>
          </p:nvSpPr>
          <p:spPr>
            <a:xfrm>
              <a:off x="3352800" y="3009900"/>
              <a:ext cx="2609850" cy="2857500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24" name="Ellipse 24"/>
            <p:cNvSpPr/>
            <p:nvPr/>
          </p:nvSpPr>
          <p:spPr>
            <a:xfrm>
              <a:off x="3505200" y="3162300"/>
              <a:ext cx="419100" cy="419100"/>
            </a:xfrm>
            <a:prstGeom prst="ellipse">
              <a:avLst/>
            </a:prstGeom>
            <a:solidFill>
              <a:srgbClr val="15316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49464" y="330088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117306" y="3212306"/>
              <a:ext cx="185737" cy="185738"/>
              <a:chOff x="5117306" y="3212306"/>
              <a:chExt cx="185737" cy="1857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137944" y="3232944"/>
                <a:ext cx="144463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3" y="4620"/>
                      <a:pt x="144463" y="10319"/>
                    </a:cubicBezTo>
                    <a:lnTo>
                      <a:pt x="144463" y="134144"/>
                    </a:lnTo>
                    <a:cubicBezTo>
                      <a:pt x="144463" y="139843"/>
                      <a:pt x="139843" y="144462"/>
                      <a:pt x="134144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3"/>
                      <a:pt x="0" y="13414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179219" y="327421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61912"/>
                    </a:lnTo>
                    <a:lnTo>
                      <a:pt x="0" y="619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117306" y="328453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17306" y="332581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89538" y="321230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230812" y="321230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282406" y="328453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82406" y="332581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230812" y="337740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189538" y="337740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587115" y="38109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AI 處理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85210" y="40614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意圖辨識與關鍵字展開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87115" y="4363402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比對 100 職涯清單、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87115" y="45729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給出信心分級，展開為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87115" y="4782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技能關鍵字陣列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72200" y="3009900"/>
            <a:ext cx="2609850" cy="2857500"/>
            <a:chOff x="6172200" y="3009900"/>
            <a:chExt cx="2609850" cy="2857500"/>
          </a:xfrm>
        </p:grpSpPr>
        <p:sp>
          <p:nvSpPr>
            <p:cNvPr id="43" name="Rectangle 43"/>
            <p:cNvSpPr/>
            <p:nvPr/>
          </p:nvSpPr>
          <p:spPr>
            <a:xfrm>
              <a:off x="6172200" y="3009900"/>
              <a:ext cx="2609850" cy="2857500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44" name="Ellipse 44"/>
            <p:cNvSpPr/>
            <p:nvPr/>
          </p:nvSpPr>
          <p:spPr>
            <a:xfrm>
              <a:off x="6324600" y="3162300"/>
              <a:ext cx="419100" cy="419100"/>
            </a:xfrm>
            <a:prstGeom prst="ellipse">
              <a:avLst/>
            </a:prstGeom>
            <a:solidFill>
              <a:srgbClr val="15316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68864" y="330088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922781" y="3212306"/>
              <a:ext cx="201507" cy="185738"/>
              <a:chOff x="7922781" y="3212306"/>
              <a:chExt cx="201507" cy="18573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922781" y="3212306"/>
                <a:ext cx="201507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7" h="184148">
                    <a:moveTo>
                      <a:pt x="101222" y="184148"/>
                    </a:moveTo>
                    <a:cubicBezTo>
                      <a:pt x="36580" y="164111"/>
                      <a:pt x="0" y="95886"/>
                      <a:pt x="19085" y="30956"/>
                    </a:cubicBezTo>
                    <a:cubicBezTo>
                      <a:pt x="51233" y="32427"/>
                      <a:pt x="82692" y="21324"/>
                      <a:pt x="106794" y="0"/>
                    </a:cubicBezTo>
                    <a:cubicBezTo>
                      <a:pt x="130897" y="21324"/>
                      <a:pt x="162355" y="32427"/>
                      <a:pt x="194504" y="30956"/>
                    </a:cubicBezTo>
                    <a:cubicBezTo>
                      <a:pt x="201507" y="54783"/>
                      <a:pt x="201183" y="80166"/>
                      <a:pt x="193575" y="103807"/>
                    </a:cubicBez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60531" y="335676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406515" y="38109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校對與驗證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04610" y="40614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單次檢索＋零幻覺校驗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06515" y="4363402"/>
              <a:ext cx="1293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query 陣列單次呼叫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06515" y="45729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File Search，三態去重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06515" y="47825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並逐筆比對真實課程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991600" y="3009900"/>
            <a:ext cx="2667000" cy="2857500"/>
            <a:chOff x="8991600" y="3009900"/>
            <a:chExt cx="2667000" cy="2857500"/>
          </a:xfrm>
        </p:grpSpPr>
        <p:sp>
          <p:nvSpPr>
            <p:cNvPr id="55" name="Rectangle 55"/>
            <p:cNvSpPr/>
            <p:nvPr/>
          </p:nvSpPr>
          <p:spPr>
            <a:xfrm>
              <a:off x="8991600" y="3009900"/>
              <a:ext cx="2667000" cy="2857500"/>
            </a:xfrm>
            <a:prstGeom prst="roundRect">
              <a:avLst>
                <a:gd name="adj" fmla="val 4286"/>
              </a:avLst>
            </a:prstGeom>
            <a:solidFill>
              <a:srgbClr val="153166"/>
            </a:solidFill>
            <a:ln>
              <a:noFill/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56" name="Ellipse 56"/>
            <p:cNvSpPr/>
            <p:nvPr/>
          </p:nvSpPr>
          <p:spPr>
            <a:xfrm>
              <a:off x="9144000" y="3162300"/>
              <a:ext cx="419100" cy="419100"/>
            </a:xfrm>
            <a:prstGeom prst="ellipse">
              <a:avLst/>
            </a:prstGeom>
            <a:solidFill>
              <a:srgbClr val="FDFC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88264" y="330088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1085116" y="3227784"/>
              <a:ext cx="170259" cy="149622"/>
              <a:chOff x="11085116" y="3227784"/>
              <a:chExt cx="170259" cy="14962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1085116" y="322778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1085116" y="328969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085116" y="335160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1162506" y="3243262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1162506" y="3305175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1162506" y="3367088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66C6CE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9225915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6C6CE"/>
                  </a:solidFill>
                  <a:latin typeface="Arial"/>
                  <a:ea typeface="Microsoft YaHei"/>
                  <a:cs typeface="Arial"/>
                </a:rPr>
                <a:t>完成產出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24010" y="40614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理由生成＋沿用既有流程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25915" y="436340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top 5 課程各生成 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25915" y="45729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條理由與原文連結，依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225915" y="47825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學期分組、可加入課表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1970" y="6096000"/>
            <a:ext cx="11148060" cy="295275"/>
            <a:chOff x="521970" y="6096000"/>
            <a:chExt cx="11148060" cy="295275"/>
          </a:xfrm>
        </p:grpSpPr>
        <p:sp>
          <p:nvSpPr>
            <p:cNvPr id="71" name="Line 71"/>
            <p:cNvSpPr/>
            <p:nvPr/>
          </p:nvSpPr>
          <p:spPr>
            <a:xfrm>
              <a:off x="533400" y="6096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1970" y="6208395"/>
              <a:ext cx="30772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流程圖：diagram-slide5（Mermaid 渲染，使用者提供）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13066" y="62083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42" grpId="0"/>
      <p:bldP spid="54" grpId="0"/>
      <p:bldP spid="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2920" y="469106"/>
            <a:ext cx="8462010" cy="731044"/>
            <a:chOff x="502920" y="469106"/>
            <a:chExt cx="8462010" cy="731044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69106"/>
              <a:ext cx="1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EXPERIENCE SHIFT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2920" y="712470"/>
              <a:ext cx="846201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這個功能上線後，學生查課決策的核心體驗會有什麼質變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4229100" cy="3619500"/>
            <a:chOff x="533400" y="1428750"/>
            <a:chExt cx="4229100" cy="3619500"/>
          </a:xfrm>
        </p:grpSpPr>
        <p:sp>
          <p:nvSpPr>
            <p:cNvPr id="6" name="Rectangle 6"/>
            <p:cNvSpPr/>
            <p:nvPr/>
          </p:nvSpPr>
          <p:spPr>
            <a:xfrm>
              <a:off x="533400" y="1428750"/>
              <a:ext cx="42291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114300" dist="38100" dir="5400000" algn="ctr" rotWithShape="0">
                <a:srgbClr val="153166">
                  <a:alpha val="6000"/>
                </a:srgbClr>
              </a:outerShdw>
            </a:effectLst>
          </p:spPr>
        </p:sp>
        <p:grpSp>
          <p:nvGrpSpPr>
            <p:cNvPr id="9" name="Group 9"/>
            <p:cNvGrpSpPr/>
            <p:nvPr/>
          </p:nvGrpSpPr>
          <p:grpSpPr>
            <a:xfrm>
              <a:off x="869156" y="1764506"/>
              <a:ext cx="185737" cy="185737"/>
              <a:chOff x="869156" y="1764506"/>
              <a:chExt cx="185737" cy="18573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69156" y="1764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19050">
                <a:solidFill>
                  <a:srgbClr val="8A8F9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92981" y="1888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8A8F98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66812" y="182165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BEFORE · 現況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2707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學生必須自己想清楚要打哪些系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25374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所名稱、課名或關鍵字，一個一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28041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個試多條件搜尋；常常因為不知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60" y="30708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道職涯目標該對應什麼課程用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2960" y="33375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語，查無結果，最後放棄或隨便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960" y="36042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選幾門不確定是否相關的課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91100" y="1428750"/>
            <a:ext cx="4229100" cy="3619500"/>
            <a:chOff x="4991100" y="1428750"/>
            <a:chExt cx="42291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4991100" y="1428750"/>
              <a:ext cx="4229100" cy="3619500"/>
            </a:xfrm>
            <a:prstGeom prst="roundRect">
              <a:avLst>
                <a:gd name="adj" fmla="val 3158"/>
              </a:avLst>
            </a:prstGeom>
            <a:solidFill>
              <a:srgbClr val="153166"/>
            </a:solidFill>
            <a:ln>
              <a:noFill/>
            </a:ln>
            <a:effectLst>
              <a:outerShdw blurRad="114300" dist="38100" dir="5400000" algn="ctr" rotWithShape="0">
                <a:srgbClr val="153166">
                  <a:alpha val="6000"/>
                </a:srgbClr>
              </a:outerShdw>
            </a:effectLst>
          </p:spPr>
        </p:sp>
        <p:sp>
          <p:nvSpPr>
            <p:cNvPr id="19" name="Freeform 19"/>
            <p:cNvSpPr/>
            <p:nvPr/>
          </p:nvSpPr>
          <p:spPr>
            <a:xfrm>
              <a:off x="5326856" y="1774825"/>
              <a:ext cx="175419" cy="165100"/>
            </a:xfrm>
            <a:custGeom>
              <a:avLst/>
              <a:gdLst/>
              <a:ahLst/>
              <a:cxnLst/>
              <a:rect l="l" t="t" r="r" b="b"/>
              <a:pathLst>
                <a:path w="175419" h="165100">
                  <a:moveTo>
                    <a:pt x="134144" y="144462"/>
                  </a:moveTo>
                  <a:cubicBezTo>
                    <a:pt x="145542" y="144462"/>
                    <a:pt x="154781" y="153702"/>
                    <a:pt x="154781" y="165100"/>
                  </a:cubicBezTo>
                  <a:cubicBezTo>
                    <a:pt x="154781" y="153702"/>
                    <a:pt x="164021" y="144462"/>
                    <a:pt x="175419" y="144462"/>
                  </a:cubicBezTo>
                  <a:cubicBezTo>
                    <a:pt x="164021" y="144462"/>
                    <a:pt x="154781" y="135223"/>
                    <a:pt x="154781" y="123825"/>
                  </a:cubicBezTo>
                  <a:cubicBezTo>
                    <a:pt x="154781" y="135223"/>
                    <a:pt x="145542" y="144462"/>
                    <a:pt x="134144" y="144462"/>
                  </a:cubicBezTo>
                  <a:moveTo>
                    <a:pt x="134144" y="20637"/>
                  </a:moveTo>
                  <a:cubicBezTo>
                    <a:pt x="145542" y="20637"/>
                    <a:pt x="154781" y="29877"/>
                    <a:pt x="154781" y="41275"/>
                  </a:cubicBezTo>
                  <a:cubicBezTo>
                    <a:pt x="154781" y="29877"/>
                    <a:pt x="164021" y="20637"/>
                    <a:pt x="175419" y="20637"/>
                  </a:cubicBezTo>
                  <a:cubicBezTo>
                    <a:pt x="164021" y="20637"/>
                    <a:pt x="154781" y="11398"/>
                    <a:pt x="154781" y="0"/>
                  </a:cubicBezTo>
                  <a:cubicBezTo>
                    <a:pt x="154781" y="11398"/>
                    <a:pt x="145542" y="20637"/>
                    <a:pt x="134144" y="20637"/>
                  </a:cubicBezTo>
                  <a:moveTo>
                    <a:pt x="61912" y="144462"/>
                  </a:moveTo>
                  <a:cubicBezTo>
                    <a:pt x="61912" y="110269"/>
                    <a:pt x="89632" y="82550"/>
                    <a:pt x="123825" y="82550"/>
                  </a:cubicBezTo>
                  <a:cubicBezTo>
                    <a:pt x="89632" y="82550"/>
                    <a:pt x="61912" y="54831"/>
                    <a:pt x="61912" y="20637"/>
                  </a:cubicBezTo>
                  <a:cubicBezTo>
                    <a:pt x="61912" y="54831"/>
                    <a:pt x="34193" y="82550"/>
                    <a:pt x="0" y="82550"/>
                  </a:cubicBezTo>
                  <a:cubicBezTo>
                    <a:pt x="34193" y="82550"/>
                    <a:pt x="61912" y="110269"/>
                    <a:pt x="61912" y="144462"/>
                  </a:cubicBezTo>
                </a:path>
              </a:pathLst>
            </a:custGeom>
            <a:noFill/>
            <a:ln w="19050">
              <a:solidFill>
                <a:srgbClr val="66C6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24512" y="1821656"/>
              <a:ext cx="11154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6C6CE"/>
                  </a:solidFill>
                  <a:latin typeface="Arial"/>
                  <a:ea typeface="Microsoft YaHei"/>
                  <a:cs typeface="Arial"/>
                </a:rPr>
                <a:t>AFTER · 上線後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0660" y="22707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學生只要說出一句想做的工作，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0" y="2537460"/>
              <a:ext cx="2134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AI 立刻反查政大真實存在、可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0660" y="28041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回溯原文的 5 門課，每門附 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0660" y="30708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條具體理由，一鍵就能沿用既有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0660" y="33375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的「加入模擬課表」流程繼續排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0660" y="3604260"/>
              <a:ext cx="1905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2ED">
                      <a:alphaMod val="94000"/>
                    </a:srgbClr>
                  </a:solidFill>
                  <a:latin typeface="Arial"/>
                  <a:ea typeface="Microsoft YaHei"/>
                  <a:cs typeface="Arial"/>
                </a:rPr>
                <a:t>課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3088" y="5250656"/>
            <a:ext cx="5233471" cy="457200"/>
            <a:chOff x="573088" y="5250656"/>
            <a:chExt cx="5233471" cy="457200"/>
          </a:xfrm>
        </p:grpSpPr>
        <p:grpSp>
          <p:nvGrpSpPr>
            <p:cNvPr id="31" name="Group 31"/>
            <p:cNvGrpSpPr/>
            <p:nvPr/>
          </p:nvGrpSpPr>
          <p:grpSpPr>
            <a:xfrm>
              <a:off x="573088" y="5267325"/>
              <a:ext cx="111125" cy="95250"/>
              <a:chOff x="573088" y="5267325"/>
              <a:chExt cx="111125" cy="95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73088" y="53149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36588" y="5314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36588" y="52673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04862" y="5250656"/>
              <a:ext cx="50016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系統整合（次要）：職涯選課 AI 後端透過課號（course_id）直接對接既有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4862" y="5479256"/>
              <a:ext cx="4409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Open NCCU 模擬課表／收藏模組，不重建排課邏輯，只新增翻譯層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0" y="1428750"/>
            <a:ext cx="2133600" cy="4191000"/>
            <a:chOff x="9525000" y="1428750"/>
            <a:chExt cx="2133600" cy="4191000"/>
          </a:xfrm>
        </p:grpSpPr>
        <p:sp>
          <p:nvSpPr>
            <p:cNvPr id="35" name="Rectangle 35"/>
            <p:cNvSpPr/>
            <p:nvPr/>
          </p:nvSpPr>
          <p:spPr>
            <a:xfrm>
              <a:off x="9525000" y="1428750"/>
              <a:ext cx="2133600" cy="419100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9525">
              <a:solidFill>
                <a:srgbClr val="E4E1D9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0250" y="1524000"/>
              <a:ext cx="1943100" cy="36957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9980295" y="53701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技術整合示意（可選）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" y="6115050"/>
            <a:ext cx="11148060" cy="295275"/>
            <a:chOff x="521970" y="6115050"/>
            <a:chExt cx="11148060" cy="295275"/>
          </a:xfrm>
        </p:grpSpPr>
        <p:sp>
          <p:nvSpPr>
            <p:cNvPr id="39" name="Line 39"/>
            <p:cNvSpPr/>
            <p:nvPr/>
          </p:nvSpPr>
          <p:spPr>
            <a:xfrm>
              <a:off x="533400" y="6115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1970" y="6227445"/>
              <a:ext cx="41573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流程圖：diagram-slide6（Mermaid 渲染，使用者提供，僅供內部技術評審）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13066" y="622744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4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4825" y="373856"/>
            <a:ext cx="9508331" cy="697706"/>
            <a:chOff x="504825" y="373856"/>
            <a:chExt cx="9508331" cy="697706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373856"/>
              <a:ext cx="12414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583"/>
                  </a:solidFill>
                  <a:latin typeface="Arial"/>
                  <a:ea typeface="Microsoft YaHei"/>
                  <a:cs typeface="Arial"/>
                </a:rPr>
                <a:t>VALIDATION PLAN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950833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3166"/>
                  </a:solidFill>
                  <a:latin typeface="Arial"/>
                  <a:ea typeface="Microsoft YaHei"/>
                  <a:cs typeface="Arial"/>
                </a:rPr>
                <a:t>以指標樹把關成效，由北極星指標層層拆解到量能與護欄，互相制衡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5715000" cy="3905250"/>
            <a:chOff x="571500" y="1428750"/>
            <a:chExt cx="5715000" cy="3905250"/>
          </a:xfrm>
        </p:grpSpPr>
        <p:sp>
          <p:nvSpPr>
            <p:cNvPr id="6" name="Polygon 6"/>
            <p:cNvSpPr/>
            <p:nvPr/>
          </p:nvSpPr>
          <p:spPr>
            <a:xfrm>
              <a:off x="2733675" y="1428750"/>
              <a:ext cx="1390650" cy="952500"/>
            </a:xfrm>
            <a:custGeom>
              <a:avLst/>
              <a:gdLst/>
              <a:ahLst/>
              <a:cxnLst/>
              <a:rect l="l" t="t" r="r" b="b"/>
              <a:pathLst>
                <a:path w="1390650" h="952500">
                  <a:moveTo>
                    <a:pt x="695325" y="0"/>
                  </a:moveTo>
                  <a:lnTo>
                    <a:pt x="13906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153166"/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2038350" y="2381250"/>
              <a:ext cx="2781300" cy="952500"/>
            </a:xfrm>
            <a:custGeom>
              <a:avLst/>
              <a:gdLst/>
              <a:ahLst/>
              <a:cxnLst/>
              <a:rect l="l" t="t" r="r" b="b"/>
              <a:pathLst>
                <a:path w="2781300" h="952500">
                  <a:moveTo>
                    <a:pt x="695325" y="0"/>
                  </a:moveTo>
                  <a:lnTo>
                    <a:pt x="2085975" y="0"/>
                  </a:lnTo>
                  <a:lnTo>
                    <a:pt x="27813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153166">
                <a:alpha val="75000"/>
              </a:srgbClr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1333500" y="3333750"/>
              <a:ext cx="4191000" cy="952500"/>
            </a:xfrm>
            <a:custGeom>
              <a:avLst/>
              <a:gdLst/>
              <a:ahLst/>
              <a:cxnLst/>
              <a:rect l="l" t="t" r="r" b="b"/>
              <a:pathLst>
                <a:path w="4191000" h="952500">
                  <a:moveTo>
                    <a:pt x="704850" y="0"/>
                  </a:moveTo>
                  <a:lnTo>
                    <a:pt x="3486150" y="0"/>
                  </a:lnTo>
                  <a:lnTo>
                    <a:pt x="4191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07583"/>
            </a:solidFill>
            <a:ln>
              <a:noFill/>
            </a:ln>
          </p:spPr>
        </p:sp>
        <p:sp>
          <p:nvSpPr>
            <p:cNvPr id="9" name="Polygon 9"/>
            <p:cNvSpPr/>
            <p:nvPr/>
          </p:nvSpPr>
          <p:spPr>
            <a:xfrm>
              <a:off x="571500" y="4286250"/>
              <a:ext cx="5715000" cy="1047750"/>
            </a:xfrm>
            <a:custGeom>
              <a:avLst/>
              <a:gdLst/>
              <a:ahLst/>
              <a:cxnLst/>
              <a:rect l="l" t="t" r="r" b="b"/>
              <a:pathLst>
                <a:path w="5715000" h="1047750">
                  <a:moveTo>
                    <a:pt x="762000" y="0"/>
                  </a:moveTo>
                  <a:lnTo>
                    <a:pt x="4953000" y="0"/>
                  </a:lnTo>
                  <a:lnTo>
                    <a:pt x="571500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007583">
                <a:alpha val="6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90339" y="1914049"/>
              <a:ext cx="2773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NSM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79673" y="282035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FSM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3301" y="3764756"/>
              <a:ext cx="611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VOLUME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18911" y="476631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GUARDRAIL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24325" y="1905000"/>
            <a:ext cx="2733675" cy="2905125"/>
            <a:chOff x="4124325" y="1905000"/>
            <a:chExt cx="2733675" cy="2905125"/>
          </a:xfrm>
        </p:grpSpPr>
        <p:sp>
          <p:nvSpPr>
            <p:cNvPr id="15" name="Line 15"/>
            <p:cNvSpPr/>
            <p:nvPr/>
          </p:nvSpPr>
          <p:spPr>
            <a:xfrm>
              <a:off x="4124325" y="1905000"/>
              <a:ext cx="2733675" cy="47625"/>
            </a:xfrm>
            <a:custGeom>
              <a:avLst/>
              <a:gdLst/>
              <a:ahLst/>
              <a:cxnLst/>
              <a:rect l="l" t="t" r="r" b="b"/>
              <a:pathLst>
                <a:path w="2733675" h="47625">
                  <a:moveTo>
                    <a:pt x="0" y="47625"/>
                  </a:moveTo>
                  <a:lnTo>
                    <a:pt x="2733675" y="0"/>
                  </a:lnTo>
                </a:path>
              </a:pathLst>
            </a:custGeom>
            <a:noFill/>
            <a:ln w="14288">
              <a:solidFill>
                <a:srgbClr val="8A8F98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4476750" y="2857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14288">
              <a:solidFill>
                <a:srgbClr val="8A8F98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5172075" y="3810000"/>
              <a:ext cx="1685925" cy="9525"/>
            </a:xfrm>
            <a:custGeom>
              <a:avLst/>
              <a:gdLst/>
              <a:ahLst/>
              <a:cxnLst/>
              <a:rect l="l" t="t" r="r" b="b"/>
              <a:pathLst>
                <a:path w="1685925" h="9525">
                  <a:moveTo>
                    <a:pt x="0" y="0"/>
                  </a:moveTo>
                  <a:lnTo>
                    <a:pt x="1685925" y="0"/>
                  </a:lnTo>
                </a:path>
              </a:pathLst>
            </a:custGeom>
            <a:noFill/>
            <a:ln w="14288">
              <a:solidFill>
                <a:srgbClr val="8A8F98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5905500" y="4791075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1905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8A8F98"/>
              </a:solidFill>
              <a:prstDash val="dash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858000" y="1476375"/>
            <a:ext cx="4800600" cy="857250"/>
            <a:chOff x="6858000" y="1476375"/>
            <a:chExt cx="4800600" cy="857250"/>
          </a:xfrm>
        </p:grpSpPr>
        <p:sp>
          <p:nvSpPr>
            <p:cNvPr id="20" name="Rectangle 20"/>
            <p:cNvSpPr/>
            <p:nvPr/>
          </p:nvSpPr>
          <p:spPr>
            <a:xfrm>
              <a:off x="6858000" y="1476375"/>
              <a:ext cx="48006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21" name="Line 21"/>
            <p:cNvSpPr/>
            <p:nvPr/>
          </p:nvSpPr>
          <p:spPr>
            <a:xfrm>
              <a:off x="6915150" y="166687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 cap="rnd">
              <a:solidFill>
                <a:srgbClr val="15316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107238" y="1615236"/>
              <a:ext cx="111125" cy="142127"/>
              <a:chOff x="7107238" y="1615236"/>
              <a:chExt cx="111125" cy="14212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107238" y="1615236"/>
                <a:ext cx="111125" cy="10169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1691">
                    <a:moveTo>
                      <a:pt x="0" y="15127"/>
                    </a:moveTo>
                    <a:cubicBezTo>
                      <a:pt x="15432" y="0"/>
                      <a:pt x="40130" y="0"/>
                      <a:pt x="55563" y="15127"/>
                    </a:cubicBezTo>
                    <a:cubicBezTo>
                      <a:pt x="70995" y="30253"/>
                      <a:pt x="95693" y="30253"/>
                      <a:pt x="111125" y="15127"/>
                    </a:cubicBezTo>
                    <a:lnTo>
                      <a:pt x="111125" y="86564"/>
                    </a:lnTo>
                    <a:cubicBezTo>
                      <a:pt x="95693" y="101691"/>
                      <a:pt x="70995" y="101691"/>
                      <a:pt x="55563" y="86564"/>
                    </a:cubicBezTo>
                    <a:cubicBezTo>
                      <a:pt x="40130" y="71438"/>
                      <a:pt x="15432" y="71438"/>
                      <a:pt x="0" y="86564"/>
                    </a:cubicBezTo>
                    <a:lnTo>
                      <a:pt x="0" y="15127"/>
                    </a:lnTo>
                  </a:path>
                </a:pathLst>
              </a:custGeom>
              <a:noFill/>
              <a:ln w="19050">
                <a:solidFill>
                  <a:srgbClr val="153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107238" y="1701800"/>
                <a:ext cx="95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3">
                    <a:moveTo>
                      <a:pt x="0" y="555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316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319962" y="1631156"/>
              <a:ext cx="17376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產品北極星指標（NSM）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5168" y="1856899"/>
              <a:ext cx="28526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每週匯出批量選課字串人次（基準 ≈1,728 → 目標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55168" y="2047399"/>
              <a:ext cx="26770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≈2,772）——系統可直接記錄，代表決策已完成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0" y="2428875"/>
            <a:ext cx="4800600" cy="857250"/>
            <a:chOff x="6858000" y="2428875"/>
            <a:chExt cx="4800600" cy="857250"/>
          </a:xfrm>
        </p:grpSpPr>
        <p:sp>
          <p:nvSpPr>
            <p:cNvPr id="29" name="Rectangle 29"/>
            <p:cNvSpPr/>
            <p:nvPr/>
          </p:nvSpPr>
          <p:spPr>
            <a:xfrm>
              <a:off x="6858000" y="2428875"/>
              <a:ext cx="48006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30" name="Line 30"/>
            <p:cNvSpPr/>
            <p:nvPr/>
          </p:nvSpPr>
          <p:spPr>
            <a:xfrm>
              <a:off x="6915150" y="261937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 cap="rnd">
              <a:solidFill>
                <a:srgbClr val="3D5A80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091362" y="2566988"/>
              <a:ext cx="142875" cy="142875"/>
              <a:chOff x="7091362" y="2566988"/>
              <a:chExt cx="142875" cy="1428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54862" y="2630488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7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7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7"/>
                    </a:cubicBezTo>
                  </a:path>
                </a:pathLst>
              </a:custGeom>
              <a:noFill/>
              <a:ln w="19050">
                <a:solidFill>
                  <a:srgbClr val="3D5A8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23112" y="2598738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39688"/>
                    </a:moveTo>
                    <a:cubicBezTo>
                      <a:pt x="0" y="61606"/>
                      <a:pt x="17769" y="79375"/>
                      <a:pt x="39687" y="79375"/>
                    </a:cubicBezTo>
                    <a:cubicBezTo>
                      <a:pt x="61606" y="79375"/>
                      <a:pt x="79375" y="61606"/>
                      <a:pt x="79375" y="39688"/>
                    </a:cubicBezTo>
                    <a:cubicBezTo>
                      <a:pt x="79375" y="17769"/>
                      <a:pt x="61606" y="0"/>
                      <a:pt x="39687" y="0"/>
                    </a:cubicBezTo>
                    <a:cubicBezTo>
                      <a:pt x="17769" y="0"/>
                      <a:pt x="0" y="17769"/>
                      <a:pt x="0" y="39688"/>
                    </a:cubicBezTo>
                  </a:path>
                </a:pathLst>
              </a:custGeom>
              <a:noFill/>
              <a:ln w="19050">
                <a:solidFill>
                  <a:srgbClr val="3D5A8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1362" y="2566988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3D5A8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319962" y="2583656"/>
              <a:ext cx="17376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功能層成功指標（FSM）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55168" y="280939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完成至少一輪推薦、成功加入模擬課表的比例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55168" y="2999899"/>
              <a:ext cx="2527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（目標 55%）——通往北極星指標的必經之路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0" y="3381375"/>
            <a:ext cx="4800600" cy="857250"/>
            <a:chOff x="6858000" y="3381375"/>
            <a:chExt cx="4800600" cy="857250"/>
          </a:xfrm>
        </p:grpSpPr>
        <p:sp>
          <p:nvSpPr>
            <p:cNvPr id="39" name="Rectangle 39"/>
            <p:cNvSpPr/>
            <p:nvPr/>
          </p:nvSpPr>
          <p:spPr>
            <a:xfrm>
              <a:off x="6858000" y="3381375"/>
              <a:ext cx="48006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E4E1D9"/>
              </a:solidFill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40" name="Line 40"/>
            <p:cNvSpPr/>
            <p:nvPr/>
          </p:nvSpPr>
          <p:spPr>
            <a:xfrm>
              <a:off x="6915150" y="357187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 cap="rnd">
              <a:solidFill>
                <a:srgbClr val="007583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091362" y="3519488"/>
              <a:ext cx="142875" cy="142875"/>
              <a:chOff x="7091362" y="3519488"/>
              <a:chExt cx="142875" cy="1428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07238" y="3519488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91362" y="3614738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94550" y="3520519"/>
                <a:ext cx="23875" cy="61516"/>
              </a:xfrm>
              <a:custGeom>
                <a:avLst/>
                <a:gdLst/>
                <a:ahLst/>
                <a:cxnLst/>
                <a:rect l="l" t="t" r="r" b="b"/>
                <a:pathLst>
                  <a:path w="23875" h="61516">
                    <a:moveTo>
                      <a:pt x="0" y="0"/>
                    </a:moveTo>
                    <a:cubicBezTo>
                      <a:pt x="14049" y="3597"/>
                      <a:pt x="23875" y="16256"/>
                      <a:pt x="23875" y="30758"/>
                    </a:cubicBezTo>
                    <a:cubicBezTo>
                      <a:pt x="23875" y="45260"/>
                      <a:pt x="14049" y="57919"/>
                      <a:pt x="0" y="61516"/>
                    </a:cubicBez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10425" y="3615928"/>
                <a:ext cx="23812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6434">
                    <a:moveTo>
                      <a:pt x="23812" y="46434"/>
                    </a:moveTo>
                    <a:lnTo>
                      <a:pt x="23812" y="30559"/>
                    </a:lnTo>
                    <a:cubicBezTo>
                      <a:pt x="23730" y="16149"/>
                      <a:pt x="13953" y="3602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758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319962" y="3536156"/>
              <a:ext cx="14856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C24"/>
                  </a:solidFill>
                  <a:latin typeface="Arial"/>
                  <a:ea typeface="Microsoft YaHei"/>
                  <a:cs typeface="Arial"/>
                </a:rPr>
                <a:t>量能指標（Volume）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55168" y="376189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每週開啟對話並完成至少一輪推薦的學生總人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55168" y="3952399"/>
              <a:ext cx="2774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5864"/>
                  </a:solidFill>
                  <a:latin typeface="Arial"/>
                  <a:ea typeface="Microsoft YaHei"/>
                  <a:cs typeface="Arial"/>
                </a:rPr>
                <a:t>次（全域加總）——反映漏斗最上游的入口 reach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58000" y="4333875"/>
            <a:ext cx="4800600" cy="904875"/>
            <a:chOff x="6858000" y="4333875"/>
            <a:chExt cx="4800600" cy="904875"/>
          </a:xfrm>
        </p:grpSpPr>
        <p:sp>
          <p:nvSpPr>
            <p:cNvPr id="50" name="Rectangle 50"/>
            <p:cNvSpPr/>
            <p:nvPr/>
          </p:nvSpPr>
          <p:spPr>
            <a:xfrm>
              <a:off x="6858000" y="4333875"/>
              <a:ext cx="4800600" cy="904875"/>
            </a:xfrm>
            <a:prstGeom prst="roundRect">
              <a:avLst>
                <a:gd name="adj" fmla="val 10526"/>
              </a:avLst>
            </a:prstGeom>
            <a:solidFill>
              <a:srgbClr val="153166"/>
            </a:solidFill>
            <a:ln>
              <a:noFill/>
            </a:ln>
            <a:effectLst>
              <a:outerShdw blurRad="95250" dist="28575" dir="5400000" algn="ctr" rotWithShape="0">
                <a:srgbClr val="153166">
                  <a:alpha val="5250"/>
                </a:srgbClr>
              </a:outerShdw>
            </a:effectLst>
          </p:spPr>
        </p:sp>
        <p:sp>
          <p:nvSpPr>
            <p:cNvPr id="51" name="Line 51"/>
            <p:cNvSpPr/>
            <p:nvPr/>
          </p:nvSpPr>
          <p:spPr>
            <a:xfrm>
              <a:off x="6915150" y="452437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47625" cap="rnd">
              <a:solidFill>
                <a:srgbClr val="66C6CE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088057" y="4471988"/>
              <a:ext cx="149486" cy="142875"/>
            </a:xfrm>
            <a:custGeom>
              <a:avLst/>
              <a:gdLst/>
              <a:ahLst/>
              <a:cxnLst/>
              <a:rect l="l" t="t" r="r" b="b"/>
              <a:pathLst>
                <a:path w="149486" h="142875">
                  <a:moveTo>
                    <a:pt x="74743" y="0"/>
                  </a:moveTo>
                  <a:cubicBezTo>
                    <a:pt x="93284" y="16403"/>
                    <a:pt x="117482" y="24944"/>
                    <a:pt x="142212" y="23812"/>
                  </a:cubicBezTo>
                  <a:cubicBezTo>
                    <a:pt x="149486" y="48558"/>
                    <a:pt x="146414" y="75195"/>
                    <a:pt x="133698" y="97635"/>
                  </a:cubicBezTo>
                  <a:cubicBezTo>
                    <a:pt x="120982" y="120075"/>
                    <a:pt x="99709" y="136399"/>
                    <a:pt x="74743" y="142875"/>
                  </a:cubicBezTo>
                  <a:cubicBezTo>
                    <a:pt x="49777" y="136399"/>
                    <a:pt x="28504" y="120075"/>
                    <a:pt x="15788" y="97635"/>
                  </a:cubicBezTo>
                  <a:cubicBezTo>
                    <a:pt x="3072" y="75195"/>
                    <a:pt x="0" y="48558"/>
                    <a:pt x="7274" y="23812"/>
                  </a:cubicBezTo>
                  <a:cubicBezTo>
                    <a:pt x="32004" y="24944"/>
                    <a:pt x="56202" y="16403"/>
                    <a:pt x="74743" y="0"/>
                  </a:cubicBezTo>
                </a:path>
              </a:pathLst>
            </a:custGeom>
            <a:noFill/>
            <a:ln w="19050">
              <a:solidFill>
                <a:srgbClr val="66C6C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19962" y="4488656"/>
              <a:ext cx="16746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DFCFA"/>
                  </a:solidFill>
                  <a:latin typeface="Arial"/>
                  <a:ea typeface="Microsoft YaHei"/>
                  <a:cs typeface="Arial"/>
                </a:rPr>
                <a:t>護欄指標（Guardrail）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55168" y="4714399"/>
              <a:ext cx="29176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滿意度 4.2/5.0，配對「48 小時內移除率 ≤15%」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55168" y="4904899"/>
              <a:ext cx="2768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4F2ED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——雙重把關，防止表面滿意、實際刪除的假成功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1970" y="6400800"/>
            <a:ext cx="11148060" cy="295275"/>
            <a:chOff x="521970" y="6400800"/>
            <a:chExt cx="11148060" cy="295275"/>
          </a:xfrm>
        </p:grpSpPr>
        <p:sp>
          <p:nvSpPr>
            <p:cNvPr id="57" name="Line 57"/>
            <p:cNvSpPr/>
            <p:nvPr/>
          </p:nvSpPr>
          <p:spPr>
            <a:xfrm>
              <a:off x="533400" y="6400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4E1D9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1970" y="6513195"/>
              <a:ext cx="32392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零幻覺課號校驗（≥99.5% 通過率）為本功能上線的工程前提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13066" y="65131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8F98"/>
                  </a:solidFill>
                  <a:latin typeface="Arial"/>
                  <a:ea typeface="Microsoft YaHei"/>
                  <a:cs typeface="Arial"/>
                </a:rPr>
                <a:t>CAREER-AI ·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8" grpId="0"/>
      <p:bldP spid="38" grpId="0"/>
      <p:bldP spid="49" grpId="0"/>
      <p:bldP spid="5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2026-07-01T09:55:09Z</dcterms:created>
  <dcterms:modified xsi:type="dcterms:W3CDTF">2026-07-01T09:55:09Z</dcterms:modified>
  <cp:category/>
  <cp:contentStatus/>
</cp:coreProperties>
</file>